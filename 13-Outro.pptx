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12192000"/>
  <p:notesSz cx="6858000" cy="9144000"/>
  <p:embeddedFontLst>
    <p:embeddedFont>
      <p:font typeface="Helvetica Neue"/>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hMjBkCNKjADrjxw1d6M5f0tG2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37E74EF-2DB9-491B-91C1-2BAEF5A48227}">
  <a:tblStyle styleId="{F37E74EF-2DB9-491B-91C1-2BAEF5A4822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HelveticaNeue-italic.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HelveticaNeue-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HelveticaNeue-bold.fntdata"/><Relationship Id="rId16" Type="http://schemas.openxmlformats.org/officeDocument/2006/relationships/slide" Target="slides/slide10.xml"/><Relationship Id="rId38" Type="http://schemas.openxmlformats.org/officeDocument/2006/relationships/font" Target="fonts/HelveticaNeue-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5904ca52a9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83" name="Google Shape;183;g35904ca52a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d9cf9aace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d9cf9aace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g3d9cf9aace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6016f1f3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d6016f1f3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d6016f1f31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6016f1f31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d6016f1f31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d6016f1f31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6016f1f31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d6016f1f31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d6016f1f31_0_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6016f1f31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d6016f1f31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g3d6016f1f31_0_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9cf9aaceb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d9cf9aaceb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3d9cf9aaceb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6016f1f31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d6016f1f31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g3d6016f1f31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c35a4ca61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dc35a4ca61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g3dc35a4ca61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9cf9aaceb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d9cf9aaceb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g3d9cf9aaceb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9cf9aaceb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9cf9aaceb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d9cf9aaceb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d9cf9aaceb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d9cf9aaceb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d9cf9aaceb_0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9a6a542a37_0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9a6a542a37_0_2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39a6a542a37_0_2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d6016f1f31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d6016f1f31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g3d6016f1f31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6016f1f31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d6016f1f31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g3d6016f1f31_0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6016f1f31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d6016f1f31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g3d6016f1f31_0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6016f1f31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d6016f1f31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g3d6016f1f31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dc35a4ca6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dc35a4ca6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g3dc35a4ca61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dc35a4ca61_0_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70" name="Google Shape;370;g3dc35a4ca61_0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dc35a4ca61_0_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76" name="Google Shape;376;g3dc35a4ca61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dc35a4ca61_0_3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dc35a4ca61_0_3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g3dc35a4ca61_0_3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dc35a4ca61_0_8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92" name="Google Shape;392;g3dc35a4ca61_0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dc35a4ca61_0_10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00" name="Google Shape;400;g3dc35a4ca61_0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c35a4ca61_0_1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10" name="Google Shape;410;g3dc35a4ca61_0_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dc35a4ca61_0_1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20" name="Google Shape;420;g3dc35a4ca61_0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dc35a4ca61_0_1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30" name="Google Shape;430;g3dc35a4ca61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dc35a4ca61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dc35a4ca61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g3dc35a4ca61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5904ca52a9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g35904ca52a9_0_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4" name="Google Shape;444;g35904ca52a9_0_1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9a6a542a37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9a6a542a37_0_1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g39a6a542a37_0_1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2" name="Google Shape;46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lue A" showMasterSp="0">
  <p:cSld name="Title Blue A">
    <p:bg>
      <p:bgPr>
        <a:solidFill>
          <a:srgbClr val="184A86"/>
        </a:solidFill>
      </p:bgPr>
    </p:bg>
    <p:spTree>
      <p:nvGrpSpPr>
        <p:cNvPr id="15" name="Shape 15"/>
        <p:cNvGrpSpPr/>
        <p:nvPr/>
      </p:nvGrpSpPr>
      <p:grpSpPr>
        <a:xfrm>
          <a:off x="0" y="0"/>
          <a:ext cx="0" cy="0"/>
          <a:chOff x="0" y="0"/>
          <a:chExt cx="0" cy="0"/>
        </a:xfrm>
      </p:grpSpPr>
      <p:sp>
        <p:nvSpPr>
          <p:cNvPr id="16" name="Google Shape;16;g35904ca52a9_0_91"/>
          <p:cNvSpPr txBox="1"/>
          <p:nvPr>
            <p:ph type="title"/>
          </p:nvPr>
        </p:nvSpPr>
        <p:spPr>
          <a:xfrm>
            <a:off x="1895475" y="3585279"/>
            <a:ext cx="10972800" cy="1091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7500"/>
              <a:buFont typeface="Arial"/>
              <a:buNone/>
              <a:defRPr sz="7500">
                <a:solidFill>
                  <a:schemeClr val="lt1"/>
                </a:solidFill>
              </a:defRPr>
            </a:lvl1pPr>
            <a:lvl2pPr lvl="1" algn="l">
              <a:lnSpc>
                <a:spcPct val="90000"/>
              </a:lnSpc>
              <a:spcBef>
                <a:spcPts val="0"/>
              </a:spcBef>
              <a:spcAft>
                <a:spcPts val="0"/>
              </a:spcAft>
              <a:buClr>
                <a:srgbClr val="535353"/>
              </a:buClr>
              <a:buSzPts val="1800"/>
              <a:buNone/>
              <a:defRPr/>
            </a:lvl2pPr>
            <a:lvl3pPr lvl="2" algn="l">
              <a:lnSpc>
                <a:spcPct val="90000"/>
              </a:lnSpc>
              <a:spcBef>
                <a:spcPts val="0"/>
              </a:spcBef>
              <a:spcAft>
                <a:spcPts val="0"/>
              </a:spcAft>
              <a:buClr>
                <a:srgbClr val="535353"/>
              </a:buClr>
              <a:buSzPts val="1800"/>
              <a:buNone/>
              <a:defRPr/>
            </a:lvl3pPr>
            <a:lvl4pPr lvl="3" algn="l">
              <a:lnSpc>
                <a:spcPct val="90000"/>
              </a:lnSpc>
              <a:spcBef>
                <a:spcPts val="0"/>
              </a:spcBef>
              <a:spcAft>
                <a:spcPts val="0"/>
              </a:spcAft>
              <a:buClr>
                <a:srgbClr val="535353"/>
              </a:buClr>
              <a:buSzPts val="1800"/>
              <a:buNone/>
              <a:defRPr/>
            </a:lvl4pPr>
            <a:lvl5pPr lvl="4" algn="l">
              <a:lnSpc>
                <a:spcPct val="90000"/>
              </a:lnSpc>
              <a:spcBef>
                <a:spcPts val="0"/>
              </a:spcBef>
              <a:spcAft>
                <a:spcPts val="0"/>
              </a:spcAft>
              <a:buClr>
                <a:srgbClr val="535353"/>
              </a:buClr>
              <a:buSzPts val="1800"/>
              <a:buNone/>
              <a:defRPr/>
            </a:lvl5pPr>
            <a:lvl6pPr lvl="5" algn="l">
              <a:lnSpc>
                <a:spcPct val="90000"/>
              </a:lnSpc>
              <a:spcBef>
                <a:spcPts val="0"/>
              </a:spcBef>
              <a:spcAft>
                <a:spcPts val="0"/>
              </a:spcAft>
              <a:buClr>
                <a:srgbClr val="535353"/>
              </a:buClr>
              <a:buSzPts val="1800"/>
              <a:buNone/>
              <a:defRPr/>
            </a:lvl6pPr>
            <a:lvl7pPr lvl="6" algn="l">
              <a:lnSpc>
                <a:spcPct val="90000"/>
              </a:lnSpc>
              <a:spcBef>
                <a:spcPts val="0"/>
              </a:spcBef>
              <a:spcAft>
                <a:spcPts val="0"/>
              </a:spcAft>
              <a:buClr>
                <a:srgbClr val="535353"/>
              </a:buClr>
              <a:buSzPts val="1800"/>
              <a:buNone/>
              <a:defRPr/>
            </a:lvl7pPr>
            <a:lvl8pPr lvl="7" algn="l">
              <a:lnSpc>
                <a:spcPct val="90000"/>
              </a:lnSpc>
              <a:spcBef>
                <a:spcPts val="0"/>
              </a:spcBef>
              <a:spcAft>
                <a:spcPts val="0"/>
              </a:spcAft>
              <a:buClr>
                <a:srgbClr val="535353"/>
              </a:buClr>
              <a:buSzPts val="1800"/>
              <a:buNone/>
              <a:defRPr/>
            </a:lvl8pPr>
            <a:lvl9pPr lvl="8" algn="l">
              <a:lnSpc>
                <a:spcPct val="90000"/>
              </a:lnSpc>
              <a:spcBef>
                <a:spcPts val="0"/>
              </a:spcBef>
              <a:spcAft>
                <a:spcPts val="0"/>
              </a:spcAft>
              <a:buClr>
                <a:srgbClr val="535353"/>
              </a:buClr>
              <a:buSzPts val="1800"/>
              <a:buNone/>
              <a:defRPr/>
            </a:lvl9pPr>
          </a:lstStyle>
          <a:p/>
        </p:txBody>
      </p:sp>
      <p:sp>
        <p:nvSpPr>
          <p:cNvPr id="17" name="Google Shape;17;g35904ca52a9_0_91"/>
          <p:cNvSpPr txBox="1"/>
          <p:nvPr>
            <p:ph idx="1" type="body"/>
          </p:nvPr>
        </p:nvSpPr>
        <p:spPr>
          <a:xfrm>
            <a:off x="1895475" y="3182315"/>
            <a:ext cx="10296600" cy="3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rgbClr val="00C7FD"/>
              </a:buClr>
              <a:buSzPts val="1600"/>
              <a:buNone/>
              <a:defRPr b="1" i="0" sz="1600">
                <a:solidFill>
                  <a:srgbClr val="00C7FD"/>
                </a:solidFill>
                <a:latin typeface="Arial"/>
                <a:ea typeface="Arial"/>
                <a:cs typeface="Arial"/>
                <a:sym typeface="Arial"/>
              </a:defRPr>
            </a:lvl1pPr>
            <a:lvl2pPr indent="-342900" lvl="1" marL="914400" algn="l">
              <a:lnSpc>
                <a:spcPct val="100000"/>
              </a:lnSpc>
              <a:spcBef>
                <a:spcPts val="1200"/>
              </a:spcBef>
              <a:spcAft>
                <a:spcPts val="0"/>
              </a:spcAft>
              <a:buClr>
                <a:schemeClr val="lt2"/>
              </a:buClr>
              <a:buSzPts val="1800"/>
              <a:buChar char="•"/>
              <a:defRPr/>
            </a:lvl2pPr>
            <a:lvl3pPr indent="-342900" lvl="2" marL="1371600" algn="l">
              <a:lnSpc>
                <a:spcPct val="100000"/>
              </a:lnSpc>
              <a:spcBef>
                <a:spcPts val="1200"/>
              </a:spcBef>
              <a:spcAft>
                <a:spcPts val="0"/>
              </a:spcAft>
              <a:buClr>
                <a:schemeClr val="lt2"/>
              </a:buClr>
              <a:buSzPts val="1800"/>
              <a:buChar char="•"/>
              <a:defRPr/>
            </a:lvl3pPr>
            <a:lvl4pPr indent="-342900" lvl="3" marL="1828800" algn="l">
              <a:lnSpc>
                <a:spcPct val="100000"/>
              </a:lnSpc>
              <a:spcBef>
                <a:spcPts val="1200"/>
              </a:spcBef>
              <a:spcAft>
                <a:spcPts val="0"/>
              </a:spcAft>
              <a:buClr>
                <a:schemeClr val="lt2"/>
              </a:buClr>
              <a:buSzPts val="1800"/>
              <a:buChar char="•"/>
              <a:defRPr/>
            </a:lvl4pPr>
            <a:lvl5pPr indent="-342900" lvl="4" marL="2286000" algn="l">
              <a:lnSpc>
                <a:spcPct val="100000"/>
              </a:lnSpc>
              <a:spcBef>
                <a:spcPts val="1200"/>
              </a:spcBef>
              <a:spcAft>
                <a:spcPts val="0"/>
              </a:spcAft>
              <a:buClr>
                <a:schemeClr val="lt2"/>
              </a:buClr>
              <a:buSzPts val="1800"/>
              <a:buChar char="•"/>
              <a:defRPr/>
            </a:lvl5pPr>
            <a:lvl6pPr indent="-228600" lvl="5" marL="2743200" algn="l">
              <a:lnSpc>
                <a:spcPct val="90000"/>
              </a:lnSpc>
              <a:spcBef>
                <a:spcPts val="0"/>
              </a:spcBef>
              <a:spcAft>
                <a:spcPts val="0"/>
              </a:spcAft>
              <a:buClr>
                <a:srgbClr val="5E5E5E"/>
              </a:buClr>
              <a:buSzPts val="1800"/>
              <a:buNone/>
              <a:defRPr/>
            </a:lvl6pPr>
            <a:lvl7pPr indent="-228600" lvl="6" marL="3200400" algn="l">
              <a:lnSpc>
                <a:spcPct val="90000"/>
              </a:lnSpc>
              <a:spcBef>
                <a:spcPts val="0"/>
              </a:spcBef>
              <a:spcAft>
                <a:spcPts val="0"/>
              </a:spcAft>
              <a:buClr>
                <a:srgbClr val="5E5E5E"/>
              </a:buClr>
              <a:buSzPts val="1800"/>
              <a:buNone/>
              <a:defRPr/>
            </a:lvl7pPr>
            <a:lvl8pPr indent="-228600" lvl="7" marL="3657600" algn="l">
              <a:lnSpc>
                <a:spcPct val="90000"/>
              </a:lnSpc>
              <a:spcBef>
                <a:spcPts val="0"/>
              </a:spcBef>
              <a:spcAft>
                <a:spcPts val="0"/>
              </a:spcAft>
              <a:buClr>
                <a:srgbClr val="5E5E5E"/>
              </a:buClr>
              <a:buSzPts val="1800"/>
              <a:buNone/>
              <a:defRPr/>
            </a:lvl8pPr>
            <a:lvl9pPr indent="-228600" lvl="8" marL="4114800" algn="l">
              <a:lnSpc>
                <a:spcPct val="90000"/>
              </a:lnSpc>
              <a:spcBef>
                <a:spcPts val="0"/>
              </a:spcBef>
              <a:spcAft>
                <a:spcPts val="0"/>
              </a:spcAft>
              <a:buClr>
                <a:srgbClr val="5E5E5E"/>
              </a:buClr>
              <a:buSzPts val="1800"/>
              <a:buNone/>
              <a:defRPr/>
            </a:lvl9pPr>
          </a:lstStyle>
          <a:p/>
        </p:txBody>
      </p:sp>
      <p:sp>
        <p:nvSpPr>
          <p:cNvPr id="18" name="Google Shape;18;g35904ca52a9_0_91"/>
          <p:cNvSpPr txBox="1"/>
          <p:nvPr>
            <p:ph idx="2" type="body"/>
          </p:nvPr>
        </p:nvSpPr>
        <p:spPr>
          <a:xfrm>
            <a:off x="1908348" y="4778609"/>
            <a:ext cx="10283700" cy="32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lt1"/>
              </a:buClr>
              <a:buSzPts val="1800"/>
              <a:buNone/>
              <a:defRPr b="0" i="0" sz="1800">
                <a:solidFill>
                  <a:schemeClr val="lt1"/>
                </a:solidFill>
                <a:latin typeface="Arial"/>
                <a:ea typeface="Arial"/>
                <a:cs typeface="Arial"/>
                <a:sym typeface="Arial"/>
              </a:defRPr>
            </a:lvl1pPr>
            <a:lvl2pPr indent="-342900" lvl="1" marL="914400" algn="l">
              <a:lnSpc>
                <a:spcPct val="100000"/>
              </a:lnSpc>
              <a:spcBef>
                <a:spcPts val="1200"/>
              </a:spcBef>
              <a:spcAft>
                <a:spcPts val="0"/>
              </a:spcAft>
              <a:buClr>
                <a:schemeClr val="lt2"/>
              </a:buClr>
              <a:buSzPts val="1800"/>
              <a:buChar char="•"/>
              <a:defRPr/>
            </a:lvl2pPr>
            <a:lvl3pPr indent="-342900" lvl="2" marL="1371600" algn="l">
              <a:lnSpc>
                <a:spcPct val="100000"/>
              </a:lnSpc>
              <a:spcBef>
                <a:spcPts val="1200"/>
              </a:spcBef>
              <a:spcAft>
                <a:spcPts val="0"/>
              </a:spcAft>
              <a:buClr>
                <a:schemeClr val="lt2"/>
              </a:buClr>
              <a:buSzPts val="1800"/>
              <a:buChar char="•"/>
              <a:defRPr/>
            </a:lvl3pPr>
            <a:lvl4pPr indent="-342900" lvl="3" marL="1828800" algn="l">
              <a:lnSpc>
                <a:spcPct val="100000"/>
              </a:lnSpc>
              <a:spcBef>
                <a:spcPts val="1200"/>
              </a:spcBef>
              <a:spcAft>
                <a:spcPts val="0"/>
              </a:spcAft>
              <a:buClr>
                <a:schemeClr val="lt2"/>
              </a:buClr>
              <a:buSzPts val="1800"/>
              <a:buChar char="•"/>
              <a:defRPr/>
            </a:lvl4pPr>
            <a:lvl5pPr indent="-342900" lvl="4" marL="2286000" algn="l">
              <a:lnSpc>
                <a:spcPct val="100000"/>
              </a:lnSpc>
              <a:spcBef>
                <a:spcPts val="1200"/>
              </a:spcBef>
              <a:spcAft>
                <a:spcPts val="0"/>
              </a:spcAft>
              <a:buClr>
                <a:schemeClr val="lt2"/>
              </a:buClr>
              <a:buSzPts val="1800"/>
              <a:buChar char="•"/>
              <a:defRPr/>
            </a:lvl5pPr>
            <a:lvl6pPr indent="-228600" lvl="5" marL="2743200" algn="l">
              <a:lnSpc>
                <a:spcPct val="90000"/>
              </a:lnSpc>
              <a:spcBef>
                <a:spcPts val="0"/>
              </a:spcBef>
              <a:spcAft>
                <a:spcPts val="0"/>
              </a:spcAft>
              <a:buClr>
                <a:srgbClr val="5E5E5E"/>
              </a:buClr>
              <a:buSzPts val="1800"/>
              <a:buNone/>
              <a:defRPr/>
            </a:lvl6pPr>
            <a:lvl7pPr indent="-228600" lvl="6" marL="3200400" algn="l">
              <a:lnSpc>
                <a:spcPct val="90000"/>
              </a:lnSpc>
              <a:spcBef>
                <a:spcPts val="0"/>
              </a:spcBef>
              <a:spcAft>
                <a:spcPts val="0"/>
              </a:spcAft>
              <a:buClr>
                <a:srgbClr val="5E5E5E"/>
              </a:buClr>
              <a:buSzPts val="1800"/>
              <a:buNone/>
              <a:defRPr/>
            </a:lvl7pPr>
            <a:lvl8pPr indent="-228600" lvl="7" marL="3657600" algn="l">
              <a:lnSpc>
                <a:spcPct val="90000"/>
              </a:lnSpc>
              <a:spcBef>
                <a:spcPts val="0"/>
              </a:spcBef>
              <a:spcAft>
                <a:spcPts val="0"/>
              </a:spcAft>
              <a:buClr>
                <a:srgbClr val="5E5E5E"/>
              </a:buClr>
              <a:buSzPts val="1800"/>
              <a:buNone/>
              <a:defRPr/>
            </a:lvl8pPr>
            <a:lvl9pPr indent="-228600" lvl="8" marL="4114800" algn="l">
              <a:lnSpc>
                <a:spcPct val="90000"/>
              </a:lnSpc>
              <a:spcBef>
                <a:spcPts val="0"/>
              </a:spcBef>
              <a:spcAft>
                <a:spcPts val="0"/>
              </a:spcAft>
              <a:buClr>
                <a:srgbClr val="5E5E5E"/>
              </a:buClr>
              <a:buSzPts val="18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Content">
  <p:cSld name="Title &amp; Content">
    <p:spTree>
      <p:nvGrpSpPr>
        <p:cNvPr id="19" name="Shape 19"/>
        <p:cNvGrpSpPr/>
        <p:nvPr/>
      </p:nvGrpSpPr>
      <p:grpSpPr>
        <a:xfrm>
          <a:off x="0" y="0"/>
          <a:ext cx="0" cy="0"/>
          <a:chOff x="0" y="0"/>
          <a:chExt cx="0" cy="0"/>
        </a:xfrm>
      </p:grpSpPr>
      <p:sp>
        <p:nvSpPr>
          <p:cNvPr id="20" name="Google Shape;20;p21"/>
          <p:cNvSpPr txBox="1"/>
          <p:nvPr>
            <p:ph type="title"/>
          </p:nvPr>
        </p:nvSpPr>
        <p:spPr>
          <a:xfrm>
            <a:off x="571370" y="571500"/>
            <a:ext cx="11010816" cy="95249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525252"/>
              </a:buClr>
              <a:buSzPts val="4000"/>
              <a:buFont typeface="Calibri"/>
              <a:buNone/>
              <a:defRPr sz="4000">
                <a:solidFill>
                  <a:srgbClr val="52525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1"/>
          <p:cNvSpPr txBox="1"/>
          <p:nvPr>
            <p:ph idx="1" type="body"/>
          </p:nvPr>
        </p:nvSpPr>
        <p:spPr>
          <a:xfrm>
            <a:off x="571370" y="1673454"/>
            <a:ext cx="11010900" cy="457494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2 Content Columns">
  <p:cSld name="Title &amp; 2 Content Columns">
    <p:spTree>
      <p:nvGrpSpPr>
        <p:cNvPr id="22" name="Shape 22"/>
        <p:cNvGrpSpPr/>
        <p:nvPr/>
      </p:nvGrpSpPr>
      <p:grpSpPr>
        <a:xfrm>
          <a:off x="0" y="0"/>
          <a:ext cx="0" cy="0"/>
          <a:chOff x="0" y="0"/>
          <a:chExt cx="0" cy="0"/>
        </a:xfrm>
      </p:grpSpPr>
      <p:sp>
        <p:nvSpPr>
          <p:cNvPr id="23" name="Google Shape;23;p22"/>
          <p:cNvSpPr txBox="1"/>
          <p:nvPr>
            <p:ph type="title"/>
          </p:nvPr>
        </p:nvSpPr>
        <p:spPr>
          <a:xfrm>
            <a:off x="571500" y="571501"/>
            <a:ext cx="11010901" cy="9525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525252"/>
              </a:buClr>
              <a:buSzPts val="4000"/>
              <a:buFont typeface="Calibri"/>
              <a:buNone/>
              <a:defRPr sz="4000">
                <a:solidFill>
                  <a:srgbClr val="52525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2"/>
          <p:cNvSpPr txBox="1"/>
          <p:nvPr>
            <p:ph idx="1" type="body"/>
          </p:nvPr>
        </p:nvSpPr>
        <p:spPr>
          <a:xfrm>
            <a:off x="571500" y="1673402"/>
            <a:ext cx="5288525" cy="458483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22"/>
          <p:cNvSpPr txBox="1"/>
          <p:nvPr>
            <p:ph idx="2" type="body"/>
          </p:nvPr>
        </p:nvSpPr>
        <p:spPr>
          <a:xfrm>
            <a:off x="6289113" y="1673402"/>
            <a:ext cx="5288525" cy="458483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26" name="Shape 26"/>
        <p:cNvGrpSpPr/>
        <p:nvPr/>
      </p:nvGrpSpPr>
      <p:grpSpPr>
        <a:xfrm>
          <a:off x="0" y="0"/>
          <a:ext cx="0" cy="0"/>
          <a:chOff x="0" y="0"/>
          <a:chExt cx="0" cy="0"/>
        </a:xfrm>
      </p:grpSpPr>
      <p:sp>
        <p:nvSpPr>
          <p:cNvPr id="27" name="Google Shape;27;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32" name="Shape 32"/>
        <p:cNvGrpSpPr/>
        <p:nvPr/>
      </p:nvGrpSpPr>
      <p:grpSpPr>
        <a:xfrm>
          <a:off x="0" y="0"/>
          <a:ext cx="0" cy="0"/>
          <a:chOff x="0" y="0"/>
          <a:chExt cx="0" cy="0"/>
        </a:xfrm>
      </p:grpSpPr>
      <p:sp>
        <p:nvSpPr>
          <p:cNvPr id="33" name="Google Shape;3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38" name="Shape 38"/>
        <p:cNvGrpSpPr/>
        <p:nvPr/>
      </p:nvGrpSpPr>
      <p:grpSpPr>
        <a:xfrm>
          <a:off x="0" y="0"/>
          <a:ext cx="0" cy="0"/>
          <a:chOff x="0" y="0"/>
          <a:chExt cx="0" cy="0"/>
        </a:xfrm>
      </p:grpSpPr>
      <p:sp>
        <p:nvSpPr>
          <p:cNvPr id="39" name="Google Shape;39;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44" name="Shape 44"/>
        <p:cNvGrpSpPr/>
        <p:nvPr/>
      </p:nvGrpSpPr>
      <p:grpSpPr>
        <a:xfrm>
          <a:off x="0" y="0"/>
          <a:ext cx="0" cy="0"/>
          <a:chOff x="0" y="0"/>
          <a:chExt cx="0" cy="0"/>
        </a:xfrm>
      </p:grpSpPr>
      <p:sp>
        <p:nvSpPr>
          <p:cNvPr id="45" name="Google Shape;45;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51" name="Shape 51"/>
        <p:cNvGrpSpPr/>
        <p:nvPr/>
      </p:nvGrpSpPr>
      <p:grpSpPr>
        <a:xfrm>
          <a:off x="0" y="0"/>
          <a:ext cx="0" cy="0"/>
          <a:chOff x="0" y="0"/>
          <a:chExt cx="0" cy="0"/>
        </a:xfrm>
      </p:grpSpPr>
      <p:sp>
        <p:nvSpPr>
          <p:cNvPr id="52" name="Google Shape;52;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60" name="Shape 60"/>
        <p:cNvGrpSpPr/>
        <p:nvPr/>
      </p:nvGrpSpPr>
      <p:grpSpPr>
        <a:xfrm>
          <a:off x="0" y="0"/>
          <a:ext cx="0" cy="0"/>
          <a:chOff x="0" y="0"/>
          <a:chExt cx="0" cy="0"/>
        </a:xfrm>
      </p:grpSpPr>
      <p:sp>
        <p:nvSpPr>
          <p:cNvPr id="61" name="Google Shape;6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65" name="Shape 65"/>
        <p:cNvGrpSpPr/>
        <p:nvPr/>
      </p:nvGrpSpPr>
      <p:grpSpPr>
        <a:xfrm>
          <a:off x="0" y="0"/>
          <a:ext cx="0" cy="0"/>
          <a:chOff x="0" y="0"/>
          <a:chExt cx="0" cy="0"/>
        </a:xfrm>
      </p:grpSpPr>
      <p:sp>
        <p:nvSpPr>
          <p:cNvPr id="66" name="Google Shape;66;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69" name="Shape 69"/>
        <p:cNvGrpSpPr/>
        <p:nvPr/>
      </p:nvGrpSpPr>
      <p:grpSpPr>
        <a:xfrm>
          <a:off x="0" y="0"/>
          <a:ext cx="0" cy="0"/>
          <a:chOff x="0" y="0"/>
          <a:chExt cx="0" cy="0"/>
        </a:xfrm>
      </p:grpSpPr>
      <p:sp>
        <p:nvSpPr>
          <p:cNvPr id="70" name="Google Shape;70;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2" name="Google Shape;72;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76" name="Shape 76"/>
        <p:cNvGrpSpPr/>
        <p:nvPr/>
      </p:nvGrpSpPr>
      <p:grpSpPr>
        <a:xfrm>
          <a:off x="0" y="0"/>
          <a:ext cx="0" cy="0"/>
          <a:chOff x="0" y="0"/>
          <a:chExt cx="0" cy="0"/>
        </a:xfrm>
      </p:grpSpPr>
      <p:sp>
        <p:nvSpPr>
          <p:cNvPr id="77" name="Google Shape;77;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0"/>
          <p:cNvSpPr/>
          <p:nvPr>
            <p:ph idx="2" type="pic"/>
          </p:nvPr>
        </p:nvSpPr>
        <p:spPr>
          <a:xfrm>
            <a:off x="5183188" y="987425"/>
            <a:ext cx="6172200" cy="4873625"/>
          </a:xfrm>
          <a:prstGeom prst="rect">
            <a:avLst/>
          </a:prstGeom>
          <a:noFill/>
          <a:ln>
            <a:noFill/>
          </a:ln>
        </p:spPr>
      </p:sp>
      <p:sp>
        <p:nvSpPr>
          <p:cNvPr id="79" name="Google Shape;79;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0" name="Google Shape;8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83" name="Shape 83"/>
        <p:cNvGrpSpPr/>
        <p:nvPr/>
      </p:nvGrpSpPr>
      <p:grpSpPr>
        <a:xfrm>
          <a:off x="0" y="0"/>
          <a:ext cx="0" cy="0"/>
          <a:chOff x="0" y="0"/>
          <a:chExt cx="0" cy="0"/>
        </a:xfrm>
      </p:grpSpPr>
      <p:sp>
        <p:nvSpPr>
          <p:cNvPr id="84" name="Google Shape;84;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89" name="Shape 89"/>
        <p:cNvGrpSpPr/>
        <p:nvPr/>
      </p:nvGrpSpPr>
      <p:grpSpPr>
        <a:xfrm>
          <a:off x="0" y="0"/>
          <a:ext cx="0" cy="0"/>
          <a:chOff x="0" y="0"/>
          <a:chExt cx="0" cy="0"/>
        </a:xfrm>
      </p:grpSpPr>
      <p:sp>
        <p:nvSpPr>
          <p:cNvPr id="90" name="Google Shape;90;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101" name="Shape 101"/>
        <p:cNvGrpSpPr/>
        <p:nvPr/>
      </p:nvGrpSpPr>
      <p:grpSpPr>
        <a:xfrm>
          <a:off x="0" y="0"/>
          <a:ext cx="0" cy="0"/>
          <a:chOff x="0" y="0"/>
          <a:chExt cx="0" cy="0"/>
        </a:xfrm>
      </p:grpSpPr>
      <p:sp>
        <p:nvSpPr>
          <p:cNvPr id="102" name="Google Shape;102;g39a6a542a37_0_134"/>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g39a6a542a37_0_134"/>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4" name="Google Shape;104;g39a6a542a37_0_13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g39a6a542a37_0_1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g39a6a542a37_0_1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Content">
  <p:cSld name="Title &amp; Content">
    <p:spTree>
      <p:nvGrpSpPr>
        <p:cNvPr id="107" name="Shape 107"/>
        <p:cNvGrpSpPr/>
        <p:nvPr/>
      </p:nvGrpSpPr>
      <p:grpSpPr>
        <a:xfrm>
          <a:off x="0" y="0"/>
          <a:ext cx="0" cy="0"/>
          <a:chOff x="0" y="0"/>
          <a:chExt cx="0" cy="0"/>
        </a:xfrm>
      </p:grpSpPr>
      <p:sp>
        <p:nvSpPr>
          <p:cNvPr id="108" name="Google Shape;108;g39a6a542a37_0_140"/>
          <p:cNvSpPr txBox="1"/>
          <p:nvPr>
            <p:ph type="title"/>
          </p:nvPr>
        </p:nvSpPr>
        <p:spPr>
          <a:xfrm>
            <a:off x="571370" y="571500"/>
            <a:ext cx="11010900" cy="9525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525252"/>
              </a:buClr>
              <a:buSzPts val="4000"/>
              <a:buFont typeface="Calibri"/>
              <a:buNone/>
              <a:defRPr sz="4000">
                <a:solidFill>
                  <a:srgbClr val="52525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g39a6a542a37_0_140"/>
          <p:cNvSpPr txBox="1"/>
          <p:nvPr>
            <p:ph idx="1" type="body"/>
          </p:nvPr>
        </p:nvSpPr>
        <p:spPr>
          <a:xfrm>
            <a:off x="571370" y="1673454"/>
            <a:ext cx="11010900" cy="4575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2 Content Columns">
  <p:cSld name="Title &amp; 2 Content Columns">
    <p:spTree>
      <p:nvGrpSpPr>
        <p:cNvPr id="110" name="Shape 110"/>
        <p:cNvGrpSpPr/>
        <p:nvPr/>
      </p:nvGrpSpPr>
      <p:grpSpPr>
        <a:xfrm>
          <a:off x="0" y="0"/>
          <a:ext cx="0" cy="0"/>
          <a:chOff x="0" y="0"/>
          <a:chExt cx="0" cy="0"/>
        </a:xfrm>
      </p:grpSpPr>
      <p:sp>
        <p:nvSpPr>
          <p:cNvPr id="111" name="Google Shape;111;g39a6a542a37_0_143"/>
          <p:cNvSpPr txBox="1"/>
          <p:nvPr>
            <p:ph type="title"/>
          </p:nvPr>
        </p:nvSpPr>
        <p:spPr>
          <a:xfrm>
            <a:off x="571500" y="571501"/>
            <a:ext cx="11010900" cy="9525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525252"/>
              </a:buClr>
              <a:buSzPts val="4000"/>
              <a:buFont typeface="Calibri"/>
              <a:buNone/>
              <a:defRPr sz="4000">
                <a:solidFill>
                  <a:srgbClr val="52525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g39a6a542a37_0_143"/>
          <p:cNvSpPr txBox="1"/>
          <p:nvPr>
            <p:ph idx="1" type="body"/>
          </p:nvPr>
        </p:nvSpPr>
        <p:spPr>
          <a:xfrm>
            <a:off x="571500" y="1673402"/>
            <a:ext cx="5288400" cy="4584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g39a6a542a37_0_143"/>
          <p:cNvSpPr txBox="1"/>
          <p:nvPr>
            <p:ph idx="2" type="body"/>
          </p:nvPr>
        </p:nvSpPr>
        <p:spPr>
          <a:xfrm>
            <a:off x="6289113" y="1673402"/>
            <a:ext cx="5288400" cy="4584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114" name="Shape 114"/>
        <p:cNvGrpSpPr/>
        <p:nvPr/>
      </p:nvGrpSpPr>
      <p:grpSpPr>
        <a:xfrm>
          <a:off x="0" y="0"/>
          <a:ext cx="0" cy="0"/>
          <a:chOff x="0" y="0"/>
          <a:chExt cx="0" cy="0"/>
        </a:xfrm>
      </p:grpSpPr>
      <p:sp>
        <p:nvSpPr>
          <p:cNvPr id="115" name="Google Shape;115;g39a6a542a37_0_14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g39a6a542a37_0_14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g39a6a542a37_0_14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g39a6a542a37_0_14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g39a6a542a37_0_1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120" name="Shape 120"/>
        <p:cNvGrpSpPr/>
        <p:nvPr/>
      </p:nvGrpSpPr>
      <p:grpSpPr>
        <a:xfrm>
          <a:off x="0" y="0"/>
          <a:ext cx="0" cy="0"/>
          <a:chOff x="0" y="0"/>
          <a:chExt cx="0" cy="0"/>
        </a:xfrm>
      </p:grpSpPr>
      <p:sp>
        <p:nvSpPr>
          <p:cNvPr id="121" name="Google Shape;121;g39a6a542a37_0_153"/>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g39a6a542a37_0_153"/>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23" name="Google Shape;123;g39a6a542a37_0_15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g39a6a542a37_0_15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g39a6a542a37_0_15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126" name="Shape 126"/>
        <p:cNvGrpSpPr/>
        <p:nvPr/>
      </p:nvGrpSpPr>
      <p:grpSpPr>
        <a:xfrm>
          <a:off x="0" y="0"/>
          <a:ext cx="0" cy="0"/>
          <a:chOff x="0" y="0"/>
          <a:chExt cx="0" cy="0"/>
        </a:xfrm>
      </p:grpSpPr>
      <p:sp>
        <p:nvSpPr>
          <p:cNvPr id="127" name="Google Shape;127;g39a6a542a37_0_15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g39a6a542a37_0_159"/>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 name="Google Shape;129;g39a6a542a37_0_159"/>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g39a6a542a37_0_15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g39a6a542a37_0_15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g39a6a542a37_0_15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133" name="Shape 133"/>
        <p:cNvGrpSpPr/>
        <p:nvPr/>
      </p:nvGrpSpPr>
      <p:grpSpPr>
        <a:xfrm>
          <a:off x="0" y="0"/>
          <a:ext cx="0" cy="0"/>
          <a:chOff x="0" y="0"/>
          <a:chExt cx="0" cy="0"/>
        </a:xfrm>
      </p:grpSpPr>
      <p:sp>
        <p:nvSpPr>
          <p:cNvPr id="134" name="Google Shape;134;g39a6a542a37_0_166"/>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g39a6a542a37_0_166"/>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6" name="Google Shape;136;g39a6a542a37_0_166"/>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g39a6a542a37_0_166"/>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8" name="Google Shape;138;g39a6a542a37_0_166"/>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g39a6a542a37_0_16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g39a6a542a37_0_16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g39a6a542a37_0_16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142" name="Shape 142"/>
        <p:cNvGrpSpPr/>
        <p:nvPr/>
      </p:nvGrpSpPr>
      <p:grpSpPr>
        <a:xfrm>
          <a:off x="0" y="0"/>
          <a:ext cx="0" cy="0"/>
          <a:chOff x="0" y="0"/>
          <a:chExt cx="0" cy="0"/>
        </a:xfrm>
      </p:grpSpPr>
      <p:sp>
        <p:nvSpPr>
          <p:cNvPr id="143" name="Google Shape;143;g39a6a542a37_0_17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g39a6a542a37_0_17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g39a6a542a37_0_17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g39a6a542a37_0_17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147" name="Shape 147"/>
        <p:cNvGrpSpPr/>
        <p:nvPr/>
      </p:nvGrpSpPr>
      <p:grpSpPr>
        <a:xfrm>
          <a:off x="0" y="0"/>
          <a:ext cx="0" cy="0"/>
          <a:chOff x="0" y="0"/>
          <a:chExt cx="0" cy="0"/>
        </a:xfrm>
      </p:grpSpPr>
      <p:sp>
        <p:nvSpPr>
          <p:cNvPr id="148" name="Google Shape;148;g39a6a542a37_0_18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g39a6a542a37_0_18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g39a6a542a37_0_18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151" name="Shape 151"/>
        <p:cNvGrpSpPr/>
        <p:nvPr/>
      </p:nvGrpSpPr>
      <p:grpSpPr>
        <a:xfrm>
          <a:off x="0" y="0"/>
          <a:ext cx="0" cy="0"/>
          <a:chOff x="0" y="0"/>
          <a:chExt cx="0" cy="0"/>
        </a:xfrm>
      </p:grpSpPr>
      <p:sp>
        <p:nvSpPr>
          <p:cNvPr id="152" name="Google Shape;152;g39a6a542a37_0_184"/>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g39a6a542a37_0_184"/>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54" name="Google Shape;154;g39a6a542a37_0_184"/>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5" name="Google Shape;155;g39a6a542a37_0_18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g39a6a542a37_0_18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g39a6a542a37_0_18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158" name="Shape 158"/>
        <p:cNvGrpSpPr/>
        <p:nvPr/>
      </p:nvGrpSpPr>
      <p:grpSpPr>
        <a:xfrm>
          <a:off x="0" y="0"/>
          <a:ext cx="0" cy="0"/>
          <a:chOff x="0" y="0"/>
          <a:chExt cx="0" cy="0"/>
        </a:xfrm>
      </p:grpSpPr>
      <p:sp>
        <p:nvSpPr>
          <p:cNvPr id="159" name="Google Shape;159;g39a6a542a37_0_191"/>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g39a6a542a37_0_191"/>
          <p:cNvSpPr/>
          <p:nvPr>
            <p:ph idx="2" type="pic"/>
          </p:nvPr>
        </p:nvSpPr>
        <p:spPr>
          <a:xfrm>
            <a:off x="5183188" y="987425"/>
            <a:ext cx="6172200" cy="4873500"/>
          </a:xfrm>
          <a:prstGeom prst="rect">
            <a:avLst/>
          </a:prstGeom>
          <a:noFill/>
          <a:ln>
            <a:noFill/>
          </a:ln>
        </p:spPr>
      </p:sp>
      <p:sp>
        <p:nvSpPr>
          <p:cNvPr id="161" name="Google Shape;161;g39a6a542a37_0_191"/>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62" name="Google Shape;162;g39a6a542a37_0_19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g39a6a542a37_0_19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g39a6a542a37_0_19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165" name="Shape 165"/>
        <p:cNvGrpSpPr/>
        <p:nvPr/>
      </p:nvGrpSpPr>
      <p:grpSpPr>
        <a:xfrm>
          <a:off x="0" y="0"/>
          <a:ext cx="0" cy="0"/>
          <a:chOff x="0" y="0"/>
          <a:chExt cx="0" cy="0"/>
        </a:xfrm>
      </p:grpSpPr>
      <p:sp>
        <p:nvSpPr>
          <p:cNvPr id="166" name="Google Shape;166;g39a6a542a37_0_19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g39a6a542a37_0_198"/>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g39a6a542a37_0_19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g39a6a542a37_0_19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g39a6a542a37_0_19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171" name="Shape 171"/>
        <p:cNvGrpSpPr/>
        <p:nvPr/>
      </p:nvGrpSpPr>
      <p:grpSpPr>
        <a:xfrm>
          <a:off x="0" y="0"/>
          <a:ext cx="0" cy="0"/>
          <a:chOff x="0" y="0"/>
          <a:chExt cx="0" cy="0"/>
        </a:xfrm>
      </p:grpSpPr>
      <p:sp>
        <p:nvSpPr>
          <p:cNvPr id="172" name="Google Shape;172;g39a6a542a37_0_204"/>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g39a6a542a37_0_204"/>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g39a6a542a37_0_20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g39a6a542a37_0_20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g39a6a542a37_0_20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lue A" showMasterSp="0">
  <p:cSld name="Title Blue A">
    <p:bg>
      <p:bgPr>
        <a:solidFill>
          <a:srgbClr val="184A86"/>
        </a:solidFill>
      </p:bgPr>
    </p:bg>
    <p:spTree>
      <p:nvGrpSpPr>
        <p:cNvPr id="177" name="Shape 177"/>
        <p:cNvGrpSpPr/>
        <p:nvPr/>
      </p:nvGrpSpPr>
      <p:grpSpPr>
        <a:xfrm>
          <a:off x="0" y="0"/>
          <a:ext cx="0" cy="0"/>
          <a:chOff x="0" y="0"/>
          <a:chExt cx="0" cy="0"/>
        </a:xfrm>
      </p:grpSpPr>
      <p:sp>
        <p:nvSpPr>
          <p:cNvPr id="178" name="Google Shape;178;g39a6a542a37_0_210"/>
          <p:cNvSpPr txBox="1"/>
          <p:nvPr>
            <p:ph type="title"/>
          </p:nvPr>
        </p:nvSpPr>
        <p:spPr>
          <a:xfrm>
            <a:off x="1895475" y="3585279"/>
            <a:ext cx="10972800" cy="1091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7500"/>
              <a:buFont typeface="Arial"/>
              <a:buNone/>
              <a:defRPr sz="7500">
                <a:solidFill>
                  <a:schemeClr val="lt1"/>
                </a:solidFill>
              </a:defRPr>
            </a:lvl1pPr>
            <a:lvl2pPr lvl="1" algn="l">
              <a:lnSpc>
                <a:spcPct val="90000"/>
              </a:lnSpc>
              <a:spcBef>
                <a:spcPts val="0"/>
              </a:spcBef>
              <a:spcAft>
                <a:spcPts val="0"/>
              </a:spcAft>
              <a:buClr>
                <a:srgbClr val="535353"/>
              </a:buClr>
              <a:buSzPts val="1800"/>
              <a:buNone/>
              <a:defRPr/>
            </a:lvl2pPr>
            <a:lvl3pPr lvl="2" algn="l">
              <a:lnSpc>
                <a:spcPct val="90000"/>
              </a:lnSpc>
              <a:spcBef>
                <a:spcPts val="0"/>
              </a:spcBef>
              <a:spcAft>
                <a:spcPts val="0"/>
              </a:spcAft>
              <a:buClr>
                <a:srgbClr val="535353"/>
              </a:buClr>
              <a:buSzPts val="1800"/>
              <a:buNone/>
              <a:defRPr/>
            </a:lvl3pPr>
            <a:lvl4pPr lvl="3" algn="l">
              <a:lnSpc>
                <a:spcPct val="90000"/>
              </a:lnSpc>
              <a:spcBef>
                <a:spcPts val="0"/>
              </a:spcBef>
              <a:spcAft>
                <a:spcPts val="0"/>
              </a:spcAft>
              <a:buClr>
                <a:srgbClr val="535353"/>
              </a:buClr>
              <a:buSzPts val="1800"/>
              <a:buNone/>
              <a:defRPr/>
            </a:lvl4pPr>
            <a:lvl5pPr lvl="4" algn="l">
              <a:lnSpc>
                <a:spcPct val="90000"/>
              </a:lnSpc>
              <a:spcBef>
                <a:spcPts val="0"/>
              </a:spcBef>
              <a:spcAft>
                <a:spcPts val="0"/>
              </a:spcAft>
              <a:buClr>
                <a:srgbClr val="535353"/>
              </a:buClr>
              <a:buSzPts val="1800"/>
              <a:buNone/>
              <a:defRPr/>
            </a:lvl5pPr>
            <a:lvl6pPr lvl="5" algn="l">
              <a:lnSpc>
                <a:spcPct val="90000"/>
              </a:lnSpc>
              <a:spcBef>
                <a:spcPts val="0"/>
              </a:spcBef>
              <a:spcAft>
                <a:spcPts val="0"/>
              </a:spcAft>
              <a:buClr>
                <a:srgbClr val="535353"/>
              </a:buClr>
              <a:buSzPts val="1800"/>
              <a:buNone/>
              <a:defRPr/>
            </a:lvl6pPr>
            <a:lvl7pPr lvl="6" algn="l">
              <a:lnSpc>
                <a:spcPct val="90000"/>
              </a:lnSpc>
              <a:spcBef>
                <a:spcPts val="0"/>
              </a:spcBef>
              <a:spcAft>
                <a:spcPts val="0"/>
              </a:spcAft>
              <a:buClr>
                <a:srgbClr val="535353"/>
              </a:buClr>
              <a:buSzPts val="1800"/>
              <a:buNone/>
              <a:defRPr/>
            </a:lvl7pPr>
            <a:lvl8pPr lvl="7" algn="l">
              <a:lnSpc>
                <a:spcPct val="90000"/>
              </a:lnSpc>
              <a:spcBef>
                <a:spcPts val="0"/>
              </a:spcBef>
              <a:spcAft>
                <a:spcPts val="0"/>
              </a:spcAft>
              <a:buClr>
                <a:srgbClr val="535353"/>
              </a:buClr>
              <a:buSzPts val="1800"/>
              <a:buNone/>
              <a:defRPr/>
            </a:lvl8pPr>
            <a:lvl9pPr lvl="8" algn="l">
              <a:lnSpc>
                <a:spcPct val="90000"/>
              </a:lnSpc>
              <a:spcBef>
                <a:spcPts val="0"/>
              </a:spcBef>
              <a:spcAft>
                <a:spcPts val="0"/>
              </a:spcAft>
              <a:buClr>
                <a:srgbClr val="535353"/>
              </a:buClr>
              <a:buSzPts val="1800"/>
              <a:buNone/>
              <a:defRPr/>
            </a:lvl9pPr>
          </a:lstStyle>
          <a:p/>
        </p:txBody>
      </p:sp>
      <p:sp>
        <p:nvSpPr>
          <p:cNvPr id="179" name="Google Shape;179;g39a6a542a37_0_210"/>
          <p:cNvSpPr txBox="1"/>
          <p:nvPr>
            <p:ph idx="1" type="body"/>
          </p:nvPr>
        </p:nvSpPr>
        <p:spPr>
          <a:xfrm>
            <a:off x="1895475" y="3182315"/>
            <a:ext cx="10296600" cy="3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rgbClr val="00C7FD"/>
              </a:buClr>
              <a:buSzPts val="1600"/>
              <a:buNone/>
              <a:defRPr b="1" i="0" sz="1600">
                <a:solidFill>
                  <a:srgbClr val="00C7FD"/>
                </a:solidFill>
                <a:latin typeface="Arial"/>
                <a:ea typeface="Arial"/>
                <a:cs typeface="Arial"/>
                <a:sym typeface="Arial"/>
              </a:defRPr>
            </a:lvl1pPr>
            <a:lvl2pPr indent="-342900" lvl="1" marL="914400" algn="l">
              <a:lnSpc>
                <a:spcPct val="100000"/>
              </a:lnSpc>
              <a:spcBef>
                <a:spcPts val="1200"/>
              </a:spcBef>
              <a:spcAft>
                <a:spcPts val="0"/>
              </a:spcAft>
              <a:buClr>
                <a:schemeClr val="lt2"/>
              </a:buClr>
              <a:buSzPts val="1800"/>
              <a:buChar char="•"/>
              <a:defRPr/>
            </a:lvl2pPr>
            <a:lvl3pPr indent="-342900" lvl="2" marL="1371600" algn="l">
              <a:lnSpc>
                <a:spcPct val="100000"/>
              </a:lnSpc>
              <a:spcBef>
                <a:spcPts val="1200"/>
              </a:spcBef>
              <a:spcAft>
                <a:spcPts val="0"/>
              </a:spcAft>
              <a:buClr>
                <a:schemeClr val="lt2"/>
              </a:buClr>
              <a:buSzPts val="1800"/>
              <a:buChar char="•"/>
              <a:defRPr/>
            </a:lvl3pPr>
            <a:lvl4pPr indent="-342900" lvl="3" marL="1828800" algn="l">
              <a:lnSpc>
                <a:spcPct val="100000"/>
              </a:lnSpc>
              <a:spcBef>
                <a:spcPts val="1200"/>
              </a:spcBef>
              <a:spcAft>
                <a:spcPts val="0"/>
              </a:spcAft>
              <a:buClr>
                <a:schemeClr val="lt2"/>
              </a:buClr>
              <a:buSzPts val="1800"/>
              <a:buChar char="•"/>
              <a:defRPr/>
            </a:lvl4pPr>
            <a:lvl5pPr indent="-342900" lvl="4" marL="2286000" algn="l">
              <a:lnSpc>
                <a:spcPct val="100000"/>
              </a:lnSpc>
              <a:spcBef>
                <a:spcPts val="1200"/>
              </a:spcBef>
              <a:spcAft>
                <a:spcPts val="0"/>
              </a:spcAft>
              <a:buClr>
                <a:schemeClr val="lt2"/>
              </a:buClr>
              <a:buSzPts val="1800"/>
              <a:buChar char="•"/>
              <a:defRPr/>
            </a:lvl5pPr>
            <a:lvl6pPr indent="-228600" lvl="5" marL="2743200" algn="l">
              <a:lnSpc>
                <a:spcPct val="90000"/>
              </a:lnSpc>
              <a:spcBef>
                <a:spcPts val="0"/>
              </a:spcBef>
              <a:spcAft>
                <a:spcPts val="0"/>
              </a:spcAft>
              <a:buClr>
                <a:srgbClr val="5E5E5E"/>
              </a:buClr>
              <a:buSzPts val="1800"/>
              <a:buNone/>
              <a:defRPr/>
            </a:lvl6pPr>
            <a:lvl7pPr indent="-228600" lvl="6" marL="3200400" algn="l">
              <a:lnSpc>
                <a:spcPct val="90000"/>
              </a:lnSpc>
              <a:spcBef>
                <a:spcPts val="0"/>
              </a:spcBef>
              <a:spcAft>
                <a:spcPts val="0"/>
              </a:spcAft>
              <a:buClr>
                <a:srgbClr val="5E5E5E"/>
              </a:buClr>
              <a:buSzPts val="1800"/>
              <a:buNone/>
              <a:defRPr/>
            </a:lvl7pPr>
            <a:lvl8pPr indent="-228600" lvl="7" marL="3657600" algn="l">
              <a:lnSpc>
                <a:spcPct val="90000"/>
              </a:lnSpc>
              <a:spcBef>
                <a:spcPts val="0"/>
              </a:spcBef>
              <a:spcAft>
                <a:spcPts val="0"/>
              </a:spcAft>
              <a:buClr>
                <a:srgbClr val="5E5E5E"/>
              </a:buClr>
              <a:buSzPts val="1800"/>
              <a:buNone/>
              <a:defRPr/>
            </a:lvl8pPr>
            <a:lvl9pPr indent="-228600" lvl="8" marL="4114800" algn="l">
              <a:lnSpc>
                <a:spcPct val="90000"/>
              </a:lnSpc>
              <a:spcBef>
                <a:spcPts val="0"/>
              </a:spcBef>
              <a:spcAft>
                <a:spcPts val="0"/>
              </a:spcAft>
              <a:buClr>
                <a:srgbClr val="5E5E5E"/>
              </a:buClr>
              <a:buSzPts val="1800"/>
              <a:buNone/>
              <a:defRPr/>
            </a:lvl9pPr>
          </a:lstStyle>
          <a:p/>
        </p:txBody>
      </p:sp>
      <p:sp>
        <p:nvSpPr>
          <p:cNvPr id="180" name="Google Shape;180;g39a6a542a37_0_210"/>
          <p:cNvSpPr txBox="1"/>
          <p:nvPr>
            <p:ph idx="2" type="body"/>
          </p:nvPr>
        </p:nvSpPr>
        <p:spPr>
          <a:xfrm>
            <a:off x="1908348" y="4778609"/>
            <a:ext cx="10283700" cy="32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lt1"/>
              </a:buClr>
              <a:buSzPts val="1800"/>
              <a:buNone/>
              <a:defRPr b="0" i="0" sz="1800">
                <a:solidFill>
                  <a:schemeClr val="lt1"/>
                </a:solidFill>
                <a:latin typeface="Arial"/>
                <a:ea typeface="Arial"/>
                <a:cs typeface="Arial"/>
                <a:sym typeface="Arial"/>
              </a:defRPr>
            </a:lvl1pPr>
            <a:lvl2pPr indent="-342900" lvl="1" marL="914400" algn="l">
              <a:lnSpc>
                <a:spcPct val="100000"/>
              </a:lnSpc>
              <a:spcBef>
                <a:spcPts val="1200"/>
              </a:spcBef>
              <a:spcAft>
                <a:spcPts val="0"/>
              </a:spcAft>
              <a:buClr>
                <a:schemeClr val="lt2"/>
              </a:buClr>
              <a:buSzPts val="1800"/>
              <a:buChar char="•"/>
              <a:defRPr/>
            </a:lvl2pPr>
            <a:lvl3pPr indent="-342900" lvl="2" marL="1371600" algn="l">
              <a:lnSpc>
                <a:spcPct val="100000"/>
              </a:lnSpc>
              <a:spcBef>
                <a:spcPts val="1200"/>
              </a:spcBef>
              <a:spcAft>
                <a:spcPts val="0"/>
              </a:spcAft>
              <a:buClr>
                <a:schemeClr val="lt2"/>
              </a:buClr>
              <a:buSzPts val="1800"/>
              <a:buChar char="•"/>
              <a:defRPr/>
            </a:lvl3pPr>
            <a:lvl4pPr indent="-342900" lvl="3" marL="1828800" algn="l">
              <a:lnSpc>
                <a:spcPct val="100000"/>
              </a:lnSpc>
              <a:spcBef>
                <a:spcPts val="1200"/>
              </a:spcBef>
              <a:spcAft>
                <a:spcPts val="0"/>
              </a:spcAft>
              <a:buClr>
                <a:schemeClr val="lt2"/>
              </a:buClr>
              <a:buSzPts val="1800"/>
              <a:buChar char="•"/>
              <a:defRPr/>
            </a:lvl4pPr>
            <a:lvl5pPr indent="-342900" lvl="4" marL="2286000" algn="l">
              <a:lnSpc>
                <a:spcPct val="100000"/>
              </a:lnSpc>
              <a:spcBef>
                <a:spcPts val="1200"/>
              </a:spcBef>
              <a:spcAft>
                <a:spcPts val="0"/>
              </a:spcAft>
              <a:buClr>
                <a:schemeClr val="lt2"/>
              </a:buClr>
              <a:buSzPts val="1800"/>
              <a:buChar char="•"/>
              <a:defRPr/>
            </a:lvl5pPr>
            <a:lvl6pPr indent="-228600" lvl="5" marL="2743200" algn="l">
              <a:lnSpc>
                <a:spcPct val="90000"/>
              </a:lnSpc>
              <a:spcBef>
                <a:spcPts val="0"/>
              </a:spcBef>
              <a:spcAft>
                <a:spcPts val="0"/>
              </a:spcAft>
              <a:buClr>
                <a:srgbClr val="5E5E5E"/>
              </a:buClr>
              <a:buSzPts val="1800"/>
              <a:buNone/>
              <a:defRPr/>
            </a:lvl6pPr>
            <a:lvl7pPr indent="-228600" lvl="6" marL="3200400" algn="l">
              <a:lnSpc>
                <a:spcPct val="90000"/>
              </a:lnSpc>
              <a:spcBef>
                <a:spcPts val="0"/>
              </a:spcBef>
              <a:spcAft>
                <a:spcPts val="0"/>
              </a:spcAft>
              <a:buClr>
                <a:srgbClr val="5E5E5E"/>
              </a:buClr>
              <a:buSzPts val="1800"/>
              <a:buNone/>
              <a:defRPr/>
            </a:lvl7pPr>
            <a:lvl8pPr indent="-228600" lvl="7" marL="3657600" algn="l">
              <a:lnSpc>
                <a:spcPct val="90000"/>
              </a:lnSpc>
              <a:spcBef>
                <a:spcPts val="0"/>
              </a:spcBef>
              <a:spcAft>
                <a:spcPts val="0"/>
              </a:spcAft>
              <a:buClr>
                <a:srgbClr val="5E5E5E"/>
              </a:buClr>
              <a:buSzPts val="1800"/>
              <a:buNone/>
              <a:defRPr/>
            </a:lvl8pPr>
            <a:lvl9pPr indent="-228600" lvl="8" marL="4114800" algn="l">
              <a:lnSpc>
                <a:spcPct val="90000"/>
              </a:lnSpc>
              <a:spcBef>
                <a:spcPts val="0"/>
              </a:spcBef>
              <a:spcAft>
                <a:spcPts val="0"/>
              </a:spcAft>
              <a:buClr>
                <a:srgbClr val="5E5E5E"/>
              </a:buClr>
              <a:buSzPts val="18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1.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 name="Shape 95"/>
        <p:cNvGrpSpPr/>
        <p:nvPr/>
      </p:nvGrpSpPr>
      <p:grpSpPr>
        <a:xfrm>
          <a:off x="0" y="0"/>
          <a:ext cx="0" cy="0"/>
          <a:chOff x="0" y="0"/>
          <a:chExt cx="0" cy="0"/>
        </a:xfrm>
      </p:grpSpPr>
      <p:sp>
        <p:nvSpPr>
          <p:cNvPr id="96" name="Google Shape;96;g39a6a542a37_0_12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7" name="Google Shape;97;g39a6a542a37_0_12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8" name="Google Shape;98;g39a6a542a37_0_12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9" name="Google Shape;99;g39a6a542a37_0_12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0" name="Google Shape;100;g39a6a542a37_0_1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github.com/llvm/llvm-project" TargetMode="External"/><Relationship Id="rId4" Type="http://schemas.openxmlformats.org/officeDocument/2006/relationships/hyperlink" Target="https://github.com/gcc-mirror/gcc" TargetMode="External"/><Relationship Id="rId5" Type="http://schemas.openxmlformats.org/officeDocument/2006/relationships/hyperlink" Target="https://bellard.org/tcc/" TargetMode="External"/><Relationship Id="rId6" Type="http://schemas.openxmlformats.org/officeDocument/2006/relationships/hyperlink" Target="https://github.com/dstogov/rcc" TargetMode="External"/><Relationship Id="rId7" Type="http://schemas.openxmlformats.org/officeDocument/2006/relationships/hyperlink" Target="https://github.com/rui314/chibicc"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hyperlink" Target="https://flerka.github.io/personal-blog/2022-06-21-ahead-of-time-compila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github.com/llvm/llvm-projec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github.com/rust-lang/rust" TargetMode="External"/><Relationship Id="rId4" Type="http://schemas.openxmlformats.org/officeDocument/2006/relationships/hyperlink" Target="https://github.com/swiftlang/swift" TargetMode="External"/><Relationship Id="rId5" Type="http://schemas.openxmlformats.org/officeDocument/2006/relationships/hyperlink" Target="https://github.com/JuliaLang/julia" TargetMode="External"/><Relationship Id="rId6" Type="http://schemas.openxmlformats.org/officeDocument/2006/relationships/hyperlink" Target="https://github.com/emscripten-core/emscripten" TargetMode="External"/><Relationship Id="rId7" Type="http://schemas.openxmlformats.org/officeDocument/2006/relationships/hyperlink" Target="https://codeberg.org/ziglang/zig" TargetMode="External"/><Relationship Id="rId8" Type="http://schemas.openxmlformats.org/officeDocument/2006/relationships/hyperlink" Target="https://github.com/ghc/ghc"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github.com/postgres/postgres/blob/master/src/backend/jit" TargetMode="External"/><Relationship Id="rId4" Type="http://schemas.openxmlformats.org/officeDocument/2006/relationships/hyperlink" Target="https://github.com/ClickHouse/ClickHouse" TargetMode="External"/><Relationship Id="rId5" Type="http://schemas.openxmlformats.org/officeDocument/2006/relationships/hyperlink" Target="https://docs.mesa3d.org/drivers/llvmpipe.html" TargetMode="External"/><Relationship Id="rId6" Type="http://schemas.openxmlformats.org/officeDocument/2006/relationships/hyperlink" Target="https://github.com/root-project/clin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hyperlink" Target="https://github.com/pytorch/pytorch" TargetMode="External"/><Relationship Id="rId5" Type="http://schemas.openxmlformats.org/officeDocument/2006/relationships/image" Target="../media/image2.png"/><Relationship Id="rId6" Type="http://schemas.openxmlformats.org/officeDocument/2006/relationships/hyperlink" Target="https://www.learnpytorch.io/01_pytorch_workflow/"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hyperlink" Target="https://pytorch.org/get-started/pytorch-2-x/" TargetMode="External"/><Relationship Id="rId5" Type="http://schemas.openxmlformats.org/officeDocument/2006/relationships/hyperlink" Target="https://docs.pytorch.org/tutorials/compilers_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hyperlink" Target="https://pytorch.org/blog/accelerated-pytorch-inferenc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hyperlink" Target="https://medium.com/@Modexa/eight-torchscript-alternatives-for-the-pytorch-2-x-era-34dcb68f2940" TargetMode="External"/></Relationships>
</file>

<file path=ppt/slides/_rels/slide18.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8.png"/><Relationship Id="rId13" Type="http://schemas.openxmlformats.org/officeDocument/2006/relationships/image" Target="../media/image6.png"/><Relationship Id="rId12" Type="http://schemas.openxmlformats.org/officeDocument/2006/relationships/image" Target="../media/image21.png"/><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pytorch.org/docs/stable/torch.compiler.html" TargetMode="External"/><Relationship Id="rId4" Type="http://schemas.openxmlformats.org/officeDocument/2006/relationships/hyperlink" Target="https://github.com/Lightning-AI/lightning-thunder" TargetMode="External"/><Relationship Id="rId9" Type="http://schemas.openxmlformats.org/officeDocument/2006/relationships/image" Target="../media/image10.png"/><Relationship Id="rId5" Type="http://schemas.openxmlformats.org/officeDocument/2006/relationships/hyperlink" Target="https://github.com/iree-org/iree-turbine" TargetMode="External"/><Relationship Id="rId6" Type="http://schemas.openxmlformats.org/officeDocument/2006/relationships/hyperlink" Target="https://github.com/pytorch/TensorRT" TargetMode="External"/><Relationship Id="rId7" Type="http://schemas.openxmlformats.org/officeDocument/2006/relationships/hyperlink" Target="https://docs.openvino.ai/torchcompile" TargetMode="External"/><Relationship Id="rId8" Type="http://schemas.openxmlformats.org/officeDocument/2006/relationships/hyperlink" Target="https://github.com/pytorch/xla"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www.singlestore.com/blog/a-guide-to-softmax-activation-function/" TargetMode="External"/><Relationship Id="rId4" Type="http://schemas.openxmlformats.org/officeDocument/2006/relationships/hyperlink" Target="https://openai.com/index/triton/" TargetMode="External"/><Relationship Id="rId9" Type="http://schemas.openxmlformats.org/officeDocument/2006/relationships/image" Target="../media/image3.png"/><Relationship Id="rId5" Type="http://schemas.openxmlformats.org/officeDocument/2006/relationships/hyperlink" Target="https://triton-lang.org/main/index.html" TargetMode="External"/><Relationship Id="rId6" Type="http://schemas.openxmlformats.org/officeDocument/2006/relationships/image" Target="../media/image12.png"/><Relationship Id="rId7" Type="http://schemas.openxmlformats.org/officeDocument/2006/relationships/image" Target="../media/image5.png"/><Relationship Id="rId8" Type="http://schemas.openxmlformats.org/officeDocument/2006/relationships/hyperlink" Target="https://godbolt.org/z/fc37Edob6"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github.com/pypy/pypy" TargetMode="External"/><Relationship Id="rId4" Type="http://schemas.openxmlformats.org/officeDocument/2006/relationships/image" Target="../media/image25.png"/><Relationship Id="rId5" Type="http://schemas.openxmlformats.org/officeDocument/2006/relationships/hyperlink" Target="https://speed.pypy.or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www.taichi-lang.org/" TargetMode="External"/><Relationship Id="rId4" Type="http://schemas.openxmlformats.org/officeDocument/2006/relationships/hyperlink" Target="https://github.com/taichi-dev/taichi" TargetMode="External"/><Relationship Id="rId5" Type="http://schemas.openxmlformats.org/officeDocument/2006/relationships/hyperlink" Target="https://numba.pydata.org/" TargetMode="External"/><Relationship Id="rId6" Type="http://schemas.openxmlformats.org/officeDocument/2006/relationships/hyperlink" Target="https://github.com/numba/numba" TargetMode="External"/><Relationship Id="rId7" Type="http://schemas.openxmlformats.org/officeDocument/2006/relationships/image" Target="../media/image14.png"/><Relationship Id="rId8"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20.png"/><Relationship Id="rId5" Type="http://schemas.openxmlformats.org/officeDocument/2006/relationships/hyperlink" Target="https://numba.pydata.org/numba-doc/dev/developer/architecture.html" TargetMode="External"/><Relationship Id="rId6"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arxiv.org/pdf/2208.14755.pdf"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forms.gle/taqUuCfNCq4u5Xn9A" TargetMode="External"/><Relationship Id="rId4" Type="http://schemas.openxmlformats.org/officeDocument/2006/relationships/hyperlink" Target="mailto:me@gooddoog.ru" TargetMode="External"/><Relationship Id="rId5"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 Id="rId3" Type="http://schemas.openxmlformats.org/officeDocument/2006/relationships/hyperlink" Target="https://forms.gle/kQENCeeS6anmf6Lp8" TargetMode="External"/><Relationship Id="rId4" Type="http://schemas.openxmlformats.org/officeDocument/2006/relationships/hyperlink" Target="mailto:me@gooddoog.ru" TargetMode="External"/><Relationship Id="rId5" Type="http://schemas.openxmlformats.org/officeDocument/2006/relationships/image" Target="../media/image24.png"/><Relationship Id="rId6"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pytorch.org/blog/triton-kernel-compilation-stages/" TargetMode="External"/><Relationship Id="rId4" Type="http://schemas.openxmlformats.org/officeDocument/2006/relationships/hyperlink" Target="https://devguide.python.org/internal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5904ca52a9_0_0"/>
          <p:cNvSpPr txBox="1"/>
          <p:nvPr>
            <p:ph type="title"/>
          </p:nvPr>
        </p:nvSpPr>
        <p:spPr>
          <a:xfrm>
            <a:off x="1895475" y="3585275"/>
            <a:ext cx="6192300" cy="1091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lt1"/>
              </a:buClr>
              <a:buSzPts val="7500"/>
              <a:buFont typeface="Arial"/>
              <a:buNone/>
            </a:pPr>
            <a:r>
              <a:rPr lang="en-US"/>
              <a:t>Compilers 101</a:t>
            </a:r>
            <a:endParaRPr/>
          </a:p>
        </p:txBody>
      </p:sp>
      <p:sp>
        <p:nvSpPr>
          <p:cNvPr id="186" name="Google Shape;186;g35904ca52a9_0_0"/>
          <p:cNvSpPr txBox="1"/>
          <p:nvPr>
            <p:ph idx="2" type="body"/>
          </p:nvPr>
        </p:nvSpPr>
        <p:spPr>
          <a:xfrm>
            <a:off x="1908350" y="4778600"/>
            <a:ext cx="8226000" cy="3267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lt1"/>
              </a:buClr>
              <a:buSzPts val="1800"/>
              <a:buNone/>
            </a:pPr>
            <a:r>
              <a:rPr lang="en-US"/>
              <a:t>Outro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
          <p:cNvSpPr txBox="1"/>
          <p:nvPr>
            <p:ph type="title"/>
          </p:nvPr>
        </p:nvSpPr>
        <p:spPr>
          <a:xfrm>
            <a:off x="571370" y="571500"/>
            <a:ext cx="11010816" cy="952499"/>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525252"/>
              </a:buClr>
              <a:buSzPts val="4000"/>
              <a:buFont typeface="Calibri"/>
              <a:buNone/>
            </a:pPr>
            <a:r>
              <a:rPr lang="en-US"/>
              <a:t>Previously…</a:t>
            </a:r>
            <a:endParaRPr/>
          </a:p>
        </p:txBody>
      </p:sp>
      <p:sp>
        <p:nvSpPr>
          <p:cNvPr id="192" name="Google Shape;192;p2"/>
          <p:cNvSpPr/>
          <p:nvPr/>
        </p:nvSpPr>
        <p:spPr>
          <a:xfrm>
            <a:off x="855405" y="1544658"/>
            <a:ext cx="2861187" cy="471924"/>
          </a:xfrm>
          <a:prstGeom prst="rect">
            <a:avLst/>
          </a:prstGeom>
          <a:solidFill>
            <a:srgbClr val="A5A5A5"/>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Preprocessing</a:t>
            </a:r>
            <a:endParaRPr b="0" i="0" sz="3200" u="none" cap="none" strike="noStrike">
              <a:solidFill>
                <a:srgbClr val="FFFFFF"/>
              </a:solidFill>
              <a:latin typeface="Helvetica Neue"/>
              <a:ea typeface="Helvetica Neue"/>
              <a:cs typeface="Helvetica Neue"/>
              <a:sym typeface="Helvetica Neue"/>
            </a:endParaRPr>
          </a:p>
        </p:txBody>
      </p:sp>
      <p:sp>
        <p:nvSpPr>
          <p:cNvPr id="193" name="Google Shape;193;p2"/>
          <p:cNvSpPr/>
          <p:nvPr/>
        </p:nvSpPr>
        <p:spPr>
          <a:xfrm>
            <a:off x="855404" y="2098214"/>
            <a:ext cx="2861187" cy="471924"/>
          </a:xfrm>
          <a:prstGeom prst="rect">
            <a:avLst/>
          </a:prstGeom>
          <a:solidFill>
            <a:srgbClr val="A5A5A5"/>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Lexical analysis</a:t>
            </a:r>
            <a:endParaRPr b="0" i="0" sz="3200" u="none" cap="none" strike="noStrike">
              <a:solidFill>
                <a:srgbClr val="FFFFFF"/>
              </a:solidFill>
              <a:latin typeface="Helvetica Neue"/>
              <a:ea typeface="Helvetica Neue"/>
              <a:cs typeface="Helvetica Neue"/>
              <a:sym typeface="Helvetica Neue"/>
            </a:endParaRPr>
          </a:p>
        </p:txBody>
      </p:sp>
      <p:sp>
        <p:nvSpPr>
          <p:cNvPr id="194" name="Google Shape;194;p2"/>
          <p:cNvSpPr/>
          <p:nvPr/>
        </p:nvSpPr>
        <p:spPr>
          <a:xfrm>
            <a:off x="855403" y="2651770"/>
            <a:ext cx="2861187" cy="471924"/>
          </a:xfrm>
          <a:prstGeom prst="rect">
            <a:avLst/>
          </a:prstGeom>
          <a:solidFill>
            <a:srgbClr val="A5A5A5"/>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Syntax analysis</a:t>
            </a:r>
            <a:endParaRPr b="0" i="0" sz="3200" u="none" cap="none" strike="noStrike">
              <a:solidFill>
                <a:srgbClr val="FFFFFF"/>
              </a:solidFill>
              <a:latin typeface="Helvetica Neue"/>
              <a:ea typeface="Helvetica Neue"/>
              <a:cs typeface="Helvetica Neue"/>
              <a:sym typeface="Helvetica Neue"/>
            </a:endParaRPr>
          </a:p>
        </p:txBody>
      </p:sp>
      <p:sp>
        <p:nvSpPr>
          <p:cNvPr id="195" name="Google Shape;195;p2"/>
          <p:cNvSpPr/>
          <p:nvPr/>
        </p:nvSpPr>
        <p:spPr>
          <a:xfrm>
            <a:off x="855405" y="3213202"/>
            <a:ext cx="2861187" cy="471924"/>
          </a:xfrm>
          <a:prstGeom prst="rect">
            <a:avLst/>
          </a:prstGeom>
          <a:solidFill>
            <a:srgbClr val="A5A5A5"/>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Semantic analysis</a:t>
            </a:r>
            <a:endParaRPr b="0" i="0" sz="3200" u="none" cap="none" strike="noStrike">
              <a:solidFill>
                <a:srgbClr val="FFFFFF"/>
              </a:solidFill>
              <a:latin typeface="Helvetica Neue"/>
              <a:ea typeface="Helvetica Neue"/>
              <a:cs typeface="Helvetica Neue"/>
              <a:sym typeface="Helvetica Neue"/>
            </a:endParaRPr>
          </a:p>
        </p:txBody>
      </p:sp>
      <p:sp>
        <p:nvSpPr>
          <p:cNvPr id="196" name="Google Shape;196;p2"/>
          <p:cNvSpPr/>
          <p:nvPr/>
        </p:nvSpPr>
        <p:spPr>
          <a:xfrm>
            <a:off x="855402" y="3774634"/>
            <a:ext cx="2861187" cy="471924"/>
          </a:xfrm>
          <a:prstGeom prst="rect">
            <a:avLst/>
          </a:prstGeom>
          <a:solidFill>
            <a:srgbClr val="A5A5A5"/>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IR Generation</a:t>
            </a:r>
            <a:endParaRPr b="0" i="0" sz="3200" u="none" cap="none" strike="noStrike">
              <a:solidFill>
                <a:srgbClr val="FFFFFF"/>
              </a:solidFill>
              <a:latin typeface="Helvetica Neue"/>
              <a:ea typeface="Helvetica Neue"/>
              <a:cs typeface="Helvetica Neue"/>
              <a:sym typeface="Helvetica Neue"/>
            </a:endParaRPr>
          </a:p>
        </p:txBody>
      </p:sp>
      <p:sp>
        <p:nvSpPr>
          <p:cNvPr id="197" name="Google Shape;197;p2"/>
          <p:cNvSpPr/>
          <p:nvPr/>
        </p:nvSpPr>
        <p:spPr>
          <a:xfrm>
            <a:off x="855401" y="4336066"/>
            <a:ext cx="2861187" cy="471924"/>
          </a:xfrm>
          <a:prstGeom prst="rect">
            <a:avLst/>
          </a:prstGeom>
          <a:solidFill>
            <a:srgbClr val="A5A5A5"/>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chemeClr val="lt1"/>
              </a:buClr>
              <a:buSzPts val="1800"/>
              <a:buFont typeface="Helvetica Neue"/>
              <a:buNone/>
            </a:pPr>
            <a:r>
              <a:rPr b="0" i="0" lang="en-US" sz="1800" u="none" cap="none" strike="noStrike">
                <a:solidFill>
                  <a:schemeClr val="lt1"/>
                </a:solidFill>
                <a:latin typeface="Helvetica Neue"/>
                <a:ea typeface="Helvetica Neue"/>
                <a:cs typeface="Helvetica Neue"/>
                <a:sym typeface="Helvetica Neue"/>
              </a:rPr>
              <a:t>IR Optimization</a:t>
            </a:r>
            <a:endParaRPr b="0" i="0" sz="3200" u="none" cap="none" strike="noStrike">
              <a:solidFill>
                <a:schemeClr val="lt1"/>
              </a:solidFill>
              <a:latin typeface="Helvetica Neue"/>
              <a:ea typeface="Helvetica Neue"/>
              <a:cs typeface="Helvetica Neue"/>
              <a:sym typeface="Helvetica Neue"/>
            </a:endParaRPr>
          </a:p>
        </p:txBody>
      </p:sp>
      <p:sp>
        <p:nvSpPr>
          <p:cNvPr id="198" name="Google Shape;198;p2"/>
          <p:cNvSpPr/>
          <p:nvPr/>
        </p:nvSpPr>
        <p:spPr>
          <a:xfrm>
            <a:off x="855400" y="4889622"/>
            <a:ext cx="2861187" cy="471924"/>
          </a:xfrm>
          <a:prstGeom prst="rect">
            <a:avLst/>
          </a:prstGeom>
          <a:solidFill>
            <a:srgbClr val="A5A5A5"/>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Code generation</a:t>
            </a:r>
            <a:endParaRPr b="0" i="0" sz="3200" u="none" cap="none" strike="noStrike">
              <a:solidFill>
                <a:srgbClr val="FFFFFF"/>
              </a:solidFill>
              <a:latin typeface="Helvetica Neue"/>
              <a:ea typeface="Helvetica Neue"/>
              <a:cs typeface="Helvetica Neue"/>
              <a:sym typeface="Helvetica Neue"/>
            </a:endParaRPr>
          </a:p>
        </p:txBody>
      </p:sp>
      <p:sp>
        <p:nvSpPr>
          <p:cNvPr id="199" name="Google Shape;199;p2"/>
          <p:cNvSpPr/>
          <p:nvPr/>
        </p:nvSpPr>
        <p:spPr>
          <a:xfrm>
            <a:off x="855399" y="5443178"/>
            <a:ext cx="2861187" cy="471924"/>
          </a:xfrm>
          <a:prstGeom prst="rect">
            <a:avLst/>
          </a:prstGeom>
          <a:solidFill>
            <a:srgbClr val="A5A5A5"/>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Optimization</a:t>
            </a:r>
            <a:endParaRPr b="0" i="0" sz="3200" u="none" cap="none" strike="noStrike">
              <a:solidFill>
                <a:srgbClr val="FFFFFF"/>
              </a:solidFill>
              <a:latin typeface="Helvetica Neue"/>
              <a:ea typeface="Helvetica Neue"/>
              <a:cs typeface="Helvetica Neue"/>
              <a:sym typeface="Helvetica Neue"/>
            </a:endParaRPr>
          </a:p>
        </p:txBody>
      </p:sp>
      <p:sp>
        <p:nvSpPr>
          <p:cNvPr id="200" name="Google Shape;200;p2"/>
          <p:cNvSpPr/>
          <p:nvPr/>
        </p:nvSpPr>
        <p:spPr>
          <a:xfrm>
            <a:off x="6707568" y="2474368"/>
            <a:ext cx="1828800" cy="594900"/>
          </a:xfrm>
          <a:prstGeom prst="rect">
            <a:avLst/>
          </a:prstGeom>
          <a:solidFill>
            <a:srgbClr val="4472C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rPr b="0" i="0" lang="en-US" sz="3200" u="none" cap="none" strike="noStrike">
                <a:solidFill>
                  <a:srgbClr val="FFFFFF"/>
                </a:solidFill>
                <a:latin typeface="Helvetica Neue"/>
                <a:ea typeface="Helvetica Neue"/>
                <a:cs typeface="Helvetica Neue"/>
                <a:sym typeface="Helvetica Neue"/>
              </a:rPr>
              <a:t>Frontend</a:t>
            </a:r>
            <a:endParaRPr b="0" i="0" sz="1400" u="none" cap="none" strike="noStrike">
              <a:solidFill>
                <a:srgbClr val="000000"/>
              </a:solidFill>
              <a:latin typeface="Arial"/>
              <a:ea typeface="Arial"/>
              <a:cs typeface="Arial"/>
              <a:sym typeface="Arial"/>
            </a:endParaRPr>
          </a:p>
        </p:txBody>
      </p:sp>
      <p:sp>
        <p:nvSpPr>
          <p:cNvPr id="201" name="Google Shape;201;p2"/>
          <p:cNvSpPr/>
          <p:nvPr/>
        </p:nvSpPr>
        <p:spPr>
          <a:xfrm>
            <a:off x="6478476" y="5064028"/>
            <a:ext cx="2286900" cy="594900"/>
          </a:xfrm>
          <a:prstGeom prst="rect">
            <a:avLst/>
          </a:prstGeom>
          <a:solidFill>
            <a:srgbClr val="70AD47"/>
          </a:solidFill>
          <a:ln cap="flat" cmpd="sng" w="12700">
            <a:solidFill>
              <a:srgbClr val="517E33"/>
            </a:solidFill>
            <a:prstDash val="solid"/>
            <a:miter lim="800000"/>
            <a:headEnd len="sm" w="sm" type="none"/>
            <a:tailEnd len="sm" w="sm" type="none"/>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rPr b="0" i="0" lang="en-US" sz="3200" u="none" cap="none" strike="noStrike">
                <a:solidFill>
                  <a:srgbClr val="FFFFFF"/>
                </a:solidFill>
                <a:latin typeface="Helvetica Neue"/>
                <a:ea typeface="Helvetica Neue"/>
                <a:cs typeface="Helvetica Neue"/>
                <a:sym typeface="Helvetica Neue"/>
              </a:rPr>
              <a:t>Backend</a:t>
            </a:r>
            <a:endParaRPr b="0" i="0" sz="1400" u="none" cap="none" strike="noStrike">
              <a:solidFill>
                <a:srgbClr val="000000"/>
              </a:solidFill>
              <a:latin typeface="Arial"/>
              <a:ea typeface="Arial"/>
              <a:cs typeface="Arial"/>
              <a:sym typeface="Arial"/>
            </a:endParaRPr>
          </a:p>
        </p:txBody>
      </p:sp>
      <p:sp>
        <p:nvSpPr>
          <p:cNvPr id="202" name="Google Shape;202;p2"/>
          <p:cNvSpPr/>
          <p:nvPr/>
        </p:nvSpPr>
        <p:spPr>
          <a:xfrm>
            <a:off x="6478475" y="4241871"/>
            <a:ext cx="2286900" cy="594900"/>
          </a:xfrm>
          <a:prstGeom prst="rect">
            <a:avLst/>
          </a:prstGeom>
          <a:solidFill>
            <a:srgbClr val="8F5DA2"/>
          </a:solidFill>
          <a:ln cap="flat" cmpd="sng" w="25400">
            <a:solidFill>
              <a:srgbClr val="684376"/>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rPr b="0" i="0" lang="en-US" sz="3200" u="none" cap="none" strike="noStrike">
                <a:solidFill>
                  <a:srgbClr val="FFFFFF"/>
                </a:solidFill>
                <a:latin typeface="Helvetica Neue"/>
                <a:ea typeface="Helvetica Neue"/>
                <a:cs typeface="Helvetica Neue"/>
                <a:sym typeface="Helvetica Neue"/>
              </a:rPr>
              <a:t>Middle-end</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d9cf9aaceb_0_0"/>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Today</a:t>
            </a:r>
            <a:endParaRPr/>
          </a:p>
        </p:txBody>
      </p:sp>
      <p:sp>
        <p:nvSpPr>
          <p:cNvPr id="209" name="Google Shape;209;g3d9cf9aaceb_0_0"/>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3rdparty projects using LLVM (and other compiler infrastructures)</a:t>
            </a:r>
            <a:endParaRPr/>
          </a:p>
          <a:p>
            <a:pPr indent="-342900" lvl="0" marL="457200" rtl="0" algn="l">
              <a:spcBef>
                <a:spcPts val="0"/>
              </a:spcBef>
              <a:spcAft>
                <a:spcPts val="0"/>
              </a:spcAft>
              <a:buSzPts val="1800"/>
              <a:buChar char="•"/>
            </a:pPr>
            <a:r>
              <a:rPr lang="en-US"/>
              <a:t>AOT vs JIT</a:t>
            </a:r>
            <a:endParaRPr/>
          </a:p>
          <a:p>
            <a:pPr indent="-342900" lvl="0" marL="457200" rtl="0" algn="l">
              <a:spcBef>
                <a:spcPts val="0"/>
              </a:spcBef>
              <a:spcAft>
                <a:spcPts val="0"/>
              </a:spcAft>
              <a:buSzPts val="1800"/>
              <a:buChar char="•"/>
            </a:pPr>
            <a:r>
              <a:rPr lang="en-US"/>
              <a:t>Compilers integration into ML workflows</a:t>
            </a:r>
            <a:endParaRPr/>
          </a:p>
          <a:p>
            <a:pPr indent="-342900" lvl="0" marL="457200" rtl="0" algn="l">
              <a:spcBef>
                <a:spcPts val="0"/>
              </a:spcBef>
              <a:spcAft>
                <a:spcPts val="0"/>
              </a:spcAft>
              <a:buSzPts val="1800"/>
              <a:buChar char="•"/>
            </a:pPr>
            <a:r>
              <a:rPr lang="en-US"/>
              <a:t>Python compilation process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d6016f1f31_0_0"/>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LLVM is not the </a:t>
            </a:r>
            <a:r>
              <a:rPr lang="en-US"/>
              <a:t>only compiler infrastructure</a:t>
            </a:r>
            <a:endParaRPr/>
          </a:p>
        </p:txBody>
      </p:sp>
      <p:sp>
        <p:nvSpPr>
          <p:cNvPr id="216" name="Google Shape;216;g3d6016f1f31_0_0"/>
          <p:cNvSpPr txBox="1"/>
          <p:nvPr>
            <p:ph idx="1" type="body"/>
          </p:nvPr>
        </p:nvSpPr>
        <p:spPr>
          <a:xfrm>
            <a:off x="571375" y="1673450"/>
            <a:ext cx="11307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Throughout</a:t>
            </a:r>
            <a:r>
              <a:rPr lang="en-US"/>
              <a:t> this course, we were talking about LLVM compiler infrastructure</a:t>
            </a:r>
            <a:endParaRPr/>
          </a:p>
          <a:p>
            <a:pPr indent="0" lvl="0" marL="0" rtl="0" algn="l">
              <a:spcBef>
                <a:spcPts val="1000"/>
              </a:spcBef>
              <a:spcAft>
                <a:spcPts val="0"/>
              </a:spcAft>
              <a:buNone/>
            </a:pPr>
            <a:r>
              <a:rPr lang="en-US"/>
              <a:t>But this is not the one and only compiler infrastructure (if we focus on C/C++ only):</a:t>
            </a:r>
            <a:endParaRPr/>
          </a:p>
          <a:p>
            <a:pPr indent="-342900" lvl="0" marL="457200" rtl="0" algn="l">
              <a:spcBef>
                <a:spcPts val="1000"/>
              </a:spcBef>
              <a:spcAft>
                <a:spcPts val="0"/>
              </a:spcAft>
              <a:buSzPts val="1800"/>
              <a:buChar char="•"/>
            </a:pPr>
            <a:r>
              <a:rPr lang="en-US" u="sng">
                <a:solidFill>
                  <a:schemeClr val="hlink"/>
                </a:solidFill>
                <a:hlinkClick r:id="rId3"/>
              </a:rPr>
              <a:t>https://github.com/llvm/llvm-project</a:t>
            </a:r>
            <a:endParaRPr/>
          </a:p>
          <a:p>
            <a:pPr indent="-342900" lvl="0" marL="457200" rtl="0" algn="l">
              <a:spcBef>
                <a:spcPts val="0"/>
              </a:spcBef>
              <a:spcAft>
                <a:spcPts val="0"/>
              </a:spcAft>
              <a:buSzPts val="1800"/>
              <a:buChar char="•"/>
            </a:pPr>
            <a:r>
              <a:rPr lang="en-US" u="sng">
                <a:solidFill>
                  <a:schemeClr val="hlink"/>
                </a:solidFill>
                <a:hlinkClick r:id="rId4"/>
              </a:rPr>
              <a:t>https://github.com/gcc-mirror/gcc</a:t>
            </a:r>
            <a:endParaRPr/>
          </a:p>
          <a:p>
            <a:pPr indent="0" lvl="0" marL="0" rtl="0" algn="l">
              <a:spcBef>
                <a:spcPts val="1000"/>
              </a:spcBef>
              <a:spcAft>
                <a:spcPts val="0"/>
              </a:spcAft>
              <a:buNone/>
            </a:pPr>
            <a:r>
              <a:rPr lang="en-US"/>
              <a:t>Some smaller alternatives (not ready for production):</a:t>
            </a:r>
            <a:endParaRPr/>
          </a:p>
          <a:p>
            <a:pPr indent="-342900" lvl="0" marL="457200" rtl="0" algn="l">
              <a:spcBef>
                <a:spcPts val="1000"/>
              </a:spcBef>
              <a:spcAft>
                <a:spcPts val="0"/>
              </a:spcAft>
              <a:buSzPts val="1800"/>
              <a:buChar char="•"/>
            </a:pPr>
            <a:r>
              <a:rPr lang="en-US" u="sng">
                <a:solidFill>
                  <a:schemeClr val="hlink"/>
                </a:solidFill>
                <a:hlinkClick r:id="rId5"/>
              </a:rPr>
              <a:t>https://bellard.org/tcc/</a:t>
            </a:r>
            <a:endParaRPr/>
          </a:p>
          <a:p>
            <a:pPr indent="-342900" lvl="0" marL="457200" rtl="0" algn="l">
              <a:spcBef>
                <a:spcPts val="0"/>
              </a:spcBef>
              <a:spcAft>
                <a:spcPts val="0"/>
              </a:spcAft>
              <a:buSzPts val="1800"/>
              <a:buChar char="•"/>
            </a:pPr>
            <a:r>
              <a:rPr lang="en-US" u="sng">
                <a:solidFill>
                  <a:schemeClr val="hlink"/>
                </a:solidFill>
                <a:hlinkClick r:id="rId6"/>
              </a:rPr>
              <a:t>https://github.com/dstogov/rcc</a:t>
            </a:r>
            <a:endParaRPr/>
          </a:p>
          <a:p>
            <a:pPr indent="-342900" lvl="0" marL="457200" rtl="0" algn="l">
              <a:spcBef>
                <a:spcPts val="0"/>
              </a:spcBef>
              <a:spcAft>
                <a:spcPts val="0"/>
              </a:spcAft>
              <a:buSzPts val="1800"/>
              <a:buChar char="•"/>
            </a:pPr>
            <a:r>
              <a:rPr lang="en-US" u="sng">
                <a:solidFill>
                  <a:schemeClr val="hlink"/>
                </a:solidFill>
                <a:hlinkClick r:id="rId7"/>
              </a:rPr>
              <a:t>https://github.com/rui314/chibicc</a:t>
            </a:r>
            <a:r>
              <a:rPr lang="en-US"/>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d6016f1f31_0_44"/>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Compilation types: AOT vs JIT</a:t>
            </a:r>
            <a:endParaRPr/>
          </a:p>
        </p:txBody>
      </p:sp>
      <p:sp>
        <p:nvSpPr>
          <p:cNvPr id="223" name="Google Shape;223;g3d6016f1f31_0_44"/>
          <p:cNvSpPr txBox="1"/>
          <p:nvPr>
            <p:ph idx="1" type="body"/>
          </p:nvPr>
        </p:nvSpPr>
        <p:spPr>
          <a:xfrm>
            <a:off x="251675" y="1673450"/>
            <a:ext cx="63654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A compiler translates a program from one representation to another.</a:t>
            </a:r>
            <a:endParaRPr/>
          </a:p>
          <a:p>
            <a:pPr indent="0" lvl="0" marL="0" rtl="0" algn="l">
              <a:spcBef>
                <a:spcPts val="1000"/>
              </a:spcBef>
              <a:spcAft>
                <a:spcPts val="0"/>
              </a:spcAft>
              <a:buNone/>
            </a:pPr>
            <a:r>
              <a:rPr lang="en-US"/>
              <a:t>But when the transformation happens?</a:t>
            </a:r>
            <a:endParaRPr/>
          </a:p>
          <a:p>
            <a:pPr indent="-342900" lvl="0" marL="457200" rtl="0" algn="l">
              <a:spcBef>
                <a:spcPts val="1000"/>
              </a:spcBef>
              <a:spcAft>
                <a:spcPts val="0"/>
              </a:spcAft>
              <a:buSzPts val="1800"/>
              <a:buChar char="•"/>
            </a:pPr>
            <a:r>
              <a:rPr lang="en-US"/>
              <a:t>Before execution (ahead-of-time, AOT)</a:t>
            </a:r>
            <a:endParaRPr/>
          </a:p>
          <a:p>
            <a:pPr indent="-342900" lvl="1" marL="914400" rtl="0" algn="l">
              <a:spcBef>
                <a:spcPts val="0"/>
              </a:spcBef>
              <a:spcAft>
                <a:spcPts val="0"/>
              </a:spcAft>
              <a:buSzPts val="1800"/>
              <a:buChar char="•"/>
            </a:pPr>
            <a:r>
              <a:rPr lang="en-US"/>
              <a:t>The program is compiled into machine code in advance</a:t>
            </a:r>
            <a:endParaRPr/>
          </a:p>
          <a:p>
            <a:pPr indent="-342900" lvl="0" marL="457200" rtl="0" algn="l">
              <a:spcBef>
                <a:spcPts val="0"/>
              </a:spcBef>
              <a:spcAft>
                <a:spcPts val="0"/>
              </a:spcAft>
              <a:buSzPts val="1800"/>
              <a:buChar char="•"/>
            </a:pPr>
            <a:r>
              <a:rPr lang="en-US"/>
              <a:t>During execution (just-in-time, JIT)</a:t>
            </a:r>
            <a:endParaRPr/>
          </a:p>
          <a:p>
            <a:pPr indent="-342900" lvl="1" marL="914400" rtl="0" algn="l">
              <a:spcBef>
                <a:spcPts val="0"/>
              </a:spcBef>
              <a:spcAft>
                <a:spcPts val="0"/>
              </a:spcAft>
              <a:buSzPts val="1800"/>
              <a:buChar char="•"/>
            </a:pPr>
            <a:r>
              <a:rPr lang="en-US"/>
              <a:t>The program is compiled while it is running</a:t>
            </a:r>
            <a:endParaRPr/>
          </a:p>
        </p:txBody>
      </p:sp>
      <p:pic>
        <p:nvPicPr>
          <p:cNvPr id="224" name="Google Shape;224;g3d6016f1f31_0_44"/>
          <p:cNvPicPr preferRelativeResize="0"/>
          <p:nvPr/>
        </p:nvPicPr>
        <p:blipFill>
          <a:blip r:embed="rId3">
            <a:alphaModFix/>
          </a:blip>
          <a:stretch>
            <a:fillRect/>
          </a:stretch>
        </p:blipFill>
        <p:spPr>
          <a:xfrm>
            <a:off x="6689250" y="646638"/>
            <a:ext cx="5502751" cy="5564724"/>
          </a:xfrm>
          <a:prstGeom prst="rect">
            <a:avLst/>
          </a:prstGeom>
          <a:noFill/>
          <a:ln>
            <a:noFill/>
          </a:ln>
        </p:spPr>
      </p:pic>
      <p:sp>
        <p:nvSpPr>
          <p:cNvPr id="225" name="Google Shape;225;g3d6016f1f31_0_44"/>
          <p:cNvSpPr txBox="1"/>
          <p:nvPr/>
        </p:nvSpPr>
        <p:spPr>
          <a:xfrm>
            <a:off x="6103000" y="6248450"/>
            <a:ext cx="61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https://flerka.github.io/personal-blog/2022-06-21-ahead-of-time-compilation/</a:t>
            </a:r>
            <a:r>
              <a:rPr lang="en-US"/>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d6016f1f31_0_56"/>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AOT (ahead-of-time) compilation</a:t>
            </a:r>
            <a:endParaRPr/>
          </a:p>
        </p:txBody>
      </p:sp>
      <p:sp>
        <p:nvSpPr>
          <p:cNvPr id="232" name="Google Shape;232;g3d6016f1f31_0_56"/>
          <p:cNvSpPr txBox="1"/>
          <p:nvPr>
            <p:ph idx="1" type="body"/>
          </p:nvPr>
        </p:nvSpPr>
        <p:spPr>
          <a:xfrm>
            <a:off x="571374" y="1673450"/>
            <a:ext cx="82686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Idea: compile the program before it is executed</a:t>
            </a:r>
            <a:endParaRPr/>
          </a:p>
          <a:p>
            <a:pPr indent="0" lvl="0" marL="0" rtl="0" algn="l">
              <a:spcBef>
                <a:spcPts val="1000"/>
              </a:spcBef>
              <a:spcAft>
                <a:spcPts val="0"/>
              </a:spcAft>
              <a:buNone/>
            </a:pPr>
            <a:r>
              <a:rPr lang="en-US"/>
              <a:t>Examples: statically compiled native </a:t>
            </a:r>
            <a:r>
              <a:rPr lang="en-US"/>
              <a:t>languages</a:t>
            </a:r>
            <a:r>
              <a:rPr lang="en-US"/>
              <a:t> (C/C++, Rust, Go, …)</a:t>
            </a:r>
            <a:endParaRPr/>
          </a:p>
        </p:txBody>
      </p:sp>
      <p:pic>
        <p:nvPicPr>
          <p:cNvPr id="233" name="Google Shape;233;g3d6016f1f31_0_56"/>
          <p:cNvPicPr preferRelativeResize="0"/>
          <p:nvPr/>
        </p:nvPicPr>
        <p:blipFill rotWithShape="1">
          <a:blip r:embed="rId3">
            <a:alphaModFix/>
          </a:blip>
          <a:srcRect b="0" l="39084" r="0" t="0"/>
          <a:stretch/>
        </p:blipFill>
        <p:spPr>
          <a:xfrm>
            <a:off x="8839900" y="646650"/>
            <a:ext cx="3352101" cy="5564700"/>
          </a:xfrm>
          <a:prstGeom prst="rect">
            <a:avLst/>
          </a:prstGeom>
          <a:noFill/>
          <a:ln>
            <a:noFill/>
          </a:ln>
        </p:spPr>
      </p:pic>
      <p:sp>
        <p:nvSpPr>
          <p:cNvPr id="234" name="Google Shape;234;g3d6016f1f31_0_56"/>
          <p:cNvSpPr txBox="1"/>
          <p:nvPr/>
        </p:nvSpPr>
        <p:spPr>
          <a:xfrm>
            <a:off x="671125" y="3145875"/>
            <a:ext cx="3764400" cy="2678100"/>
          </a:xfrm>
          <a:prstGeom prst="rect">
            <a:avLst/>
          </a:prstGeom>
          <a:noFill/>
          <a:ln>
            <a:noFill/>
          </a:ln>
        </p:spPr>
        <p:txBody>
          <a:bodyPr anchorCtr="0" anchor="t" bIns="91425" lIns="91425" spcFirstLastPara="1" rIns="91425" wrap="square" tIns="91425">
            <a:spAutoFit/>
          </a:bodyPr>
          <a:lstStyle/>
          <a:p>
            <a:pPr indent="-342900" lvl="0" marL="457200" rtl="0" algn="l">
              <a:lnSpc>
                <a:spcPct val="100000"/>
              </a:lnSpc>
              <a:spcBef>
                <a:spcPts val="12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Fast startup: code is already compiled</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Easier deployment as a native binary</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Predictable performance</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Many optimizations can be done before execution</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No compiler has to run during program execution</a:t>
            </a:r>
            <a:endParaRPr sz="1800">
              <a:solidFill>
                <a:schemeClr val="dk1"/>
              </a:solidFill>
              <a:latin typeface="Calibri"/>
              <a:ea typeface="Calibri"/>
              <a:cs typeface="Calibri"/>
              <a:sym typeface="Calibri"/>
            </a:endParaRPr>
          </a:p>
        </p:txBody>
      </p:sp>
      <p:sp>
        <p:nvSpPr>
          <p:cNvPr id="235" name="Google Shape;235;g3d6016f1f31_0_56"/>
          <p:cNvSpPr txBox="1"/>
          <p:nvPr/>
        </p:nvSpPr>
        <p:spPr>
          <a:xfrm>
            <a:off x="4435525" y="3145875"/>
            <a:ext cx="3764400" cy="1847100"/>
          </a:xfrm>
          <a:prstGeom prst="rect">
            <a:avLst/>
          </a:prstGeom>
          <a:noFill/>
          <a:ln>
            <a:noFill/>
          </a:ln>
        </p:spPr>
        <p:txBody>
          <a:bodyPr anchorCtr="0" anchor="t" bIns="91425" lIns="91425" spcFirstLastPara="1" rIns="91425" wrap="square" tIns="91425">
            <a:spAutoFit/>
          </a:bodyPr>
          <a:lstStyle/>
          <a:p>
            <a:pPr indent="-342900" lvl="0" marL="457200" rtl="0" algn="l">
              <a:lnSpc>
                <a:spcPct val="100000"/>
              </a:lnSpc>
              <a:spcBef>
                <a:spcPts val="12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Less information about actual runtime behavior</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Binary is usually platform-specific</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Harder to optimize for real input data and real execution paths</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Compilation may take a long time</a:t>
            </a:r>
            <a:endParaRPr sz="1800">
              <a:solidFill>
                <a:schemeClr val="dk1"/>
              </a:solidFill>
              <a:latin typeface="Calibri"/>
              <a:ea typeface="Calibri"/>
              <a:cs typeface="Calibri"/>
              <a:sym typeface="Calibri"/>
            </a:endParaRPr>
          </a:p>
        </p:txBody>
      </p:sp>
      <p:sp>
        <p:nvSpPr>
          <p:cNvPr id="236" name="Google Shape;236;g3d6016f1f31_0_56"/>
          <p:cNvSpPr txBox="1"/>
          <p:nvPr/>
        </p:nvSpPr>
        <p:spPr>
          <a:xfrm>
            <a:off x="5337363" y="5141000"/>
            <a:ext cx="2600700" cy="1559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US" sz="1800">
                <a:solidFill>
                  <a:schemeClr val="dk1"/>
                </a:solidFill>
                <a:latin typeface="Calibri"/>
                <a:ea typeface="Calibri"/>
                <a:cs typeface="Calibri"/>
                <a:sym typeface="Calibri"/>
              </a:rPr>
              <a:t>Typical use cases:</a:t>
            </a:r>
            <a:endParaRPr sz="1800">
              <a:solidFill>
                <a:schemeClr val="dk1"/>
              </a:solidFill>
              <a:latin typeface="Calibri"/>
              <a:ea typeface="Calibri"/>
              <a:cs typeface="Calibri"/>
              <a:sym typeface="Calibri"/>
            </a:endParaRPr>
          </a:p>
          <a:p>
            <a:pPr indent="-342900" lvl="0" marL="457200" rtl="0" algn="l">
              <a:lnSpc>
                <a:spcPct val="90000"/>
              </a:lnSpc>
              <a:spcBef>
                <a:spcPts val="1000"/>
              </a:spcBef>
              <a:spcAft>
                <a:spcPts val="0"/>
              </a:spcAft>
              <a:buClr>
                <a:schemeClr val="dk1"/>
              </a:buClr>
              <a:buSzPts val="1800"/>
              <a:buChar char="•"/>
            </a:pPr>
            <a:r>
              <a:rPr lang="en-US" sz="1800">
                <a:solidFill>
                  <a:schemeClr val="dk1"/>
                </a:solidFill>
                <a:latin typeface="Calibri"/>
                <a:ea typeface="Calibri"/>
                <a:cs typeface="Calibri"/>
                <a:sym typeface="Calibri"/>
              </a:rPr>
              <a:t>Operating systems</a:t>
            </a:r>
            <a:endParaRPr sz="1800">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Embedded systems</a:t>
            </a:r>
            <a:endParaRPr sz="1800">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Performance-critical native applications</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d6016f1f31_0_50"/>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JIT</a:t>
            </a:r>
            <a:r>
              <a:rPr lang="en-US"/>
              <a:t> (just-in-time) compilation</a:t>
            </a:r>
            <a:endParaRPr/>
          </a:p>
        </p:txBody>
      </p:sp>
      <p:sp>
        <p:nvSpPr>
          <p:cNvPr id="243" name="Google Shape;243;g3d6016f1f31_0_50"/>
          <p:cNvSpPr txBox="1"/>
          <p:nvPr>
            <p:ph idx="1" type="body"/>
          </p:nvPr>
        </p:nvSpPr>
        <p:spPr>
          <a:xfrm>
            <a:off x="571374" y="1673450"/>
            <a:ext cx="9201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a:t>Idea: compile code while the program is running</a:t>
            </a:r>
            <a:endParaRPr/>
          </a:p>
          <a:p>
            <a:pPr indent="0" lvl="0" marL="0" rtl="0" algn="l">
              <a:spcBef>
                <a:spcPts val="1000"/>
              </a:spcBef>
              <a:spcAft>
                <a:spcPts val="0"/>
              </a:spcAft>
              <a:buNone/>
            </a:pPr>
            <a:r>
              <a:rPr lang="en-US"/>
              <a:t>Examples: dynamically compiled languages and their runtimes (Java JVM, .NET CLR, JavaScript engines such as V8, PyPy)</a:t>
            </a:r>
            <a:endParaRPr/>
          </a:p>
          <a:p>
            <a:pPr indent="0" lvl="0" marL="0" rtl="0" algn="l">
              <a:spcBef>
                <a:spcPts val="1000"/>
              </a:spcBef>
              <a:spcAft>
                <a:spcPts val="0"/>
              </a:spcAft>
              <a:buNone/>
            </a:pPr>
            <a:r>
              <a:t/>
            </a:r>
            <a:endParaRPr/>
          </a:p>
        </p:txBody>
      </p:sp>
      <p:pic>
        <p:nvPicPr>
          <p:cNvPr id="244" name="Google Shape;244;g3d6016f1f31_0_50"/>
          <p:cNvPicPr preferRelativeResize="0"/>
          <p:nvPr/>
        </p:nvPicPr>
        <p:blipFill rotWithShape="1">
          <a:blip r:embed="rId3">
            <a:alphaModFix/>
          </a:blip>
          <a:srcRect b="0" l="0" r="60155" t="0"/>
          <a:stretch/>
        </p:blipFill>
        <p:spPr>
          <a:xfrm>
            <a:off x="9898050" y="646650"/>
            <a:ext cx="2192600" cy="5564700"/>
          </a:xfrm>
          <a:prstGeom prst="rect">
            <a:avLst/>
          </a:prstGeom>
          <a:noFill/>
          <a:ln>
            <a:noFill/>
          </a:ln>
        </p:spPr>
      </p:pic>
      <p:sp>
        <p:nvSpPr>
          <p:cNvPr id="245" name="Google Shape;245;g3d6016f1f31_0_50"/>
          <p:cNvSpPr txBox="1"/>
          <p:nvPr/>
        </p:nvSpPr>
        <p:spPr>
          <a:xfrm>
            <a:off x="8850400" y="5099050"/>
            <a:ext cx="2600700" cy="1559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Clr>
                <a:schemeClr val="dk1"/>
              </a:buClr>
              <a:buSzPts val="1100"/>
              <a:buFont typeface="Arial"/>
              <a:buNone/>
            </a:pPr>
            <a:r>
              <a:rPr lang="en-US" sz="1800">
                <a:solidFill>
                  <a:schemeClr val="dk1"/>
                </a:solidFill>
                <a:latin typeface="Calibri"/>
                <a:ea typeface="Calibri"/>
                <a:cs typeface="Calibri"/>
                <a:sym typeface="Calibri"/>
              </a:rPr>
              <a:t>Typical use cases:</a:t>
            </a:r>
            <a:endParaRPr sz="1800">
              <a:solidFill>
                <a:schemeClr val="dk1"/>
              </a:solidFill>
              <a:latin typeface="Calibri"/>
              <a:ea typeface="Calibri"/>
              <a:cs typeface="Calibri"/>
              <a:sym typeface="Calibri"/>
            </a:endParaRPr>
          </a:p>
          <a:p>
            <a:pPr indent="-342900" lvl="0" marL="457200" rtl="0" algn="l">
              <a:lnSpc>
                <a:spcPct val="90000"/>
              </a:lnSpc>
              <a:spcBef>
                <a:spcPts val="1000"/>
              </a:spcBef>
              <a:spcAft>
                <a:spcPts val="0"/>
              </a:spcAft>
              <a:buClr>
                <a:schemeClr val="dk1"/>
              </a:buClr>
              <a:buSzPts val="1800"/>
              <a:buChar char="•"/>
            </a:pPr>
            <a:r>
              <a:rPr lang="en-US" sz="1800">
                <a:solidFill>
                  <a:schemeClr val="dk1"/>
                </a:solidFill>
                <a:latin typeface="Calibri"/>
                <a:ea typeface="Calibri"/>
                <a:cs typeface="Calibri"/>
                <a:sym typeface="Calibri"/>
              </a:rPr>
              <a:t>Web browsers</a:t>
            </a:r>
            <a:endParaRPr sz="1800">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Virtual machines</a:t>
            </a:r>
            <a:endParaRPr sz="1800">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Managed languages</a:t>
            </a:r>
            <a:endParaRPr sz="1800">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Dynamic languages</a:t>
            </a:r>
            <a:endParaRPr sz="1800">
              <a:solidFill>
                <a:schemeClr val="dk1"/>
              </a:solidFill>
              <a:latin typeface="Calibri"/>
              <a:ea typeface="Calibri"/>
              <a:cs typeface="Calibri"/>
              <a:sym typeface="Calibri"/>
            </a:endParaRPr>
          </a:p>
        </p:txBody>
      </p:sp>
      <p:sp>
        <p:nvSpPr>
          <p:cNvPr id="246" name="Google Shape;246;g3d6016f1f31_0_50"/>
          <p:cNvSpPr txBox="1"/>
          <p:nvPr/>
        </p:nvSpPr>
        <p:spPr>
          <a:xfrm>
            <a:off x="671125" y="3145875"/>
            <a:ext cx="3764400" cy="2678100"/>
          </a:xfrm>
          <a:prstGeom prst="rect">
            <a:avLst/>
          </a:prstGeom>
          <a:noFill/>
          <a:ln>
            <a:noFill/>
          </a:ln>
        </p:spPr>
        <p:txBody>
          <a:bodyPr anchorCtr="0" anchor="t" bIns="91425" lIns="91425" spcFirstLastPara="1" rIns="91425" wrap="square" tIns="91425">
            <a:spAutoFit/>
          </a:bodyPr>
          <a:lstStyle/>
          <a:p>
            <a:pPr indent="-342900" lvl="0" marL="457200" rtl="0" algn="l">
              <a:lnSpc>
                <a:spcPct val="100000"/>
              </a:lnSpc>
              <a:spcBef>
                <a:spcPts val="12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Can use runtime information for optimization</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Can optimize hot paths: the parts of code executed most often</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Can specialize code for actual types, values, CPU features, and branches</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Portable bytecode can run on many platforms</a:t>
            </a:r>
            <a:endParaRPr sz="1800">
              <a:solidFill>
                <a:schemeClr val="dk1"/>
              </a:solidFill>
              <a:latin typeface="Calibri"/>
              <a:ea typeface="Calibri"/>
              <a:cs typeface="Calibri"/>
              <a:sym typeface="Calibri"/>
            </a:endParaRPr>
          </a:p>
        </p:txBody>
      </p:sp>
      <p:sp>
        <p:nvSpPr>
          <p:cNvPr id="247" name="Google Shape;247;g3d6016f1f31_0_50"/>
          <p:cNvSpPr txBox="1"/>
          <p:nvPr/>
        </p:nvSpPr>
        <p:spPr>
          <a:xfrm>
            <a:off x="4435525" y="3145875"/>
            <a:ext cx="3764400" cy="2955300"/>
          </a:xfrm>
          <a:prstGeom prst="rect">
            <a:avLst/>
          </a:prstGeom>
          <a:noFill/>
          <a:ln>
            <a:noFill/>
          </a:ln>
        </p:spPr>
        <p:txBody>
          <a:bodyPr anchorCtr="0" anchor="t" bIns="91425" lIns="91425" spcFirstLastPara="1" rIns="91425" wrap="square" tIns="91425">
            <a:spAutoFit/>
          </a:bodyPr>
          <a:lstStyle/>
          <a:p>
            <a:pPr indent="-342900" lvl="0" marL="457200" rtl="0" algn="l">
              <a:lnSpc>
                <a:spcPct val="100000"/>
              </a:lnSpc>
              <a:spcBef>
                <a:spcPts val="12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Slower startup due to interpretation and compilation overhead</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More complex runtime system</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Uses extra memory for profiling data and generated machine code</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Performance can change during execution due to recompilation and lack of optimizations</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d9cf9aaceb_0_9"/>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AOT vs JIT</a:t>
            </a:r>
            <a:endParaRPr/>
          </a:p>
        </p:txBody>
      </p:sp>
      <p:graphicFrame>
        <p:nvGraphicFramePr>
          <p:cNvPr id="254" name="Google Shape;254;g3d9cf9aaceb_0_9"/>
          <p:cNvGraphicFramePr/>
          <p:nvPr/>
        </p:nvGraphicFramePr>
        <p:xfrm>
          <a:off x="383075" y="1787300"/>
          <a:ext cx="3000000" cy="3000000"/>
        </p:xfrm>
        <a:graphic>
          <a:graphicData uri="http://schemas.openxmlformats.org/drawingml/2006/table">
            <a:tbl>
              <a:tblPr>
                <a:noFill/>
                <a:tableStyleId>{F37E74EF-2DB9-491B-91C1-2BAEF5A48227}</a:tableStyleId>
              </a:tblPr>
              <a:tblGrid>
                <a:gridCol w="3874875"/>
                <a:gridCol w="3704550"/>
                <a:gridCol w="3938750"/>
              </a:tblGrid>
              <a:tr h="38125">
                <a:tc>
                  <a:txBody>
                    <a:bodyPr/>
                    <a:lstStyle/>
                    <a:p>
                      <a:pPr indent="0" lvl="0" marL="0" rtl="0" algn="ctr">
                        <a:lnSpc>
                          <a:spcPct val="100000"/>
                        </a:lnSpc>
                        <a:spcBef>
                          <a:spcPts val="0"/>
                        </a:spcBef>
                        <a:spcAft>
                          <a:spcPts val="0"/>
                        </a:spcAft>
                        <a:buNone/>
                      </a:pPr>
                      <a:r>
                        <a:rPr b="1" lang="en-US" sz="1800"/>
                        <a:t>Feature</a:t>
                      </a:r>
                      <a:endParaRPr b="1" sz="1800"/>
                    </a:p>
                  </a:txBody>
                  <a:tcPr marT="91425" marB="91425" marR="91425" marL="91425"/>
                </a:tc>
                <a:tc>
                  <a:txBody>
                    <a:bodyPr/>
                    <a:lstStyle/>
                    <a:p>
                      <a:pPr indent="0" lvl="0" marL="0" rtl="0" algn="ctr">
                        <a:lnSpc>
                          <a:spcPct val="100000"/>
                        </a:lnSpc>
                        <a:spcBef>
                          <a:spcPts val="0"/>
                        </a:spcBef>
                        <a:spcAft>
                          <a:spcPts val="0"/>
                        </a:spcAft>
                        <a:buNone/>
                      </a:pPr>
                      <a:r>
                        <a:rPr b="1" lang="en-US" sz="1800"/>
                        <a:t>AOT</a:t>
                      </a:r>
                      <a:endParaRPr b="1" sz="1800"/>
                    </a:p>
                  </a:txBody>
                  <a:tcPr marT="91425" marB="91425" marR="91425" marL="91425"/>
                </a:tc>
                <a:tc>
                  <a:txBody>
                    <a:bodyPr/>
                    <a:lstStyle/>
                    <a:p>
                      <a:pPr indent="0" lvl="0" marL="0" rtl="0" algn="ctr">
                        <a:lnSpc>
                          <a:spcPct val="100000"/>
                        </a:lnSpc>
                        <a:spcBef>
                          <a:spcPts val="0"/>
                        </a:spcBef>
                        <a:spcAft>
                          <a:spcPts val="0"/>
                        </a:spcAft>
                        <a:buNone/>
                      </a:pPr>
                      <a:r>
                        <a:rPr b="1" lang="en-US" sz="1800"/>
                        <a:t>JIT</a:t>
                      </a:r>
                      <a:endParaRPr b="1" sz="1800"/>
                    </a:p>
                  </a:txBody>
                  <a:tcPr marT="91425" marB="91425" marR="91425" marL="91425"/>
                </a:tc>
              </a:tr>
              <a:tr h="40325">
                <a:tc>
                  <a:txBody>
                    <a:bodyPr/>
                    <a:lstStyle/>
                    <a:p>
                      <a:pPr indent="0" lvl="0" marL="0" rtl="0" algn="ctr">
                        <a:lnSpc>
                          <a:spcPct val="100000"/>
                        </a:lnSpc>
                        <a:spcBef>
                          <a:spcPts val="0"/>
                        </a:spcBef>
                        <a:spcAft>
                          <a:spcPts val="0"/>
                        </a:spcAft>
                        <a:buNone/>
                      </a:pPr>
                      <a:r>
                        <a:rPr lang="en-US" sz="1800"/>
                        <a:t>Compilation time</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t>Before execution</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t>During execution</a:t>
                      </a:r>
                      <a:endParaRPr sz="1800"/>
                    </a:p>
                  </a:txBody>
                  <a:tcPr marT="91425" marB="91425" marR="91425" marL="91425"/>
                </a:tc>
              </a:tr>
              <a:tr h="40325">
                <a:tc>
                  <a:txBody>
                    <a:bodyPr/>
                    <a:lstStyle/>
                    <a:p>
                      <a:pPr indent="0" lvl="0" marL="0" rtl="0" algn="ctr">
                        <a:lnSpc>
                          <a:spcPct val="100000"/>
                        </a:lnSpc>
                        <a:spcBef>
                          <a:spcPts val="0"/>
                        </a:spcBef>
                        <a:spcAft>
                          <a:spcPts val="0"/>
                        </a:spcAft>
                        <a:buNone/>
                      </a:pPr>
                      <a:r>
                        <a:rPr lang="en-US" sz="1800"/>
                        <a:t>Startup time</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Usually faster</a:t>
                      </a:r>
                      <a:endParaRPr sz="1800">
                        <a:solidFill>
                          <a:srgbClr val="6AA84F"/>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Usually slower</a:t>
                      </a:r>
                      <a:endParaRPr sz="1800">
                        <a:solidFill>
                          <a:srgbClr val="CC0000"/>
                        </a:solidFill>
                      </a:endParaRPr>
                    </a:p>
                  </a:txBody>
                  <a:tcPr marT="91425" marB="91425" marR="91425" marL="91425"/>
                </a:tc>
              </a:tr>
              <a:tr h="40325">
                <a:tc>
                  <a:txBody>
                    <a:bodyPr/>
                    <a:lstStyle/>
                    <a:p>
                      <a:pPr indent="0" lvl="0" marL="0" rtl="0" algn="ctr">
                        <a:lnSpc>
                          <a:spcPct val="100000"/>
                        </a:lnSpc>
                        <a:spcBef>
                          <a:spcPts val="0"/>
                        </a:spcBef>
                        <a:spcAft>
                          <a:spcPts val="0"/>
                        </a:spcAft>
                        <a:buNone/>
                      </a:pPr>
                      <a:r>
                        <a:rPr lang="en-US" sz="1800"/>
                        <a:t>Runtime optimization</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Limited</a:t>
                      </a:r>
                      <a:endParaRPr sz="1800">
                        <a:solidFill>
                          <a:srgbClr val="CC0000"/>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Strong</a:t>
                      </a:r>
                      <a:endParaRPr sz="1800">
                        <a:solidFill>
                          <a:srgbClr val="6AA84F"/>
                        </a:solidFill>
                      </a:endParaRPr>
                    </a:p>
                  </a:txBody>
                  <a:tcPr marT="91425" marB="91425" marR="91425" marL="91425"/>
                </a:tc>
              </a:tr>
              <a:tr h="40325">
                <a:tc>
                  <a:txBody>
                    <a:bodyPr/>
                    <a:lstStyle/>
                    <a:p>
                      <a:pPr indent="0" lvl="0" marL="0" rtl="0" algn="ctr">
                        <a:lnSpc>
                          <a:spcPct val="100000"/>
                        </a:lnSpc>
                        <a:spcBef>
                          <a:spcPts val="0"/>
                        </a:spcBef>
                        <a:spcAft>
                          <a:spcPts val="0"/>
                        </a:spcAft>
                        <a:buNone/>
                      </a:pPr>
                      <a:r>
                        <a:rPr lang="en-US" sz="1800"/>
                        <a:t>Runtime profiling</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Usually unavailable</a:t>
                      </a:r>
                      <a:endParaRPr sz="1800">
                        <a:solidFill>
                          <a:srgbClr val="CC0000"/>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Available</a:t>
                      </a:r>
                      <a:endParaRPr sz="1800">
                        <a:solidFill>
                          <a:srgbClr val="6AA84F"/>
                        </a:solidFill>
                      </a:endParaRPr>
                    </a:p>
                  </a:txBody>
                  <a:tcPr marT="91425" marB="91425" marR="91425" marL="91425"/>
                </a:tc>
              </a:tr>
              <a:tr h="40325">
                <a:tc>
                  <a:txBody>
                    <a:bodyPr/>
                    <a:lstStyle/>
                    <a:p>
                      <a:pPr indent="0" lvl="0" marL="0" rtl="0" algn="ctr">
                        <a:lnSpc>
                          <a:spcPct val="100000"/>
                        </a:lnSpc>
                        <a:spcBef>
                          <a:spcPts val="0"/>
                        </a:spcBef>
                        <a:spcAft>
                          <a:spcPts val="0"/>
                        </a:spcAft>
                        <a:buNone/>
                      </a:pPr>
                      <a:r>
                        <a:rPr lang="en-US" sz="1800"/>
                        <a:t>Portability</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Binary is platform-specific</a:t>
                      </a:r>
                      <a:endParaRPr sz="1800">
                        <a:solidFill>
                          <a:srgbClr val="CC0000"/>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Bytecode/IR can be portable</a:t>
                      </a:r>
                      <a:endParaRPr sz="1800">
                        <a:solidFill>
                          <a:srgbClr val="6AA84F"/>
                        </a:solidFill>
                      </a:endParaRPr>
                    </a:p>
                  </a:txBody>
                  <a:tcPr marT="91425" marB="91425" marR="91425" marL="91425"/>
                </a:tc>
              </a:tr>
              <a:tr h="40325">
                <a:tc>
                  <a:txBody>
                    <a:bodyPr/>
                    <a:lstStyle/>
                    <a:p>
                      <a:pPr indent="0" lvl="0" marL="0" rtl="0" algn="ctr">
                        <a:lnSpc>
                          <a:spcPct val="100000"/>
                        </a:lnSpc>
                        <a:spcBef>
                          <a:spcPts val="0"/>
                        </a:spcBef>
                        <a:spcAft>
                          <a:spcPts val="0"/>
                        </a:spcAft>
                        <a:buNone/>
                      </a:pPr>
                      <a:r>
                        <a:rPr lang="en-US" sz="1800"/>
                        <a:t>Runtime system complexity</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Lower</a:t>
                      </a:r>
                      <a:endParaRPr sz="1800">
                        <a:solidFill>
                          <a:srgbClr val="CC0000"/>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Higher</a:t>
                      </a:r>
                      <a:endParaRPr sz="1800">
                        <a:solidFill>
                          <a:srgbClr val="6AA84F"/>
                        </a:solidFill>
                      </a:endParaRPr>
                    </a:p>
                  </a:txBody>
                  <a:tcPr marT="91425" marB="91425" marR="91425" marL="91425"/>
                </a:tc>
              </a:tr>
              <a:tr h="40325">
                <a:tc>
                  <a:txBody>
                    <a:bodyPr/>
                    <a:lstStyle/>
                    <a:p>
                      <a:pPr indent="0" lvl="0" marL="0" rtl="0" algn="ctr">
                        <a:lnSpc>
                          <a:spcPct val="100000"/>
                        </a:lnSpc>
                        <a:spcBef>
                          <a:spcPts val="0"/>
                        </a:spcBef>
                        <a:spcAft>
                          <a:spcPts val="0"/>
                        </a:spcAft>
                        <a:buNone/>
                      </a:pPr>
                      <a:r>
                        <a:rPr lang="en-US" sz="1800"/>
                        <a:t>Peak performance</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High</a:t>
                      </a:r>
                      <a:endParaRPr sz="1800">
                        <a:solidFill>
                          <a:srgbClr val="6AA84F"/>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Can be very high</a:t>
                      </a:r>
                      <a:endParaRPr sz="1800">
                        <a:solidFill>
                          <a:srgbClr val="CC0000"/>
                        </a:solidFill>
                      </a:endParaRPr>
                    </a:p>
                  </a:txBody>
                  <a:tcPr marT="91425" marB="91425" marR="91425" marL="91425"/>
                </a:tc>
              </a:tr>
              <a:tr h="40325">
                <a:tc>
                  <a:txBody>
                    <a:bodyPr/>
                    <a:lstStyle/>
                    <a:p>
                      <a:pPr indent="0" lvl="0" marL="0" rtl="0" algn="ctr">
                        <a:lnSpc>
                          <a:spcPct val="100000"/>
                        </a:lnSpc>
                        <a:spcBef>
                          <a:spcPts val="0"/>
                        </a:spcBef>
                        <a:spcAft>
                          <a:spcPts val="0"/>
                        </a:spcAft>
                        <a:buNone/>
                      </a:pPr>
                      <a:r>
                        <a:rPr lang="en-US" sz="1800"/>
                        <a:t>Memory overhead</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Lower</a:t>
                      </a:r>
                      <a:endParaRPr sz="1800">
                        <a:solidFill>
                          <a:srgbClr val="6AA84F"/>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Higher</a:t>
                      </a:r>
                      <a:endParaRPr sz="1800">
                        <a:solidFill>
                          <a:srgbClr val="CC0000"/>
                        </a:solidFill>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d6016f1f31_0_6"/>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Integrating compilers to the workflow</a:t>
            </a:r>
            <a:endParaRPr/>
          </a:p>
        </p:txBody>
      </p:sp>
      <p:sp>
        <p:nvSpPr>
          <p:cNvPr id="261" name="Google Shape;261;g3d6016f1f31_0_6"/>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Programming language implementations</a:t>
            </a:r>
            <a:endParaRPr/>
          </a:p>
          <a:p>
            <a:pPr indent="-342900" lvl="1" marL="914400" rtl="0" algn="l">
              <a:spcBef>
                <a:spcPts val="0"/>
              </a:spcBef>
              <a:spcAft>
                <a:spcPts val="0"/>
              </a:spcAft>
              <a:buSzPts val="1800"/>
              <a:buChar char="•"/>
            </a:pPr>
            <a:r>
              <a:rPr lang="en-US"/>
              <a:t>Apart from C/C++/Fortran: Rust, Swift, Julia, Haskell and many-many others</a:t>
            </a:r>
            <a:endParaRPr/>
          </a:p>
          <a:p>
            <a:pPr indent="-342900" lvl="0" marL="457200" rtl="0" algn="l">
              <a:spcBef>
                <a:spcPts val="0"/>
              </a:spcBef>
              <a:spcAft>
                <a:spcPts val="0"/>
              </a:spcAft>
              <a:buSzPts val="1800"/>
              <a:buChar char="•"/>
            </a:pPr>
            <a:r>
              <a:rPr lang="en-US"/>
              <a:t>Machine learning frameworks</a:t>
            </a:r>
            <a:endParaRPr/>
          </a:p>
          <a:p>
            <a:pPr indent="-342900" lvl="1" marL="914400" rtl="0" algn="l">
              <a:spcBef>
                <a:spcPts val="0"/>
              </a:spcBef>
              <a:spcAft>
                <a:spcPts val="0"/>
              </a:spcAft>
              <a:buSzPts val="1800"/>
              <a:buChar char="•"/>
            </a:pPr>
            <a:r>
              <a:rPr lang="en-US"/>
              <a:t>TensorFlow, PyTorch, OpenXLA</a:t>
            </a:r>
            <a:endParaRPr/>
          </a:p>
          <a:p>
            <a:pPr indent="-342900" lvl="0" marL="457200" rtl="0" algn="l">
              <a:spcBef>
                <a:spcPts val="0"/>
              </a:spcBef>
              <a:spcAft>
                <a:spcPts val="0"/>
              </a:spcAft>
              <a:buSzPts val="1800"/>
              <a:buChar char="•"/>
            </a:pPr>
            <a:r>
              <a:rPr lang="en-US"/>
              <a:t>GPU and accelerator software</a:t>
            </a:r>
            <a:endParaRPr/>
          </a:p>
          <a:p>
            <a:pPr indent="-342900" lvl="1" marL="914400" rtl="0" algn="l">
              <a:spcBef>
                <a:spcPts val="0"/>
              </a:spcBef>
              <a:spcAft>
                <a:spcPts val="0"/>
              </a:spcAft>
              <a:buSzPts val="1800"/>
              <a:buChar char="•"/>
            </a:pPr>
            <a:r>
              <a:rPr lang="en-US"/>
              <a:t>CUDA, ROCm, SYCL</a:t>
            </a:r>
            <a:endParaRPr/>
          </a:p>
          <a:p>
            <a:pPr indent="-342900" lvl="0" marL="457200" rtl="0" algn="l">
              <a:spcBef>
                <a:spcPts val="0"/>
              </a:spcBef>
              <a:spcAft>
                <a:spcPts val="0"/>
              </a:spcAft>
              <a:buSzPts val="1800"/>
              <a:buChar char="•"/>
            </a:pPr>
            <a:r>
              <a:rPr lang="en-US"/>
              <a:t>Databases and query engines</a:t>
            </a:r>
            <a:endParaRPr/>
          </a:p>
          <a:p>
            <a:pPr indent="-342900" lvl="1" marL="914400" rtl="0" algn="l">
              <a:spcBef>
                <a:spcPts val="0"/>
              </a:spcBef>
              <a:spcAft>
                <a:spcPts val="0"/>
              </a:spcAft>
              <a:buSzPts val="1800"/>
              <a:buChar char="•"/>
            </a:pPr>
            <a:r>
              <a:rPr lang="en-US"/>
              <a:t>JIT query compilation in PostgreSQL</a:t>
            </a:r>
            <a:endParaRPr/>
          </a:p>
          <a:p>
            <a:pPr indent="-342900" lvl="0" marL="457200" rtl="0" algn="l">
              <a:spcBef>
                <a:spcPts val="0"/>
              </a:spcBef>
              <a:spcAft>
                <a:spcPts val="0"/>
              </a:spcAft>
              <a:buSzPts val="1800"/>
              <a:buChar char="•"/>
            </a:pPr>
            <a:r>
              <a:rPr lang="en-US"/>
              <a:t>Game engines and shader tools</a:t>
            </a:r>
            <a:endParaRPr/>
          </a:p>
          <a:p>
            <a:pPr indent="-342900" lvl="1" marL="914400" rtl="0" algn="l">
              <a:spcBef>
                <a:spcPts val="0"/>
              </a:spcBef>
              <a:spcAft>
                <a:spcPts val="0"/>
              </a:spcAft>
              <a:buSzPts val="1800"/>
              <a:buChar char="•"/>
            </a:pPr>
            <a:r>
              <a:rPr lang="en-US"/>
              <a:t>shader compilation in Unreal Engine, Unity 3D</a:t>
            </a:r>
            <a:endParaRPr/>
          </a:p>
          <a:p>
            <a:pPr indent="-342900" lvl="0" marL="457200" rtl="0" algn="l">
              <a:spcBef>
                <a:spcPts val="0"/>
              </a:spcBef>
              <a:spcAft>
                <a:spcPts val="0"/>
              </a:spcAft>
              <a:buSzPts val="1800"/>
              <a:buChar char="•"/>
            </a:pPr>
            <a:r>
              <a:rPr lang="en-US"/>
              <a:t>Static analysis and developer tools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dc35a4ca61_0_2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Compiler infrastructure inside products</a:t>
            </a:r>
            <a:endParaRPr/>
          </a:p>
        </p:txBody>
      </p:sp>
      <p:sp>
        <p:nvSpPr>
          <p:cNvPr id="268" name="Google Shape;268;g3dc35a4ca61_0_21"/>
          <p:cNvSpPr txBox="1"/>
          <p:nvPr>
            <p:ph idx="1" type="body"/>
          </p:nvPr>
        </p:nvSpPr>
        <p:spPr>
          <a:xfrm>
            <a:off x="571375" y="1673450"/>
            <a:ext cx="11010900" cy="27327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Frontend reuse:</a:t>
            </a:r>
            <a:endParaRPr/>
          </a:p>
          <a:p>
            <a:pPr indent="-342900" lvl="1" marL="914400" rtl="0" algn="l">
              <a:spcBef>
                <a:spcPts val="0"/>
              </a:spcBef>
              <a:spcAft>
                <a:spcPts val="0"/>
              </a:spcAft>
              <a:buSzPts val="1800"/>
              <a:buChar char="•"/>
            </a:pPr>
            <a:r>
              <a:rPr lang="en-US"/>
              <a:t>IDEs, linters, static analyzers, refactoring tools</a:t>
            </a:r>
            <a:endParaRPr/>
          </a:p>
          <a:p>
            <a:pPr indent="-342900" lvl="0" marL="457200" rtl="0" algn="l">
              <a:spcBef>
                <a:spcPts val="0"/>
              </a:spcBef>
              <a:spcAft>
                <a:spcPts val="0"/>
              </a:spcAft>
              <a:buSzPts val="1800"/>
              <a:buChar char="•"/>
            </a:pPr>
            <a:r>
              <a:rPr lang="en-US"/>
              <a:t>Middle-end reuse:</a:t>
            </a:r>
            <a:endParaRPr/>
          </a:p>
          <a:p>
            <a:pPr indent="-342900" lvl="1" marL="914400" rtl="0" algn="l">
              <a:spcBef>
                <a:spcPts val="0"/>
              </a:spcBef>
              <a:spcAft>
                <a:spcPts val="0"/>
              </a:spcAft>
              <a:buSzPts val="1800"/>
              <a:buChar char="•"/>
            </a:pPr>
            <a:r>
              <a:rPr lang="en-US"/>
              <a:t>Custom IR transformations, custom optimization pipelines, domain-specific lowering</a:t>
            </a:r>
            <a:endParaRPr/>
          </a:p>
          <a:p>
            <a:pPr indent="-342900" lvl="0" marL="457200" rtl="0" algn="l">
              <a:spcBef>
                <a:spcPts val="0"/>
              </a:spcBef>
              <a:spcAft>
                <a:spcPts val="0"/>
              </a:spcAft>
              <a:buSzPts val="1800"/>
              <a:buChar char="•"/>
            </a:pPr>
            <a:r>
              <a:rPr lang="en-US"/>
              <a:t>Backend reuse:</a:t>
            </a:r>
            <a:endParaRPr/>
          </a:p>
          <a:p>
            <a:pPr indent="-342900" lvl="1" marL="914400" rtl="0" algn="l">
              <a:spcBef>
                <a:spcPts val="0"/>
              </a:spcBef>
              <a:spcAft>
                <a:spcPts val="0"/>
              </a:spcAft>
              <a:buSzPts val="1800"/>
              <a:buChar char="•"/>
            </a:pPr>
            <a:r>
              <a:rPr lang="en-US"/>
              <a:t>CPU/GPU code generation, JIT, cross-compilation</a:t>
            </a:r>
            <a:endParaRPr/>
          </a:p>
        </p:txBody>
      </p:sp>
      <p:sp>
        <p:nvSpPr>
          <p:cNvPr id="269" name="Google Shape;269;g3dc35a4ca61_0_21"/>
          <p:cNvSpPr/>
          <p:nvPr/>
        </p:nvSpPr>
        <p:spPr>
          <a:xfrm>
            <a:off x="2671418" y="4870347"/>
            <a:ext cx="1828800" cy="594900"/>
          </a:xfrm>
          <a:prstGeom prst="rect">
            <a:avLst/>
          </a:prstGeom>
          <a:solidFill>
            <a:srgbClr val="4472C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rPr b="0" i="0" lang="en-US" sz="3200" u="none" cap="none" strike="noStrike">
                <a:solidFill>
                  <a:srgbClr val="FFFFFF"/>
                </a:solidFill>
                <a:latin typeface="Helvetica Neue"/>
                <a:ea typeface="Helvetica Neue"/>
                <a:cs typeface="Helvetica Neue"/>
                <a:sym typeface="Helvetica Neue"/>
              </a:rPr>
              <a:t>Frontend</a:t>
            </a:r>
            <a:endParaRPr b="0" i="0" sz="1800" u="none" cap="none" strike="noStrike">
              <a:solidFill>
                <a:srgbClr val="000000"/>
              </a:solidFill>
              <a:latin typeface="Calibri"/>
              <a:ea typeface="Calibri"/>
              <a:cs typeface="Calibri"/>
              <a:sym typeface="Calibri"/>
            </a:endParaRPr>
          </a:p>
        </p:txBody>
      </p:sp>
      <p:sp>
        <p:nvSpPr>
          <p:cNvPr id="270" name="Google Shape;270;g3dc35a4ca61_0_21"/>
          <p:cNvSpPr/>
          <p:nvPr/>
        </p:nvSpPr>
        <p:spPr>
          <a:xfrm>
            <a:off x="4926936" y="4870347"/>
            <a:ext cx="2286900" cy="594900"/>
          </a:xfrm>
          <a:prstGeom prst="rect">
            <a:avLst/>
          </a:prstGeom>
          <a:solidFill>
            <a:srgbClr val="7030A0"/>
          </a:solidFill>
          <a:ln cap="flat" cmpd="sng" w="25400">
            <a:solidFill>
              <a:srgbClr val="B39436"/>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3200"/>
              <a:buFont typeface="Helvetica Neue"/>
              <a:buNone/>
            </a:pPr>
            <a:r>
              <a:rPr b="0" i="0" lang="en-US" sz="3200" u="none" cap="none" strike="noStrike">
                <a:solidFill>
                  <a:srgbClr val="FFFFFF"/>
                </a:solidFill>
                <a:latin typeface="Helvetica Neue"/>
                <a:ea typeface="Helvetica Neue"/>
                <a:cs typeface="Helvetica Neue"/>
                <a:sym typeface="Helvetica Neue"/>
              </a:rPr>
              <a:t>Middle-end</a:t>
            </a:r>
            <a:endParaRPr b="0" i="0" sz="1800" u="none" cap="none" strike="noStrike">
              <a:solidFill>
                <a:srgbClr val="FFFFFF"/>
              </a:solidFill>
              <a:latin typeface="Calibri"/>
              <a:ea typeface="Calibri"/>
              <a:cs typeface="Calibri"/>
              <a:sym typeface="Calibri"/>
            </a:endParaRPr>
          </a:p>
        </p:txBody>
      </p:sp>
      <p:sp>
        <p:nvSpPr>
          <p:cNvPr id="271" name="Google Shape;271;g3dc35a4ca61_0_21"/>
          <p:cNvSpPr/>
          <p:nvPr/>
        </p:nvSpPr>
        <p:spPr>
          <a:xfrm>
            <a:off x="7640637" y="4870347"/>
            <a:ext cx="2286900" cy="594900"/>
          </a:xfrm>
          <a:prstGeom prst="rect">
            <a:avLst/>
          </a:prstGeom>
          <a:solidFill>
            <a:srgbClr val="70AD47"/>
          </a:solidFill>
          <a:ln cap="flat" cmpd="sng" w="25400">
            <a:solidFill>
              <a:srgbClr val="657E33"/>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rPr b="0" i="0" lang="en-US" sz="3200" u="none" cap="none" strike="noStrike">
                <a:solidFill>
                  <a:srgbClr val="FFFFFF"/>
                </a:solidFill>
                <a:latin typeface="Helvetica Neue"/>
                <a:ea typeface="Helvetica Neue"/>
                <a:cs typeface="Helvetica Neue"/>
                <a:sym typeface="Helvetica Neue"/>
              </a:rPr>
              <a:t>Backend</a:t>
            </a:r>
            <a:endParaRPr b="0" i="0" sz="1800" u="none" cap="none" strike="noStrike">
              <a:solidFill>
                <a:srgbClr val="000000"/>
              </a:solidFill>
              <a:latin typeface="Calibri"/>
              <a:ea typeface="Calibri"/>
              <a:cs typeface="Calibri"/>
              <a:sym typeface="Calibri"/>
            </a:endParaRPr>
          </a:p>
        </p:txBody>
      </p:sp>
      <p:sp>
        <p:nvSpPr>
          <p:cNvPr id="272" name="Google Shape;272;g3dc35a4ca61_0_21"/>
          <p:cNvSpPr/>
          <p:nvPr/>
        </p:nvSpPr>
        <p:spPr>
          <a:xfrm>
            <a:off x="606642" y="4804168"/>
            <a:ext cx="1421700" cy="727500"/>
          </a:xfrm>
          <a:prstGeom prst="verticalScroll">
            <a:avLst>
              <a:gd fmla="val 12500" name="adj"/>
            </a:avLst>
          </a:prstGeom>
          <a:solidFill>
            <a:srgbClr val="FFFFFF"/>
          </a:solidFill>
          <a:ln cap="flat" cmpd="sng" w="25400">
            <a:solidFill>
              <a:srgbClr val="ED7D31"/>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3200"/>
              <a:buFont typeface="Helvetica Neue"/>
              <a:buNone/>
            </a:pPr>
            <a:r>
              <a:rPr b="0" i="0" lang="en-US" sz="3200" u="none" cap="none" strike="noStrike">
                <a:solidFill>
                  <a:srgbClr val="000000"/>
                </a:solidFill>
                <a:latin typeface="Helvetica Neue"/>
                <a:ea typeface="Helvetica Neue"/>
                <a:cs typeface="Helvetica Neue"/>
                <a:sym typeface="Helvetica Neue"/>
              </a:rPr>
              <a:t>SRC</a:t>
            </a:r>
            <a:endParaRPr b="0" i="0" sz="1800" u="none" cap="none" strike="noStrike">
              <a:solidFill>
                <a:srgbClr val="000000"/>
              </a:solidFill>
              <a:latin typeface="Calibri"/>
              <a:ea typeface="Calibri"/>
              <a:cs typeface="Calibri"/>
              <a:sym typeface="Calibri"/>
            </a:endParaRPr>
          </a:p>
        </p:txBody>
      </p:sp>
      <p:cxnSp>
        <p:nvCxnSpPr>
          <p:cNvPr id="273" name="Google Shape;273;g3dc35a4ca61_0_21"/>
          <p:cNvCxnSpPr>
            <a:stCxn id="272" idx="3"/>
            <a:endCxn id="269" idx="1"/>
          </p:cNvCxnSpPr>
          <p:nvPr/>
        </p:nvCxnSpPr>
        <p:spPr>
          <a:xfrm>
            <a:off x="1937405" y="5167918"/>
            <a:ext cx="734100" cy="0"/>
          </a:xfrm>
          <a:prstGeom prst="straightConnector1">
            <a:avLst/>
          </a:prstGeom>
          <a:noFill/>
          <a:ln cap="flat" cmpd="sng" w="25400">
            <a:solidFill>
              <a:srgbClr val="000000"/>
            </a:solidFill>
            <a:prstDash val="solid"/>
            <a:miter lim="400000"/>
            <a:headEnd len="sm" w="sm" type="none"/>
            <a:tailEnd len="med" w="med" type="triangle"/>
          </a:ln>
        </p:spPr>
      </p:cxnSp>
      <p:cxnSp>
        <p:nvCxnSpPr>
          <p:cNvPr id="274" name="Google Shape;274;g3dc35a4ca61_0_21"/>
          <p:cNvCxnSpPr>
            <a:stCxn id="269" idx="3"/>
            <a:endCxn id="270" idx="1"/>
          </p:cNvCxnSpPr>
          <p:nvPr/>
        </p:nvCxnSpPr>
        <p:spPr>
          <a:xfrm>
            <a:off x="4500218" y="5167797"/>
            <a:ext cx="426600" cy="0"/>
          </a:xfrm>
          <a:prstGeom prst="straightConnector1">
            <a:avLst/>
          </a:prstGeom>
          <a:noFill/>
          <a:ln cap="flat" cmpd="sng" w="25400">
            <a:solidFill>
              <a:srgbClr val="000000"/>
            </a:solidFill>
            <a:prstDash val="solid"/>
            <a:miter lim="400000"/>
            <a:headEnd len="sm" w="sm" type="none"/>
            <a:tailEnd len="med" w="med" type="triangle"/>
          </a:ln>
        </p:spPr>
      </p:cxnSp>
      <p:cxnSp>
        <p:nvCxnSpPr>
          <p:cNvPr id="275" name="Google Shape;275;g3dc35a4ca61_0_21"/>
          <p:cNvCxnSpPr>
            <a:stCxn id="270" idx="3"/>
            <a:endCxn id="271" idx="1"/>
          </p:cNvCxnSpPr>
          <p:nvPr/>
        </p:nvCxnSpPr>
        <p:spPr>
          <a:xfrm>
            <a:off x="7213836" y="5167797"/>
            <a:ext cx="426900" cy="0"/>
          </a:xfrm>
          <a:prstGeom prst="straightConnector1">
            <a:avLst/>
          </a:prstGeom>
          <a:noFill/>
          <a:ln cap="flat" cmpd="sng" w="25400">
            <a:solidFill>
              <a:srgbClr val="000000"/>
            </a:solidFill>
            <a:prstDash val="solid"/>
            <a:miter lim="400000"/>
            <a:headEnd len="sm" w="sm" type="none"/>
            <a:tailEnd len="med" w="med" type="triangle"/>
          </a:ln>
        </p:spPr>
      </p:cxnSp>
      <p:sp>
        <p:nvSpPr>
          <p:cNvPr id="276" name="Google Shape;276;g3dc35a4ca61_0_21"/>
          <p:cNvSpPr/>
          <p:nvPr/>
        </p:nvSpPr>
        <p:spPr>
          <a:xfrm>
            <a:off x="10541155" y="4821413"/>
            <a:ext cx="1044186" cy="692904"/>
          </a:xfrm>
          <a:prstGeom prst="flowChartMagneticDisk">
            <a:avLst/>
          </a:prstGeom>
          <a:solidFill>
            <a:srgbClr val="FFFFFF"/>
          </a:solidFill>
          <a:ln cap="flat" cmpd="sng" w="25400">
            <a:solidFill>
              <a:srgbClr val="70AD47"/>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1600"/>
              <a:buFont typeface="Helvetica Neue"/>
              <a:buNone/>
            </a:pPr>
            <a:r>
              <a:rPr b="0" i="0" lang="en-US" sz="1600" u="none" cap="none" strike="noStrike">
                <a:solidFill>
                  <a:srgbClr val="000000"/>
                </a:solidFill>
                <a:latin typeface="Helvetica Neue"/>
                <a:ea typeface="Helvetica Neue"/>
                <a:cs typeface="Helvetica Neue"/>
                <a:sym typeface="Helvetica Neue"/>
              </a:rPr>
              <a:t>Program</a:t>
            </a:r>
            <a:endParaRPr b="0" i="0" sz="1800" u="none" cap="none" strike="noStrike">
              <a:solidFill>
                <a:srgbClr val="000000"/>
              </a:solidFill>
              <a:latin typeface="Calibri"/>
              <a:ea typeface="Calibri"/>
              <a:cs typeface="Calibri"/>
              <a:sym typeface="Calibri"/>
            </a:endParaRPr>
          </a:p>
        </p:txBody>
      </p:sp>
      <p:cxnSp>
        <p:nvCxnSpPr>
          <p:cNvPr id="277" name="Google Shape;277;g3dc35a4ca61_0_21"/>
          <p:cNvCxnSpPr>
            <a:stCxn id="271" idx="3"/>
            <a:endCxn id="276" idx="2"/>
          </p:cNvCxnSpPr>
          <p:nvPr/>
        </p:nvCxnSpPr>
        <p:spPr>
          <a:xfrm>
            <a:off x="9927537" y="5167797"/>
            <a:ext cx="613500" cy="0"/>
          </a:xfrm>
          <a:prstGeom prst="straightConnector1">
            <a:avLst/>
          </a:prstGeom>
          <a:noFill/>
          <a:ln cap="flat" cmpd="sng" w="25400">
            <a:solidFill>
              <a:srgbClr val="000000"/>
            </a:solidFill>
            <a:prstDash val="solid"/>
            <a:miter lim="400000"/>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d9cf9aaceb_0_39"/>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LLVM: in-tree and out-of-tree</a:t>
            </a:r>
            <a:endParaRPr/>
          </a:p>
        </p:txBody>
      </p:sp>
      <p:sp>
        <p:nvSpPr>
          <p:cNvPr id="284" name="Google Shape;284;g3d9cf9aaceb_0_39"/>
          <p:cNvSpPr txBox="1"/>
          <p:nvPr>
            <p:ph idx="1" type="body"/>
          </p:nvPr>
        </p:nvSpPr>
        <p:spPr>
          <a:xfrm>
            <a:off x="571375" y="1673450"/>
            <a:ext cx="112467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In-tree projects:</a:t>
            </a:r>
            <a:endParaRPr/>
          </a:p>
          <a:p>
            <a:pPr indent="-342900" lvl="0" marL="457200" rtl="0" algn="l">
              <a:spcBef>
                <a:spcPts val="1000"/>
              </a:spcBef>
              <a:spcAft>
                <a:spcPts val="0"/>
              </a:spcAft>
              <a:buSzPts val="1800"/>
              <a:buChar char="•"/>
            </a:pPr>
            <a:r>
              <a:rPr lang="en-US"/>
              <a:t>Projects living in LLVM monorepo (</a:t>
            </a:r>
            <a:r>
              <a:rPr lang="en-US" u="sng">
                <a:solidFill>
                  <a:schemeClr val="hlink"/>
                </a:solidFill>
                <a:hlinkClick r:id="rId3"/>
              </a:rPr>
              <a:t>https://github.com/llvm/llvm-project</a:t>
            </a:r>
            <a:r>
              <a:rPr lang="en-US"/>
              <a:t>)</a:t>
            </a:r>
            <a:endParaRPr/>
          </a:p>
          <a:p>
            <a:pPr indent="-342900" lvl="0" marL="457200" rtl="0" algn="l">
              <a:spcBef>
                <a:spcPts val="0"/>
              </a:spcBef>
              <a:spcAft>
                <a:spcPts val="0"/>
              </a:spcAft>
              <a:buSzPts val="1800"/>
              <a:buChar char="•"/>
            </a:pPr>
            <a:r>
              <a:rPr lang="en-US"/>
              <a:t>Examples: clang, clang-tools-extra (clang-tidy, …), flang, mlir, lld, lldb, …</a:t>
            </a:r>
            <a:endParaRPr/>
          </a:p>
          <a:p>
            <a:pPr indent="0" lvl="0" marL="0" rtl="0" algn="l">
              <a:spcBef>
                <a:spcPts val="1000"/>
              </a:spcBef>
              <a:spcAft>
                <a:spcPts val="0"/>
              </a:spcAft>
              <a:buNone/>
            </a:pPr>
            <a:r>
              <a:rPr lang="en-US"/>
              <a:t>Out-of-tree projects:</a:t>
            </a:r>
            <a:endParaRPr/>
          </a:p>
          <a:p>
            <a:pPr indent="-342900" lvl="0" marL="457200" rtl="0" algn="l">
              <a:spcBef>
                <a:spcPts val="1000"/>
              </a:spcBef>
              <a:spcAft>
                <a:spcPts val="0"/>
              </a:spcAft>
              <a:buSzPts val="1800"/>
              <a:buChar char="•"/>
            </a:pPr>
            <a:r>
              <a:rPr lang="en-US"/>
              <a:t>P</a:t>
            </a:r>
            <a:r>
              <a:rPr lang="en-US"/>
              <a:t>rojects developed outside the LLVM monorepo but built against, extending, or reusing LLVM/Clang/MLIR libraries, APIs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d9cf9aaceb_0_27"/>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LLVM-based compilers for other languages</a:t>
            </a:r>
            <a:endParaRPr/>
          </a:p>
        </p:txBody>
      </p:sp>
      <p:sp>
        <p:nvSpPr>
          <p:cNvPr id="291" name="Google Shape;291;g3d9cf9aaceb_0_27"/>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rustc compiler: </a:t>
            </a:r>
            <a:r>
              <a:rPr lang="en-US" u="sng">
                <a:solidFill>
                  <a:schemeClr val="hlink"/>
                </a:solidFill>
                <a:hlinkClick r:id="rId3"/>
              </a:rPr>
              <a:t>https://github.com/rust-lang/rust</a:t>
            </a:r>
            <a:endParaRPr/>
          </a:p>
          <a:p>
            <a:pPr indent="-342900" lvl="0" marL="457200" rtl="0" algn="l">
              <a:spcBef>
                <a:spcPts val="0"/>
              </a:spcBef>
              <a:spcAft>
                <a:spcPts val="0"/>
              </a:spcAft>
              <a:buSzPts val="1800"/>
              <a:buChar char="•"/>
            </a:pPr>
            <a:r>
              <a:rPr lang="en-US"/>
              <a:t>Swift compiler: </a:t>
            </a:r>
            <a:r>
              <a:rPr lang="en-US" u="sng">
                <a:solidFill>
                  <a:schemeClr val="hlink"/>
                </a:solidFill>
                <a:hlinkClick r:id="rId4"/>
              </a:rPr>
              <a:t>https://github.com/swiftlang/swift</a:t>
            </a:r>
            <a:endParaRPr/>
          </a:p>
          <a:p>
            <a:pPr indent="-342900" lvl="0" marL="457200" rtl="0" algn="l">
              <a:spcBef>
                <a:spcPts val="0"/>
              </a:spcBef>
              <a:spcAft>
                <a:spcPts val="0"/>
              </a:spcAft>
              <a:buSzPts val="1800"/>
              <a:buChar char="•"/>
            </a:pPr>
            <a:r>
              <a:rPr lang="en-US"/>
              <a:t>Julia compiler: </a:t>
            </a:r>
            <a:r>
              <a:rPr lang="en-US" u="sng">
                <a:solidFill>
                  <a:schemeClr val="hlink"/>
                </a:solidFill>
                <a:hlinkClick r:id="rId5"/>
              </a:rPr>
              <a:t>https://github.com/JuliaLang/julia</a:t>
            </a:r>
            <a:endParaRPr/>
          </a:p>
          <a:p>
            <a:pPr indent="-342900" lvl="0" marL="457200" rtl="0" algn="l">
              <a:spcBef>
                <a:spcPts val="0"/>
              </a:spcBef>
              <a:spcAft>
                <a:spcPts val="0"/>
              </a:spcAft>
              <a:buSzPts val="1800"/>
              <a:buChar char="•"/>
            </a:pPr>
            <a:r>
              <a:rPr lang="en-US"/>
              <a:t>Emscripten (C++ to Wasm): </a:t>
            </a:r>
            <a:r>
              <a:rPr lang="en-US" u="sng">
                <a:solidFill>
                  <a:schemeClr val="hlink"/>
                </a:solidFill>
                <a:hlinkClick r:id="rId6"/>
              </a:rPr>
              <a:t>https://github.com/emscripten-core/emscripten</a:t>
            </a:r>
            <a:endParaRPr/>
          </a:p>
          <a:p>
            <a:pPr indent="-342900" lvl="0" marL="457200" rtl="0" algn="l">
              <a:spcBef>
                <a:spcPts val="0"/>
              </a:spcBef>
              <a:spcAft>
                <a:spcPts val="0"/>
              </a:spcAft>
              <a:buSzPts val="1800"/>
              <a:buChar char="•"/>
            </a:pPr>
            <a:r>
              <a:rPr lang="en-US"/>
              <a:t>Zig: </a:t>
            </a:r>
            <a:r>
              <a:rPr lang="en-US" u="sng">
                <a:solidFill>
                  <a:schemeClr val="hlink"/>
                </a:solidFill>
                <a:hlinkClick r:id="rId7"/>
              </a:rPr>
              <a:t>https://codeberg.org/ziglang/zig</a:t>
            </a:r>
            <a:endParaRPr/>
          </a:p>
          <a:p>
            <a:pPr indent="-342900" lvl="0" marL="457200" rtl="0" algn="l">
              <a:spcBef>
                <a:spcPts val="0"/>
              </a:spcBef>
              <a:spcAft>
                <a:spcPts val="0"/>
              </a:spcAft>
              <a:buSzPts val="1800"/>
              <a:buChar char="•"/>
            </a:pPr>
            <a:r>
              <a:rPr lang="en-US"/>
              <a:t>Haskell: </a:t>
            </a:r>
            <a:r>
              <a:rPr lang="en-US" u="sng">
                <a:solidFill>
                  <a:schemeClr val="hlink"/>
                </a:solidFill>
                <a:hlinkClick r:id="rId8"/>
              </a:rPr>
              <a:t>https://github.com/ghc/ghc</a:t>
            </a:r>
            <a:r>
              <a:rPr lang="en-US"/>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d9cf9aaceb_0_33"/>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3rdparty projects using LLVM</a:t>
            </a:r>
            <a:endParaRPr/>
          </a:p>
        </p:txBody>
      </p:sp>
      <p:sp>
        <p:nvSpPr>
          <p:cNvPr id="298" name="Google Shape;298;g3d9cf9aaceb_0_33"/>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406400" lvl="0" marL="457200" rtl="0" algn="l">
              <a:lnSpc>
                <a:spcPct val="100000"/>
              </a:lnSpc>
              <a:spcBef>
                <a:spcPts val="1000"/>
              </a:spcBef>
              <a:spcAft>
                <a:spcPts val="0"/>
              </a:spcAft>
              <a:buSzPts val="2800"/>
              <a:buChar char="•"/>
            </a:pPr>
            <a:r>
              <a:rPr lang="en-US"/>
              <a:t>PostgreSQL JIT: </a:t>
            </a:r>
            <a:r>
              <a:rPr lang="en-US" u="sng">
                <a:solidFill>
                  <a:schemeClr val="hlink"/>
                </a:solidFill>
                <a:hlinkClick r:id="rId3"/>
              </a:rPr>
              <a:t>https://github.com/postgres/postgres/blob/master/src/backend/jit</a:t>
            </a:r>
            <a:endParaRPr/>
          </a:p>
          <a:p>
            <a:pPr indent="-406400" lvl="0" marL="457200" rtl="0" algn="l">
              <a:lnSpc>
                <a:spcPct val="100000"/>
              </a:lnSpc>
              <a:spcBef>
                <a:spcPts val="0"/>
              </a:spcBef>
              <a:spcAft>
                <a:spcPts val="0"/>
              </a:spcAft>
              <a:buSzPts val="2800"/>
              <a:buChar char="•"/>
            </a:pPr>
            <a:r>
              <a:rPr lang="en-US"/>
              <a:t>ClickHouse database: </a:t>
            </a:r>
            <a:r>
              <a:rPr lang="en-US" u="sng">
                <a:solidFill>
                  <a:schemeClr val="hlink"/>
                </a:solidFill>
                <a:hlinkClick r:id="rId4"/>
              </a:rPr>
              <a:t>https://github.com/ClickHouse/ClickHouse</a:t>
            </a:r>
            <a:endParaRPr/>
          </a:p>
          <a:p>
            <a:pPr indent="-406400" lvl="0" marL="457200" rtl="0" algn="l">
              <a:lnSpc>
                <a:spcPct val="100000"/>
              </a:lnSpc>
              <a:spcBef>
                <a:spcPts val="0"/>
              </a:spcBef>
              <a:spcAft>
                <a:spcPts val="0"/>
              </a:spcAft>
              <a:buSzPts val="2800"/>
              <a:buChar char="•"/>
            </a:pPr>
            <a:r>
              <a:rPr lang="en-US"/>
              <a:t>Mesa llvmpipe - Software OpenGL rasterizer: </a:t>
            </a:r>
            <a:r>
              <a:rPr lang="en-US" u="sng">
                <a:solidFill>
                  <a:schemeClr val="hlink"/>
                </a:solidFill>
                <a:hlinkClick r:id="rId5"/>
              </a:rPr>
              <a:t>https://docs.mesa3d.org/drivers/llvmpipe.html</a:t>
            </a:r>
            <a:r>
              <a:rPr lang="en-US"/>
              <a:t> </a:t>
            </a:r>
            <a:endParaRPr/>
          </a:p>
          <a:p>
            <a:pPr indent="-406400" lvl="0" marL="457200" rtl="0" algn="l">
              <a:lnSpc>
                <a:spcPct val="100000"/>
              </a:lnSpc>
              <a:spcBef>
                <a:spcPts val="0"/>
              </a:spcBef>
              <a:spcAft>
                <a:spcPts val="0"/>
              </a:spcAft>
              <a:buSzPts val="2800"/>
              <a:buChar char="•"/>
            </a:pPr>
            <a:r>
              <a:rPr lang="en-US"/>
              <a:t>The Interactive C++ Interpreter: </a:t>
            </a:r>
            <a:r>
              <a:rPr lang="en-US" u="sng">
                <a:solidFill>
                  <a:schemeClr val="hlink"/>
                </a:solidFill>
                <a:hlinkClick r:id="rId6"/>
              </a:rPr>
              <a:t>https://github.com/root-project/cling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9a6a542a37_0_214"/>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PyTorch</a:t>
            </a:r>
            <a:endParaRPr/>
          </a:p>
        </p:txBody>
      </p:sp>
      <p:sp>
        <p:nvSpPr>
          <p:cNvPr id="305" name="Google Shape;305;g39a6a542a37_0_214"/>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PyTorch is an open-source, Python-based machine learning library</a:t>
            </a:r>
            <a:endParaRPr/>
          </a:p>
          <a:p>
            <a:pPr indent="0" lvl="0" marL="0" rtl="0" algn="l">
              <a:spcBef>
                <a:spcPts val="1000"/>
              </a:spcBef>
              <a:spcAft>
                <a:spcPts val="0"/>
              </a:spcAft>
              <a:buNone/>
            </a:pPr>
            <a:r>
              <a:t/>
            </a:r>
            <a:endParaRPr/>
          </a:p>
        </p:txBody>
      </p:sp>
      <p:pic>
        <p:nvPicPr>
          <p:cNvPr id="306" name="Google Shape;306;g39a6a542a37_0_214"/>
          <p:cNvPicPr preferRelativeResize="0"/>
          <p:nvPr/>
        </p:nvPicPr>
        <p:blipFill>
          <a:blip r:embed="rId3">
            <a:alphaModFix/>
          </a:blip>
          <a:stretch>
            <a:fillRect/>
          </a:stretch>
        </p:blipFill>
        <p:spPr>
          <a:xfrm>
            <a:off x="8586575" y="571496"/>
            <a:ext cx="2995700" cy="735650"/>
          </a:xfrm>
          <a:prstGeom prst="rect">
            <a:avLst/>
          </a:prstGeom>
          <a:noFill/>
          <a:ln>
            <a:noFill/>
          </a:ln>
        </p:spPr>
      </p:pic>
      <p:sp>
        <p:nvSpPr>
          <p:cNvPr id="307" name="Google Shape;307;g39a6a542a37_0_214"/>
          <p:cNvSpPr txBox="1"/>
          <p:nvPr/>
        </p:nvSpPr>
        <p:spPr>
          <a:xfrm>
            <a:off x="8584425" y="13071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https://github.com/pytorch/pytorch</a:t>
            </a:r>
            <a:r>
              <a:rPr lang="en-US"/>
              <a:t> </a:t>
            </a:r>
            <a:endParaRPr/>
          </a:p>
        </p:txBody>
      </p:sp>
      <p:pic>
        <p:nvPicPr>
          <p:cNvPr id="308" name="Google Shape;308;g39a6a542a37_0_214"/>
          <p:cNvPicPr preferRelativeResize="0"/>
          <p:nvPr/>
        </p:nvPicPr>
        <p:blipFill>
          <a:blip r:embed="rId5">
            <a:alphaModFix/>
          </a:blip>
          <a:stretch>
            <a:fillRect/>
          </a:stretch>
        </p:blipFill>
        <p:spPr>
          <a:xfrm>
            <a:off x="0" y="2159753"/>
            <a:ext cx="12192000" cy="4372814"/>
          </a:xfrm>
          <a:prstGeom prst="rect">
            <a:avLst/>
          </a:prstGeom>
          <a:noFill/>
          <a:ln>
            <a:noFill/>
          </a:ln>
        </p:spPr>
      </p:pic>
      <p:sp>
        <p:nvSpPr>
          <p:cNvPr id="309" name="Google Shape;309;g39a6a542a37_0_214"/>
          <p:cNvSpPr txBox="1"/>
          <p:nvPr/>
        </p:nvSpPr>
        <p:spPr>
          <a:xfrm>
            <a:off x="4053150" y="6457800"/>
            <a:ext cx="408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6"/>
              </a:rPr>
              <a:t>https://www.learnpytorch.io/01_pytorch_workflow/</a:t>
            </a:r>
            <a:r>
              <a:rPr lang="en-US"/>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d6016f1f31_0_12"/>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PyTorch compilation flow</a:t>
            </a:r>
            <a:endParaRPr/>
          </a:p>
        </p:txBody>
      </p:sp>
      <p:pic>
        <p:nvPicPr>
          <p:cNvPr id="316" name="Google Shape;316;g3d6016f1f31_0_12"/>
          <p:cNvPicPr preferRelativeResize="0"/>
          <p:nvPr/>
        </p:nvPicPr>
        <p:blipFill>
          <a:blip r:embed="rId3">
            <a:alphaModFix/>
          </a:blip>
          <a:stretch>
            <a:fillRect/>
          </a:stretch>
        </p:blipFill>
        <p:spPr>
          <a:xfrm>
            <a:off x="320175" y="1524000"/>
            <a:ext cx="7175809" cy="5029199"/>
          </a:xfrm>
          <a:prstGeom prst="rect">
            <a:avLst/>
          </a:prstGeom>
          <a:noFill/>
          <a:ln>
            <a:noFill/>
          </a:ln>
        </p:spPr>
      </p:pic>
      <p:sp>
        <p:nvSpPr>
          <p:cNvPr id="317" name="Google Shape;317;g3d6016f1f31_0_12"/>
          <p:cNvSpPr txBox="1"/>
          <p:nvPr/>
        </p:nvSpPr>
        <p:spPr>
          <a:xfrm>
            <a:off x="8532300" y="6457800"/>
            <a:ext cx="3659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https://pytorch.org/get-started/pytorch-2-x/</a:t>
            </a:r>
            <a:r>
              <a:rPr lang="en-US"/>
              <a:t> </a:t>
            </a:r>
            <a:endParaRPr/>
          </a:p>
        </p:txBody>
      </p:sp>
      <p:sp>
        <p:nvSpPr>
          <p:cNvPr id="318" name="Google Shape;318;g3d6016f1f31_0_12"/>
          <p:cNvSpPr txBox="1"/>
          <p:nvPr/>
        </p:nvSpPr>
        <p:spPr>
          <a:xfrm>
            <a:off x="7057225" y="1866550"/>
            <a:ext cx="4572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Torch provides a set of compilers by itself:</a:t>
            </a:r>
            <a:endParaRPr sz="1800"/>
          </a:p>
          <a:p>
            <a:pPr indent="0" lvl="0" marL="0" rtl="0" algn="l">
              <a:spcBef>
                <a:spcPts val="0"/>
              </a:spcBef>
              <a:spcAft>
                <a:spcPts val="0"/>
              </a:spcAft>
              <a:buNone/>
            </a:pPr>
            <a:r>
              <a:rPr lang="en-US" sz="1800" u="sng">
                <a:solidFill>
                  <a:schemeClr val="hlink"/>
                </a:solidFill>
                <a:hlinkClick r:id="rId5"/>
              </a:rPr>
              <a:t>https://docs.pytorch.org/tutorials/compilers_index.html</a:t>
            </a:r>
            <a:r>
              <a:rPr lang="en-US" sz="1800"/>
              <a:t> </a:t>
            </a:r>
            <a:endParaRPr sz="1800"/>
          </a:p>
        </p:txBody>
      </p:sp>
      <p:sp>
        <p:nvSpPr>
          <p:cNvPr id="319" name="Google Shape;319;g3d6016f1f31_0_12"/>
          <p:cNvSpPr txBox="1"/>
          <p:nvPr/>
        </p:nvSpPr>
        <p:spPr>
          <a:xfrm>
            <a:off x="7833200" y="5109600"/>
            <a:ext cx="4247100" cy="134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350">
                <a:solidFill>
                  <a:srgbClr val="676767"/>
                </a:solidFill>
                <a:highlight>
                  <a:srgbClr val="FFFFFF"/>
                </a:highlight>
              </a:rPr>
              <a:t>With PyTorch 2.0, we want to simplify the backend (compiler) integration experience. To do this, we have focused on reducing the number of operators and simplifying the semantics of the operator set necessary to bring up a PyTorch backend.</a:t>
            </a:r>
            <a:endParaRPr sz="11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id="325" name="Google Shape;325;g3d6016f1f31_0_37"/>
          <p:cNvPicPr preferRelativeResize="0"/>
          <p:nvPr/>
        </p:nvPicPr>
        <p:blipFill>
          <a:blip r:embed="rId3">
            <a:alphaModFix/>
          </a:blip>
          <a:stretch>
            <a:fillRect/>
          </a:stretch>
        </p:blipFill>
        <p:spPr>
          <a:xfrm>
            <a:off x="2613038" y="3174835"/>
            <a:ext cx="6965924" cy="3435351"/>
          </a:xfrm>
          <a:prstGeom prst="rect">
            <a:avLst/>
          </a:prstGeom>
          <a:noFill/>
          <a:ln>
            <a:noFill/>
          </a:ln>
        </p:spPr>
      </p:pic>
      <p:sp>
        <p:nvSpPr>
          <p:cNvPr id="326" name="Google Shape;326;g3d6016f1f31_0_37"/>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PyTorch compilation modes</a:t>
            </a:r>
            <a:endParaRPr/>
          </a:p>
        </p:txBody>
      </p:sp>
      <p:sp>
        <p:nvSpPr>
          <p:cNvPr id="327" name="Google Shape;327;g3d6016f1f31_0_37"/>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inductor: the default production backend in torch.compile</a:t>
            </a:r>
            <a:endParaRPr/>
          </a:p>
          <a:p>
            <a:pPr indent="-342900" lvl="0" marL="457200" rtl="0" algn="l">
              <a:spcBef>
                <a:spcPts val="0"/>
              </a:spcBef>
              <a:spcAft>
                <a:spcPts val="0"/>
              </a:spcAft>
              <a:buSzPts val="1800"/>
              <a:buChar char="•"/>
            </a:pPr>
            <a:r>
              <a:rPr lang="en-US"/>
              <a:t>eager: not an optimizing compiler. It runs Dynamo graph capture but executes with regular PyTorch eager mode. Useful for debugging whether graph itself works or not</a:t>
            </a:r>
            <a:endParaRPr/>
          </a:p>
        </p:txBody>
      </p:sp>
      <p:sp>
        <p:nvSpPr>
          <p:cNvPr id="328" name="Google Shape;328;g3d6016f1f31_0_37"/>
          <p:cNvSpPr txBox="1"/>
          <p:nvPr/>
        </p:nvSpPr>
        <p:spPr>
          <a:xfrm>
            <a:off x="7733400" y="6457800"/>
            <a:ext cx="445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https://pytorch.org/blog/accelerated-pytorch-inference/</a:t>
            </a:r>
            <a:r>
              <a:rPr lang="en-US"/>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3d6016f1f31_0_63"/>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PyTorch </a:t>
            </a:r>
            <a:r>
              <a:rPr lang="en-US"/>
              <a:t>vendor (3rdparty) backends</a:t>
            </a:r>
            <a:endParaRPr/>
          </a:p>
        </p:txBody>
      </p:sp>
      <p:sp>
        <p:nvSpPr>
          <p:cNvPr id="335" name="Google Shape;335;g3d6016f1f31_0_63"/>
          <p:cNvSpPr txBox="1"/>
          <p:nvPr>
            <p:ph idx="1" type="body"/>
          </p:nvPr>
        </p:nvSpPr>
        <p:spPr>
          <a:xfrm>
            <a:off x="571372" y="1673450"/>
            <a:ext cx="44202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PyTorch provides an extendable interface that allows to bind different compilers for the actual model compilation</a:t>
            </a:r>
            <a:endParaRPr/>
          </a:p>
        </p:txBody>
      </p:sp>
      <p:pic>
        <p:nvPicPr>
          <p:cNvPr id="336" name="Google Shape;336;g3d6016f1f31_0_63"/>
          <p:cNvPicPr preferRelativeResize="0"/>
          <p:nvPr/>
        </p:nvPicPr>
        <p:blipFill>
          <a:blip r:embed="rId3">
            <a:alphaModFix/>
          </a:blip>
          <a:stretch>
            <a:fillRect/>
          </a:stretch>
        </p:blipFill>
        <p:spPr>
          <a:xfrm>
            <a:off x="5152378" y="1673450"/>
            <a:ext cx="6864970" cy="4575000"/>
          </a:xfrm>
          <a:prstGeom prst="rect">
            <a:avLst/>
          </a:prstGeom>
          <a:noFill/>
          <a:ln>
            <a:noFill/>
          </a:ln>
        </p:spPr>
      </p:pic>
      <p:sp>
        <p:nvSpPr>
          <p:cNvPr id="337" name="Google Shape;337;g3d6016f1f31_0_63"/>
          <p:cNvSpPr txBox="1"/>
          <p:nvPr/>
        </p:nvSpPr>
        <p:spPr>
          <a:xfrm>
            <a:off x="4187400" y="6457800"/>
            <a:ext cx="8004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https://medium.com/@Modexa/eight-torchscript-alternatives-for-the-pytorch-2-x-era-34dcb68f2940</a:t>
            </a:r>
            <a:r>
              <a:rPr lang="en-US"/>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d6016f1f31_0_18"/>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PyTorch backends</a:t>
            </a:r>
            <a:endParaRPr/>
          </a:p>
        </p:txBody>
      </p:sp>
      <p:sp>
        <p:nvSpPr>
          <p:cNvPr id="344" name="Google Shape;344;g3d6016f1f31_0_18"/>
          <p:cNvSpPr txBox="1"/>
          <p:nvPr>
            <p:ph idx="1" type="body"/>
          </p:nvPr>
        </p:nvSpPr>
        <p:spPr>
          <a:xfrm>
            <a:off x="571375" y="1673450"/>
            <a:ext cx="7932900" cy="4903200"/>
          </a:xfrm>
          <a:prstGeom prst="rect">
            <a:avLst/>
          </a:prstGeom>
        </p:spPr>
        <p:txBody>
          <a:bodyPr anchorCtr="0" anchor="t" bIns="45700" lIns="91425" spcFirstLastPara="1" rIns="91425" wrap="square" tIns="45700">
            <a:noAutofit/>
          </a:bodyPr>
          <a:lstStyle/>
          <a:p>
            <a:pPr indent="-368300" lvl="0" marL="457200" rtl="0" algn="l">
              <a:lnSpc>
                <a:spcPct val="115000"/>
              </a:lnSpc>
              <a:spcBef>
                <a:spcPts val="1200"/>
              </a:spcBef>
              <a:spcAft>
                <a:spcPts val="0"/>
              </a:spcAft>
              <a:buSzPts val="2200"/>
              <a:buChar char="•"/>
            </a:pPr>
            <a:r>
              <a:rPr lang="en-US" sz="2200" u="sng">
                <a:solidFill>
                  <a:schemeClr val="hlink"/>
                </a:solidFill>
                <a:hlinkClick r:id="rId3"/>
              </a:rPr>
              <a:t>https://pytorch.org/docs/stable/torch.compiler.html</a:t>
            </a:r>
            <a:endParaRPr sz="2200"/>
          </a:p>
          <a:p>
            <a:pPr indent="-368300" lvl="1" marL="914400" rtl="0" algn="l">
              <a:lnSpc>
                <a:spcPct val="115000"/>
              </a:lnSpc>
              <a:spcBef>
                <a:spcPts val="0"/>
              </a:spcBef>
              <a:spcAft>
                <a:spcPts val="0"/>
              </a:spcAft>
              <a:buSzPts val="2200"/>
              <a:buChar char="•"/>
            </a:pPr>
            <a:r>
              <a:rPr lang="en-US" sz="2200"/>
              <a:t>Targets CPUs, GPUs</a:t>
            </a:r>
            <a:endParaRPr sz="2200"/>
          </a:p>
          <a:p>
            <a:pPr indent="-368300" lvl="0" marL="457200" rtl="0" algn="l">
              <a:spcBef>
                <a:spcPts val="0"/>
              </a:spcBef>
              <a:spcAft>
                <a:spcPts val="0"/>
              </a:spcAft>
              <a:buSzPts val="2200"/>
              <a:buChar char="•"/>
            </a:pPr>
            <a:r>
              <a:rPr lang="en-US" sz="2200" u="sng">
                <a:solidFill>
                  <a:schemeClr val="hlink"/>
                </a:solidFill>
                <a:hlinkClick r:id="rId4"/>
              </a:rPr>
              <a:t>https://github.com/Lightning-AI/lightning-thunder</a:t>
            </a:r>
            <a:endParaRPr sz="2200"/>
          </a:p>
          <a:p>
            <a:pPr indent="-368300" lvl="1" marL="914400" rtl="0" algn="l">
              <a:spcBef>
                <a:spcPts val="0"/>
              </a:spcBef>
              <a:spcAft>
                <a:spcPts val="0"/>
              </a:spcAft>
              <a:buSzPts val="2200"/>
              <a:buChar char="•"/>
            </a:pPr>
            <a:r>
              <a:rPr lang="en-US" sz="2200"/>
              <a:t>Performs transformations on Pythonic IR (for NVIDIA GPUs)</a:t>
            </a:r>
            <a:endParaRPr sz="2200"/>
          </a:p>
          <a:p>
            <a:pPr indent="-368300" lvl="0" marL="457200" rtl="0" algn="l">
              <a:lnSpc>
                <a:spcPct val="115000"/>
              </a:lnSpc>
              <a:spcBef>
                <a:spcPts val="0"/>
              </a:spcBef>
              <a:spcAft>
                <a:spcPts val="0"/>
              </a:spcAft>
              <a:buSzPts val="2200"/>
              <a:buChar char="•"/>
            </a:pPr>
            <a:r>
              <a:rPr lang="en-US" sz="2200" u="sng">
                <a:solidFill>
                  <a:schemeClr val="hlink"/>
                </a:solidFill>
                <a:hlinkClick r:id="rId5"/>
              </a:rPr>
              <a:t>https://github.com/iree-org/iree-turbine</a:t>
            </a:r>
            <a:r>
              <a:rPr lang="en-US" sz="2200"/>
              <a:t> </a:t>
            </a:r>
            <a:endParaRPr sz="2200"/>
          </a:p>
          <a:p>
            <a:pPr indent="-368300" lvl="1" marL="914400" rtl="0" algn="l">
              <a:lnSpc>
                <a:spcPct val="115000"/>
              </a:lnSpc>
              <a:spcBef>
                <a:spcPts val="0"/>
              </a:spcBef>
              <a:spcAft>
                <a:spcPts val="0"/>
              </a:spcAft>
              <a:buSzPts val="2200"/>
              <a:buChar char="•"/>
            </a:pPr>
            <a:r>
              <a:rPr lang="en-US" sz="2200"/>
              <a:t>MLIR-based compiler/runtime path for PyTorch models, using Torch-MLIR-style lowering</a:t>
            </a:r>
            <a:endParaRPr sz="2200"/>
          </a:p>
          <a:p>
            <a:pPr indent="-368300" lvl="0" marL="457200" rtl="0" algn="l">
              <a:lnSpc>
                <a:spcPct val="115000"/>
              </a:lnSpc>
              <a:spcBef>
                <a:spcPts val="0"/>
              </a:spcBef>
              <a:spcAft>
                <a:spcPts val="0"/>
              </a:spcAft>
              <a:buSzPts val="2200"/>
              <a:buChar char="•"/>
            </a:pPr>
            <a:r>
              <a:rPr lang="en-US" sz="2200" u="sng">
                <a:solidFill>
                  <a:schemeClr val="hlink"/>
                </a:solidFill>
                <a:hlinkClick r:id="rId6"/>
              </a:rPr>
              <a:t>https://github.com/pytorch/TensorRT</a:t>
            </a:r>
            <a:endParaRPr sz="2200"/>
          </a:p>
          <a:p>
            <a:pPr indent="-368300" lvl="1" marL="914400" rtl="0" algn="l">
              <a:lnSpc>
                <a:spcPct val="115000"/>
              </a:lnSpc>
              <a:spcBef>
                <a:spcPts val="0"/>
              </a:spcBef>
              <a:spcAft>
                <a:spcPts val="0"/>
              </a:spcAft>
              <a:buSzPts val="2200"/>
              <a:buChar char="•"/>
            </a:pPr>
            <a:r>
              <a:rPr lang="en-US" sz="2200"/>
              <a:t>compiler for NVIDIA GPUs</a:t>
            </a:r>
            <a:endParaRPr sz="2200"/>
          </a:p>
          <a:p>
            <a:pPr indent="-368300" lvl="0" marL="457200" rtl="0" algn="l">
              <a:lnSpc>
                <a:spcPct val="115000"/>
              </a:lnSpc>
              <a:spcBef>
                <a:spcPts val="0"/>
              </a:spcBef>
              <a:spcAft>
                <a:spcPts val="0"/>
              </a:spcAft>
              <a:buSzPts val="2200"/>
              <a:buChar char="•"/>
            </a:pPr>
            <a:r>
              <a:rPr lang="en-US" sz="2200" u="sng">
                <a:solidFill>
                  <a:schemeClr val="hlink"/>
                </a:solidFill>
                <a:hlinkClick r:id="rId7"/>
              </a:rPr>
              <a:t>https://docs.openvino.ai/torchcompile</a:t>
            </a:r>
            <a:r>
              <a:rPr lang="en-US" sz="2200"/>
              <a:t> </a:t>
            </a:r>
            <a:endParaRPr sz="2200"/>
          </a:p>
          <a:p>
            <a:pPr indent="-368300" lvl="1" marL="914400" rtl="0" algn="l">
              <a:lnSpc>
                <a:spcPct val="115000"/>
              </a:lnSpc>
              <a:spcBef>
                <a:spcPts val="0"/>
              </a:spcBef>
              <a:spcAft>
                <a:spcPts val="0"/>
              </a:spcAft>
              <a:buSzPts val="2200"/>
              <a:buChar char="•"/>
            </a:pPr>
            <a:r>
              <a:rPr lang="en-US" sz="2200"/>
              <a:t>for Intel CPU/GPU/NPU deployment</a:t>
            </a:r>
            <a:endParaRPr sz="2200"/>
          </a:p>
          <a:p>
            <a:pPr indent="-368300" lvl="0" marL="457200" rtl="0" algn="l">
              <a:lnSpc>
                <a:spcPct val="115000"/>
              </a:lnSpc>
              <a:spcBef>
                <a:spcPts val="0"/>
              </a:spcBef>
              <a:spcAft>
                <a:spcPts val="0"/>
              </a:spcAft>
              <a:buSzPts val="2200"/>
              <a:buChar char="•"/>
            </a:pPr>
            <a:r>
              <a:rPr lang="en-US" sz="2200" u="sng">
                <a:solidFill>
                  <a:schemeClr val="hlink"/>
                </a:solidFill>
                <a:hlinkClick r:id="rId8"/>
              </a:rPr>
              <a:t>https://github.com/pytorch/xla</a:t>
            </a:r>
            <a:r>
              <a:rPr lang="en-US" sz="2200"/>
              <a:t> </a:t>
            </a:r>
            <a:endParaRPr sz="2200"/>
          </a:p>
          <a:p>
            <a:pPr indent="-368300" lvl="1" marL="914400" rtl="0" algn="l">
              <a:spcBef>
                <a:spcPts val="0"/>
              </a:spcBef>
              <a:spcAft>
                <a:spcPts val="0"/>
              </a:spcAft>
              <a:buSzPts val="2200"/>
              <a:buChar char="•"/>
            </a:pPr>
            <a:r>
              <a:rPr lang="en-US" sz="2200"/>
              <a:t>XLA, mainly for Google TPU and XLA devices</a:t>
            </a:r>
            <a:endParaRPr sz="2200"/>
          </a:p>
        </p:txBody>
      </p:sp>
      <p:pic>
        <p:nvPicPr>
          <p:cNvPr id="345" name="Google Shape;345;g3d6016f1f31_0_18"/>
          <p:cNvPicPr preferRelativeResize="0"/>
          <p:nvPr/>
        </p:nvPicPr>
        <p:blipFill>
          <a:blip r:embed="rId9">
            <a:alphaModFix/>
          </a:blip>
          <a:stretch>
            <a:fillRect/>
          </a:stretch>
        </p:blipFill>
        <p:spPr>
          <a:xfrm>
            <a:off x="8504274" y="2298324"/>
            <a:ext cx="3315450" cy="733850"/>
          </a:xfrm>
          <a:prstGeom prst="rect">
            <a:avLst/>
          </a:prstGeom>
          <a:noFill/>
          <a:ln>
            <a:noFill/>
          </a:ln>
        </p:spPr>
      </p:pic>
      <p:pic>
        <p:nvPicPr>
          <p:cNvPr id="346" name="Google Shape;346;g3d6016f1f31_0_18"/>
          <p:cNvPicPr preferRelativeResize="0"/>
          <p:nvPr/>
        </p:nvPicPr>
        <p:blipFill>
          <a:blip r:embed="rId10">
            <a:alphaModFix/>
          </a:blip>
          <a:stretch>
            <a:fillRect/>
          </a:stretch>
        </p:blipFill>
        <p:spPr>
          <a:xfrm>
            <a:off x="10703400" y="3317037"/>
            <a:ext cx="497900" cy="474075"/>
          </a:xfrm>
          <a:prstGeom prst="rect">
            <a:avLst/>
          </a:prstGeom>
          <a:noFill/>
          <a:ln>
            <a:noFill/>
          </a:ln>
        </p:spPr>
      </p:pic>
      <p:pic>
        <p:nvPicPr>
          <p:cNvPr id="347" name="Google Shape;347;g3d6016f1f31_0_18"/>
          <p:cNvPicPr preferRelativeResize="0"/>
          <p:nvPr/>
        </p:nvPicPr>
        <p:blipFill>
          <a:blip r:embed="rId11">
            <a:alphaModFix/>
          </a:blip>
          <a:stretch>
            <a:fillRect/>
          </a:stretch>
        </p:blipFill>
        <p:spPr>
          <a:xfrm>
            <a:off x="7805674" y="3806500"/>
            <a:ext cx="3135168" cy="1453075"/>
          </a:xfrm>
          <a:prstGeom prst="rect">
            <a:avLst/>
          </a:prstGeom>
          <a:noFill/>
          <a:ln>
            <a:noFill/>
          </a:ln>
        </p:spPr>
      </p:pic>
      <p:sp>
        <p:nvSpPr>
          <p:cNvPr id="348" name="Google Shape;348;g3d6016f1f31_0_18"/>
          <p:cNvSpPr txBox="1"/>
          <p:nvPr/>
        </p:nvSpPr>
        <p:spPr>
          <a:xfrm>
            <a:off x="10683025" y="3679150"/>
            <a:ext cx="573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dk1"/>
                </a:solidFill>
                <a:latin typeface="Calibri"/>
                <a:ea typeface="Calibri"/>
                <a:cs typeface="Calibri"/>
                <a:sym typeface="Calibri"/>
              </a:rPr>
              <a:t>IREE</a:t>
            </a:r>
            <a:endParaRPr sz="1600">
              <a:solidFill>
                <a:schemeClr val="dk1"/>
              </a:solidFill>
              <a:latin typeface="Calibri"/>
              <a:ea typeface="Calibri"/>
              <a:cs typeface="Calibri"/>
              <a:sym typeface="Calibri"/>
            </a:endParaRPr>
          </a:p>
        </p:txBody>
      </p:sp>
      <p:pic>
        <p:nvPicPr>
          <p:cNvPr id="349" name="Google Shape;349;g3d6016f1f31_0_18"/>
          <p:cNvPicPr preferRelativeResize="0"/>
          <p:nvPr/>
        </p:nvPicPr>
        <p:blipFill>
          <a:blip r:embed="rId12">
            <a:alphaModFix/>
          </a:blip>
          <a:stretch>
            <a:fillRect/>
          </a:stretch>
        </p:blipFill>
        <p:spPr>
          <a:xfrm>
            <a:off x="7232050" y="4690125"/>
            <a:ext cx="1772976" cy="1772976"/>
          </a:xfrm>
          <a:prstGeom prst="rect">
            <a:avLst/>
          </a:prstGeom>
          <a:noFill/>
          <a:ln>
            <a:noFill/>
          </a:ln>
        </p:spPr>
      </p:pic>
      <p:pic>
        <p:nvPicPr>
          <p:cNvPr id="350" name="Google Shape;350;g3d6016f1f31_0_18"/>
          <p:cNvPicPr preferRelativeResize="0"/>
          <p:nvPr/>
        </p:nvPicPr>
        <p:blipFill>
          <a:blip r:embed="rId13">
            <a:alphaModFix/>
          </a:blip>
          <a:stretch>
            <a:fillRect/>
          </a:stretch>
        </p:blipFill>
        <p:spPr>
          <a:xfrm>
            <a:off x="8812650" y="5820900"/>
            <a:ext cx="2698701" cy="907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dc35a4ca61_0_0"/>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Triton</a:t>
            </a:r>
            <a:endParaRPr/>
          </a:p>
        </p:txBody>
      </p:sp>
      <p:sp>
        <p:nvSpPr>
          <p:cNvPr id="357" name="Google Shape;357;g3dc35a4ca61_0_0"/>
          <p:cNvSpPr txBox="1"/>
          <p:nvPr>
            <p:ph idx="1" type="body"/>
          </p:nvPr>
        </p:nvSpPr>
        <p:spPr>
          <a:xfrm>
            <a:off x="571375" y="1615167"/>
            <a:ext cx="4528500" cy="2736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1800"/>
              <a:t>Triton is a Python-based language and compiler for writing high-performance GPU kernels without writing CUDA (or other GPU code) directly</a:t>
            </a:r>
            <a:endParaRPr sz="1800"/>
          </a:p>
          <a:p>
            <a:pPr indent="0" lvl="0" marL="0" rtl="0" algn="l">
              <a:spcBef>
                <a:spcPts val="1000"/>
              </a:spcBef>
              <a:spcAft>
                <a:spcPts val="0"/>
              </a:spcAft>
              <a:buNone/>
            </a:pPr>
            <a:r>
              <a:rPr lang="en-US" sz="1800"/>
              <a:t>It serves DSL and compiler for custom GPU kernels</a:t>
            </a:r>
            <a:endParaRPr sz="1800"/>
          </a:p>
          <a:p>
            <a:pPr indent="0" lvl="0" marL="0" rtl="0" algn="l">
              <a:spcBef>
                <a:spcPts val="1000"/>
              </a:spcBef>
              <a:spcAft>
                <a:spcPts val="0"/>
              </a:spcAft>
              <a:buNone/>
            </a:pPr>
            <a:r>
              <a:rPr lang="en-US" sz="1800"/>
              <a:t>Goal: Make high-performance GPU kernel programming more accessible</a:t>
            </a:r>
            <a:endParaRPr sz="1800"/>
          </a:p>
          <a:p>
            <a:pPr indent="0" lvl="0" marL="0" rtl="0" algn="l">
              <a:spcBef>
                <a:spcPts val="1000"/>
              </a:spcBef>
              <a:spcAft>
                <a:spcPts val="0"/>
              </a:spcAft>
              <a:buNone/>
            </a:pPr>
            <a:r>
              <a:rPr lang="en-US" sz="1800"/>
              <a:t>LLVM </a:t>
            </a:r>
            <a:r>
              <a:rPr lang="en-US" sz="1800"/>
              <a:t>and</a:t>
            </a:r>
            <a:r>
              <a:rPr lang="en-US" sz="1800"/>
              <a:t> MLIR are under the hood</a:t>
            </a:r>
            <a:endParaRPr sz="1800"/>
          </a:p>
        </p:txBody>
      </p:sp>
      <p:sp>
        <p:nvSpPr>
          <p:cNvPr id="358" name="Google Shape;358;g3dc35a4ca61_0_0"/>
          <p:cNvSpPr txBox="1"/>
          <p:nvPr/>
        </p:nvSpPr>
        <p:spPr>
          <a:xfrm>
            <a:off x="8800767" y="-77725"/>
            <a:ext cx="3498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3"/>
              </a:rPr>
              <a:t>https://www.singlestore.com/blog/a-guide-to-softmax-activation-function/</a:t>
            </a:r>
            <a:r>
              <a:rPr lang="en-US"/>
              <a:t> </a:t>
            </a:r>
            <a:endParaRPr/>
          </a:p>
          <a:p>
            <a:pPr indent="0" lvl="0" marL="0" rtl="0" algn="l">
              <a:spcBef>
                <a:spcPts val="0"/>
              </a:spcBef>
              <a:spcAft>
                <a:spcPts val="0"/>
              </a:spcAft>
              <a:buNone/>
            </a:pPr>
            <a:r>
              <a:rPr lang="en-US" u="sng">
                <a:solidFill>
                  <a:schemeClr val="hlink"/>
                </a:solidFill>
                <a:hlinkClick r:id="rId4"/>
              </a:rPr>
              <a:t>https://openai.com/index/triton/</a:t>
            </a:r>
            <a:r>
              <a:rPr lang="en-US"/>
              <a:t> </a:t>
            </a:r>
            <a:endParaRPr/>
          </a:p>
          <a:p>
            <a:pPr indent="0" lvl="0" marL="0" rtl="0" algn="l">
              <a:spcBef>
                <a:spcPts val="0"/>
              </a:spcBef>
              <a:spcAft>
                <a:spcPts val="0"/>
              </a:spcAft>
              <a:buNone/>
            </a:pPr>
            <a:r>
              <a:rPr lang="en-US" u="sng">
                <a:solidFill>
                  <a:schemeClr val="hlink"/>
                </a:solidFill>
                <a:hlinkClick r:id="rId5"/>
              </a:rPr>
              <a:t>https://triton-lang.org/main/index.html</a:t>
            </a:r>
            <a:r>
              <a:rPr lang="en-US"/>
              <a:t> </a:t>
            </a:r>
            <a:endParaRPr/>
          </a:p>
        </p:txBody>
      </p:sp>
      <p:sp>
        <p:nvSpPr>
          <p:cNvPr id="359" name="Google Shape;359;g3dc35a4ca61_0_0"/>
          <p:cNvSpPr txBox="1"/>
          <p:nvPr/>
        </p:nvSpPr>
        <p:spPr>
          <a:xfrm>
            <a:off x="5099800" y="174850"/>
            <a:ext cx="7092300" cy="6003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a:solidFill>
                  <a:srgbClr val="AF00DB"/>
                </a:solidFill>
                <a:highlight>
                  <a:srgbClr val="FFFFFF"/>
                </a:highlight>
                <a:latin typeface="Consolas"/>
                <a:ea typeface="Consolas"/>
                <a:cs typeface="Consolas"/>
                <a:sym typeface="Consolas"/>
              </a:rPr>
              <a:t>import</a:t>
            </a:r>
            <a:r>
              <a:rPr lang="en-US">
                <a:solidFill>
                  <a:schemeClr val="dk1"/>
                </a:solidFill>
                <a:highlight>
                  <a:srgbClr val="FFFFFF"/>
                </a:highlight>
                <a:latin typeface="Consolas"/>
                <a:ea typeface="Consolas"/>
                <a:cs typeface="Consolas"/>
                <a:sym typeface="Consolas"/>
              </a:rPr>
              <a:t> </a:t>
            </a:r>
            <a:r>
              <a:rPr lang="en-US">
                <a:solidFill>
                  <a:srgbClr val="267F99"/>
                </a:solidFill>
                <a:highlight>
                  <a:srgbClr val="FFFFFF"/>
                </a:highlight>
                <a:latin typeface="Consolas"/>
                <a:ea typeface="Consolas"/>
                <a:cs typeface="Consolas"/>
                <a:sym typeface="Consolas"/>
              </a:rPr>
              <a:t>triton</a:t>
            </a:r>
            <a:endParaRPr>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AF00DB"/>
                </a:solidFill>
                <a:highlight>
                  <a:srgbClr val="FFFFFF"/>
                </a:highlight>
                <a:latin typeface="Consolas"/>
                <a:ea typeface="Consolas"/>
                <a:cs typeface="Consolas"/>
                <a:sym typeface="Consolas"/>
              </a:rPr>
              <a:t>import</a:t>
            </a:r>
            <a:r>
              <a:rPr lang="en-US">
                <a:solidFill>
                  <a:schemeClr val="dk1"/>
                </a:solidFill>
                <a:highlight>
                  <a:srgbClr val="FFFFFF"/>
                </a:highlight>
                <a:latin typeface="Consolas"/>
                <a:ea typeface="Consolas"/>
                <a:cs typeface="Consolas"/>
                <a:sym typeface="Consolas"/>
              </a:rPr>
              <a:t> triton.language </a:t>
            </a:r>
            <a:r>
              <a:rPr lang="en-US">
                <a:solidFill>
                  <a:srgbClr val="AF00DB"/>
                </a:solidFill>
                <a:highlight>
                  <a:srgbClr val="FFFFFF"/>
                </a:highlight>
                <a:latin typeface="Consolas"/>
                <a:ea typeface="Consolas"/>
                <a:cs typeface="Consolas"/>
                <a:sym typeface="Consolas"/>
              </a:rPr>
              <a:t>as</a:t>
            </a:r>
            <a:r>
              <a:rPr lang="en-US">
                <a:solidFill>
                  <a:schemeClr val="dk1"/>
                </a:solidFill>
                <a:highlight>
                  <a:srgbClr val="FFFFFF"/>
                </a:highlight>
                <a:latin typeface="Consolas"/>
                <a:ea typeface="Consolas"/>
                <a:cs typeface="Consolas"/>
                <a:sym typeface="Consolas"/>
              </a:rPr>
              <a:t> </a:t>
            </a:r>
            <a:r>
              <a:rPr lang="en-US">
                <a:solidFill>
                  <a:srgbClr val="267F99"/>
                </a:solidFill>
                <a:highlight>
                  <a:srgbClr val="FFFFFF"/>
                </a:highlight>
                <a:latin typeface="Consolas"/>
                <a:ea typeface="Consolas"/>
                <a:cs typeface="Consolas"/>
                <a:sym typeface="Consolas"/>
              </a:rPr>
              <a:t>tl</a:t>
            </a:r>
            <a:endParaRPr>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795E26"/>
                </a:solidFill>
                <a:highlight>
                  <a:srgbClr val="FFFFFF"/>
                </a:highlight>
                <a:latin typeface="Consolas"/>
                <a:ea typeface="Consolas"/>
                <a:cs typeface="Consolas"/>
                <a:sym typeface="Consolas"/>
              </a:rPr>
              <a:t>@</a:t>
            </a:r>
            <a:r>
              <a:rPr lang="en-US">
                <a:solidFill>
                  <a:srgbClr val="267F99"/>
                </a:solidFill>
                <a:highlight>
                  <a:srgbClr val="FFFFFF"/>
                </a:highlight>
                <a:latin typeface="Consolas"/>
                <a:ea typeface="Consolas"/>
                <a:cs typeface="Consolas"/>
                <a:sym typeface="Consolas"/>
              </a:rPr>
              <a:t>triton</a:t>
            </a:r>
            <a:r>
              <a:rPr lang="en-US">
                <a:solidFill>
                  <a:srgbClr val="795E26"/>
                </a:solidFill>
                <a:highlight>
                  <a:srgbClr val="FFFFFF"/>
                </a:highlight>
                <a:latin typeface="Consolas"/>
                <a:ea typeface="Consolas"/>
                <a:cs typeface="Consolas"/>
                <a:sym typeface="Consolas"/>
              </a:rPr>
              <a:t>.jit</a:t>
            </a:r>
            <a:endParaRPr>
              <a:solidFill>
                <a:srgbClr val="795E26"/>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00FF"/>
                </a:solidFill>
                <a:highlight>
                  <a:srgbClr val="FFFFFF"/>
                </a:highlight>
                <a:latin typeface="Consolas"/>
                <a:ea typeface="Consolas"/>
                <a:cs typeface="Consolas"/>
                <a:sym typeface="Consolas"/>
              </a:rPr>
              <a:t>def</a:t>
            </a:r>
            <a:r>
              <a:rPr lang="en-US">
                <a:solidFill>
                  <a:schemeClr val="dk1"/>
                </a:solidFill>
                <a:highlight>
                  <a:srgbClr val="FFFFFF"/>
                </a:highlight>
                <a:latin typeface="Consolas"/>
                <a:ea typeface="Consolas"/>
                <a:cs typeface="Consolas"/>
                <a:sym typeface="Consolas"/>
              </a:rPr>
              <a:t> </a:t>
            </a:r>
            <a:r>
              <a:rPr lang="en-US">
                <a:solidFill>
                  <a:srgbClr val="795E26"/>
                </a:solidFill>
                <a:highlight>
                  <a:srgbClr val="FFFFFF"/>
                </a:highlight>
                <a:latin typeface="Consolas"/>
                <a:ea typeface="Consolas"/>
                <a:cs typeface="Consolas"/>
                <a:sym typeface="Consolas"/>
              </a:rPr>
              <a:t>softmax</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stride_ym</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stride_yn</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stride_xm</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stride_xn</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M</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BLOCK_SIZE</a:t>
            </a:r>
            <a:r>
              <a:rPr lang="en-US">
                <a:solidFill>
                  <a:schemeClr val="dk1"/>
                </a:solidFill>
                <a:highlight>
                  <a:srgbClr val="FFFFFF"/>
                </a:highlight>
                <a:latin typeface="Consolas"/>
                <a:ea typeface="Consolas"/>
                <a:cs typeface="Consolas"/>
                <a:sym typeface="Consolas"/>
              </a:rPr>
              <a:t>: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.constexpr):</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m</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.program_id(</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.arange(</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BLOCK_SIZE</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m</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stride_xm</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stride_xn</a:t>
            </a:r>
            <a:endParaRPr>
              <a:solidFill>
                <a:srgbClr val="00108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.load(</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mask</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&lt; </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other</a:t>
            </a:r>
            <a:r>
              <a:rPr lang="en-US">
                <a:solidFill>
                  <a:schemeClr val="dk1"/>
                </a:solidFill>
                <a:highlight>
                  <a:srgbClr val="FFFFFF"/>
                </a:highlight>
                <a:latin typeface="Consolas"/>
                <a:ea typeface="Consolas"/>
                <a:cs typeface="Consolas"/>
                <a:sym typeface="Consolas"/>
              </a:rPr>
              <a:t>=-</a:t>
            </a:r>
            <a:r>
              <a:rPr lang="en-US">
                <a:solidFill>
                  <a:srgbClr val="267F99"/>
                </a:solidFill>
                <a:highlight>
                  <a:srgbClr val="FFFFFF"/>
                </a:highlight>
                <a:latin typeface="Consolas"/>
                <a:ea typeface="Consolas"/>
                <a:cs typeface="Consolas"/>
                <a:sym typeface="Consolas"/>
              </a:rPr>
              <a:t>float</a:t>
            </a:r>
            <a:r>
              <a:rPr lang="en-US">
                <a:solidFill>
                  <a:schemeClr val="dk1"/>
                </a:solidFill>
                <a:highlight>
                  <a:srgbClr val="FFFFFF"/>
                </a:highlight>
                <a:latin typeface="Consolas"/>
                <a:ea typeface="Consolas"/>
                <a:cs typeface="Consolas"/>
                <a:sym typeface="Consolas"/>
              </a:rPr>
              <a:t>(</a:t>
            </a:r>
            <a:r>
              <a:rPr lang="en-US">
                <a:solidFill>
                  <a:srgbClr val="A31515"/>
                </a:solidFill>
                <a:highlight>
                  <a:srgbClr val="FFFFFF"/>
                </a:highlight>
                <a:latin typeface="Consolas"/>
                <a:ea typeface="Consolas"/>
                <a:cs typeface="Consolas"/>
                <a:sym typeface="Consolas"/>
              </a:rPr>
              <a:t>'inf'</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z</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.max(</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axis</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num</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.exp(</a:t>
            </a:r>
            <a:r>
              <a:rPr lang="en-US">
                <a:solidFill>
                  <a:srgbClr val="001080"/>
                </a:solidFill>
                <a:highlight>
                  <a:srgbClr val="FFFFFF"/>
                </a:highlight>
                <a:latin typeface="Consolas"/>
                <a:ea typeface="Consolas"/>
                <a:cs typeface="Consolas"/>
                <a:sym typeface="Consolas"/>
              </a:rPr>
              <a:t>z</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denom</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.sum(</a:t>
            </a:r>
            <a:r>
              <a:rPr lang="en-US">
                <a:solidFill>
                  <a:srgbClr val="001080"/>
                </a:solidFill>
                <a:highlight>
                  <a:srgbClr val="FFFFFF"/>
                </a:highlight>
                <a:latin typeface="Consolas"/>
                <a:ea typeface="Consolas"/>
                <a:cs typeface="Consolas"/>
                <a:sym typeface="Consolas"/>
              </a:rPr>
              <a:t>num</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axis</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num</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denom</a:t>
            </a:r>
            <a:endParaRPr>
              <a:solidFill>
                <a:srgbClr val="00108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m</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stride_ym</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stride_yn</a:t>
            </a:r>
            <a:endParaRPr>
              <a:solidFill>
                <a:srgbClr val="00108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.store(</a:t>
            </a:r>
            <a:r>
              <a:rPr lang="en-US">
                <a:solidFill>
                  <a:srgbClr val="001080"/>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mask</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&lt; </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AF00DB"/>
                </a:solidFill>
                <a:highlight>
                  <a:srgbClr val="FFFFFF"/>
                </a:highlight>
                <a:latin typeface="Consolas"/>
                <a:ea typeface="Consolas"/>
                <a:cs typeface="Consolas"/>
                <a:sym typeface="Consolas"/>
              </a:rPr>
              <a:t>import</a:t>
            </a:r>
            <a:r>
              <a:rPr lang="en-US">
                <a:solidFill>
                  <a:schemeClr val="dk1"/>
                </a:solidFill>
                <a:highlight>
                  <a:srgbClr val="FFFFFF"/>
                </a:highlight>
                <a:latin typeface="Consolas"/>
                <a:ea typeface="Consolas"/>
                <a:cs typeface="Consolas"/>
                <a:sym typeface="Consolas"/>
              </a:rPr>
              <a:t> </a:t>
            </a:r>
            <a:r>
              <a:rPr lang="en-US">
                <a:solidFill>
                  <a:srgbClr val="267F99"/>
                </a:solidFill>
                <a:highlight>
                  <a:srgbClr val="FFFFFF"/>
                </a:highlight>
                <a:latin typeface="Consolas"/>
                <a:ea typeface="Consolas"/>
                <a:cs typeface="Consolas"/>
                <a:sym typeface="Consolas"/>
              </a:rPr>
              <a:t>torch</a:t>
            </a:r>
            <a:endParaRPr>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8000"/>
                </a:solidFill>
                <a:highlight>
                  <a:srgbClr val="FFFFFF"/>
                </a:highlight>
                <a:latin typeface="Consolas"/>
                <a:ea typeface="Consolas"/>
                <a:cs typeface="Consolas"/>
                <a:sym typeface="Consolas"/>
              </a:rPr>
              <a:t># Allocate input/output tensors</a:t>
            </a:r>
            <a:endParaRPr>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torch</a:t>
            </a:r>
            <a:r>
              <a:rPr lang="en-US">
                <a:solidFill>
                  <a:schemeClr val="dk1"/>
                </a:solidFill>
                <a:highlight>
                  <a:srgbClr val="FFFFFF"/>
                </a:highlight>
                <a:latin typeface="Consolas"/>
                <a:ea typeface="Consolas"/>
                <a:cs typeface="Consolas"/>
                <a:sym typeface="Consolas"/>
              </a:rPr>
              <a:t>.</a:t>
            </a:r>
            <a:r>
              <a:rPr lang="en-US">
                <a:solidFill>
                  <a:srgbClr val="795E26"/>
                </a:solidFill>
                <a:highlight>
                  <a:srgbClr val="FFFFFF"/>
                </a:highlight>
                <a:latin typeface="Consolas"/>
                <a:ea typeface="Consolas"/>
                <a:cs typeface="Consolas"/>
                <a:sym typeface="Consolas"/>
              </a:rPr>
              <a:t>normal</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 </a:t>
            </a:r>
            <a:r>
              <a:rPr lang="en-US">
                <a:solidFill>
                  <a:srgbClr val="098658"/>
                </a:solidFill>
                <a:highlight>
                  <a:srgbClr val="FFFFFF"/>
                </a:highlight>
                <a:latin typeface="Consolas"/>
                <a:ea typeface="Consolas"/>
                <a:cs typeface="Consolas"/>
                <a:sym typeface="Consolas"/>
              </a:rPr>
              <a:t>1</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size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583</a:t>
            </a:r>
            <a:r>
              <a:rPr lang="en-US">
                <a:solidFill>
                  <a:schemeClr val="dk1"/>
                </a:solidFill>
                <a:highlight>
                  <a:srgbClr val="FFFFFF"/>
                </a:highlight>
                <a:latin typeface="Consolas"/>
                <a:ea typeface="Consolas"/>
                <a:cs typeface="Consolas"/>
                <a:sym typeface="Consolas"/>
              </a:rPr>
              <a:t>, </a:t>
            </a:r>
            <a:r>
              <a:rPr lang="en-US">
                <a:solidFill>
                  <a:srgbClr val="098658"/>
                </a:solidFill>
                <a:highlight>
                  <a:srgbClr val="FFFFFF"/>
                </a:highlight>
                <a:latin typeface="Consolas"/>
                <a:ea typeface="Consolas"/>
                <a:cs typeface="Consolas"/>
                <a:sym typeface="Consolas"/>
              </a:rPr>
              <a:t>931</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device</a:t>
            </a:r>
            <a:r>
              <a:rPr lang="en-US">
                <a:solidFill>
                  <a:schemeClr val="dk1"/>
                </a:solidFill>
                <a:highlight>
                  <a:srgbClr val="FFFFFF"/>
                </a:highlight>
                <a:latin typeface="Consolas"/>
                <a:ea typeface="Consolas"/>
                <a:cs typeface="Consolas"/>
                <a:sym typeface="Consolas"/>
              </a:rPr>
              <a:t>=</a:t>
            </a:r>
            <a:r>
              <a:rPr lang="en-US">
                <a:solidFill>
                  <a:srgbClr val="A31515"/>
                </a:solidFill>
                <a:highlight>
                  <a:srgbClr val="FFFFFF"/>
                </a:highlight>
                <a:latin typeface="Consolas"/>
                <a:ea typeface="Consolas"/>
                <a:cs typeface="Consolas"/>
                <a:sym typeface="Consolas"/>
              </a:rPr>
              <a:t>'cuda'</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70C1"/>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torch</a:t>
            </a:r>
            <a:r>
              <a:rPr lang="en-US">
                <a:solidFill>
                  <a:schemeClr val="dk1"/>
                </a:solidFill>
                <a:highlight>
                  <a:srgbClr val="FFFFFF"/>
                </a:highlight>
                <a:latin typeface="Consolas"/>
                <a:ea typeface="Consolas"/>
                <a:cs typeface="Consolas"/>
                <a:sym typeface="Consolas"/>
              </a:rPr>
              <a:t>.</a:t>
            </a:r>
            <a:r>
              <a:rPr lang="en-US">
                <a:solidFill>
                  <a:srgbClr val="795E26"/>
                </a:solidFill>
                <a:highlight>
                  <a:srgbClr val="FFFFFF"/>
                </a:highlight>
                <a:latin typeface="Consolas"/>
                <a:ea typeface="Consolas"/>
                <a:cs typeface="Consolas"/>
                <a:sym typeface="Consolas"/>
              </a:rPr>
              <a:t>empty_like</a:t>
            </a:r>
            <a:r>
              <a:rPr lang="en-US">
                <a:solidFill>
                  <a:schemeClr val="dk1"/>
                </a:solidFill>
                <a:highlight>
                  <a:srgbClr val="FFFFFF"/>
                </a:highlight>
                <a:latin typeface="Consolas"/>
                <a:ea typeface="Consolas"/>
                <a:cs typeface="Consolas"/>
                <a:sym typeface="Consolas"/>
              </a:rPr>
              <a:t>(</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8000"/>
                </a:solidFill>
                <a:highlight>
                  <a:srgbClr val="FFFFFF"/>
                </a:highlight>
                <a:latin typeface="Consolas"/>
                <a:ea typeface="Consolas"/>
                <a:cs typeface="Consolas"/>
                <a:sym typeface="Consolas"/>
              </a:rPr>
              <a:t># SPMD launch grid</a:t>
            </a:r>
            <a:endParaRPr>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1080"/>
                </a:solidFill>
                <a:highlight>
                  <a:srgbClr val="FFFFFF"/>
                </a:highlight>
                <a:latin typeface="Consolas"/>
                <a:ea typeface="Consolas"/>
                <a:cs typeface="Consolas"/>
                <a:sym typeface="Consolas"/>
              </a:rPr>
              <a:t>grid</a:t>
            </a:r>
            <a:r>
              <a:rPr lang="en-US">
                <a:solidFill>
                  <a:schemeClr val="dk1"/>
                </a:solidFill>
                <a:highlight>
                  <a:srgbClr val="FFFFFF"/>
                </a:highlight>
                <a:latin typeface="Consolas"/>
                <a:ea typeface="Consolas"/>
                <a:cs typeface="Consolas"/>
                <a:sym typeface="Consolas"/>
              </a:rPr>
              <a:t> = (</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shape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 )</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8000"/>
                </a:solidFill>
                <a:highlight>
                  <a:srgbClr val="FFFFFF"/>
                </a:highlight>
                <a:latin typeface="Consolas"/>
                <a:ea typeface="Consolas"/>
                <a:cs typeface="Consolas"/>
                <a:sym typeface="Consolas"/>
              </a:rPr>
              <a:t># enqueue GPU kernel</a:t>
            </a:r>
            <a:endParaRPr>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795E26"/>
                </a:solidFill>
                <a:highlight>
                  <a:srgbClr val="FFFFFF"/>
                </a:highlight>
                <a:latin typeface="Consolas"/>
                <a:ea typeface="Consolas"/>
                <a:cs typeface="Consolas"/>
                <a:sym typeface="Consolas"/>
              </a:rPr>
              <a:t>softmax</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grid</a:t>
            </a:r>
            <a:r>
              <a:rPr lang="en-US">
                <a:solidFill>
                  <a:schemeClr val="dk1"/>
                </a:solidFill>
                <a:highlight>
                  <a:srgbClr val="FFFFFF"/>
                </a:highlight>
                <a:latin typeface="Consolas"/>
                <a:ea typeface="Consolas"/>
                <a:cs typeface="Consolas"/>
                <a:sym typeface="Consolas"/>
              </a:rPr>
              <a:t>](</a:t>
            </a:r>
            <a:r>
              <a:rPr lang="en-US">
                <a:solidFill>
                  <a:srgbClr val="0070C1"/>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a:t>
            </a:r>
            <a:r>
              <a:rPr lang="en-US">
                <a:solidFill>
                  <a:srgbClr val="0070C1"/>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a:t>
            </a:r>
            <a:r>
              <a:rPr lang="en-US">
                <a:solidFill>
                  <a:srgbClr val="795E26"/>
                </a:solidFill>
                <a:highlight>
                  <a:srgbClr val="FFFFFF"/>
                </a:highlight>
                <a:latin typeface="Consolas"/>
                <a:ea typeface="Consolas"/>
                <a:cs typeface="Consolas"/>
                <a:sym typeface="Consolas"/>
              </a:rPr>
              <a:t>stride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 </a:t>
            </a:r>
            <a:r>
              <a:rPr lang="en-US">
                <a:solidFill>
                  <a:srgbClr val="0070C1"/>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a:t>
            </a:r>
            <a:r>
              <a:rPr lang="en-US">
                <a:solidFill>
                  <a:srgbClr val="795E26"/>
                </a:solidFill>
                <a:highlight>
                  <a:srgbClr val="FFFFFF"/>
                </a:highlight>
                <a:latin typeface="Consolas"/>
                <a:ea typeface="Consolas"/>
                <a:cs typeface="Consolas"/>
                <a:sym typeface="Consolas"/>
              </a:rPr>
              <a:t>stride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1</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a:t>
            </a:r>
            <a:r>
              <a:rPr lang="en-US">
                <a:solidFill>
                  <a:srgbClr val="795E26"/>
                </a:solidFill>
                <a:highlight>
                  <a:srgbClr val="FFFFFF"/>
                </a:highlight>
                <a:latin typeface="Consolas"/>
                <a:ea typeface="Consolas"/>
                <a:cs typeface="Consolas"/>
                <a:sym typeface="Consolas"/>
              </a:rPr>
              <a:t>stride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 </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a:t>
            </a:r>
            <a:r>
              <a:rPr lang="en-US">
                <a:solidFill>
                  <a:srgbClr val="795E26"/>
                </a:solidFill>
                <a:highlight>
                  <a:srgbClr val="FFFFFF"/>
                </a:highlight>
                <a:latin typeface="Consolas"/>
                <a:ea typeface="Consolas"/>
                <a:cs typeface="Consolas"/>
                <a:sym typeface="Consolas"/>
              </a:rPr>
              <a:t>stride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1</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shape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    , </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shape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1</a:t>
            </a:r>
            <a:r>
              <a:rPr lang="en-US">
                <a:solidFill>
                  <a:schemeClr val="dk1"/>
                </a:solidFill>
                <a:highlight>
                  <a:srgbClr val="FFFFFF"/>
                </a:highlight>
                <a:latin typeface="Consolas"/>
                <a:ea typeface="Consolas"/>
                <a:cs typeface="Consolas"/>
                <a:sym typeface="Consolas"/>
              </a:rPr>
              <a:t>],  </a:t>
            </a:r>
            <a:r>
              <a:rPr lang="en-US">
                <a:solidFill>
                  <a:srgbClr val="098658"/>
                </a:solidFill>
                <a:highlight>
                  <a:srgbClr val="FFFFFF"/>
                </a:highlight>
                <a:latin typeface="Consolas"/>
                <a:ea typeface="Consolas"/>
                <a:cs typeface="Consolas"/>
                <a:sym typeface="Consolas"/>
              </a:rPr>
              <a:t>1024</a:t>
            </a:r>
            <a:r>
              <a:rPr lang="en-US">
                <a:solidFill>
                  <a:schemeClr val="dk1"/>
                </a:solidFill>
                <a:highlight>
                  <a:srgbClr val="FFFFFF"/>
                </a:highlight>
                <a:latin typeface="Consolas"/>
                <a:ea typeface="Consolas"/>
                <a:cs typeface="Consolas"/>
                <a:sym typeface="Consolas"/>
              </a:rPr>
              <a:t>)</a:t>
            </a:r>
            <a:endParaRPr>
              <a:solidFill>
                <a:srgbClr val="AF00DB"/>
              </a:solidFill>
              <a:latin typeface="Consolas"/>
              <a:ea typeface="Consolas"/>
              <a:cs typeface="Consolas"/>
              <a:sym typeface="Consolas"/>
            </a:endParaRPr>
          </a:p>
        </p:txBody>
      </p:sp>
      <p:pic>
        <p:nvPicPr>
          <p:cNvPr id="360" name="Google Shape;360;g3dc35a4ca61_0_0"/>
          <p:cNvPicPr preferRelativeResize="0"/>
          <p:nvPr/>
        </p:nvPicPr>
        <p:blipFill>
          <a:blip r:embed="rId6">
            <a:alphaModFix/>
          </a:blip>
          <a:stretch>
            <a:fillRect/>
          </a:stretch>
        </p:blipFill>
        <p:spPr>
          <a:xfrm>
            <a:off x="736525" y="4371025"/>
            <a:ext cx="3382175" cy="2370425"/>
          </a:xfrm>
          <a:prstGeom prst="rect">
            <a:avLst/>
          </a:prstGeom>
          <a:noFill/>
          <a:ln>
            <a:noFill/>
          </a:ln>
        </p:spPr>
      </p:pic>
      <p:sp>
        <p:nvSpPr>
          <p:cNvPr id="361" name="Google Shape;361;g3dc35a4ca61_0_0"/>
          <p:cNvSpPr/>
          <p:nvPr/>
        </p:nvSpPr>
        <p:spPr>
          <a:xfrm>
            <a:off x="1223950" y="6197450"/>
            <a:ext cx="602400" cy="495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362" name="Google Shape;362;g3dc35a4ca61_0_0"/>
          <p:cNvCxnSpPr>
            <a:endCxn id="361" idx="3"/>
          </p:cNvCxnSpPr>
          <p:nvPr/>
        </p:nvCxnSpPr>
        <p:spPr>
          <a:xfrm flipH="1">
            <a:off x="1826350" y="5993600"/>
            <a:ext cx="1981500" cy="451500"/>
          </a:xfrm>
          <a:prstGeom prst="straightConnector1">
            <a:avLst/>
          </a:prstGeom>
          <a:noFill/>
          <a:ln cap="flat" cmpd="sng" w="38100">
            <a:solidFill>
              <a:srgbClr val="FF0000"/>
            </a:solidFill>
            <a:prstDash val="solid"/>
            <a:round/>
            <a:headEnd len="med" w="med" type="none"/>
            <a:tailEnd len="med" w="med" type="triangle"/>
          </a:ln>
        </p:spPr>
      </p:cxnSp>
      <p:grpSp>
        <p:nvGrpSpPr>
          <p:cNvPr id="363" name="Google Shape;363;g3dc35a4ca61_0_0"/>
          <p:cNvGrpSpPr/>
          <p:nvPr/>
        </p:nvGrpSpPr>
        <p:grpSpPr>
          <a:xfrm>
            <a:off x="7003600" y="6412738"/>
            <a:ext cx="5188500" cy="445275"/>
            <a:chOff x="289925" y="5611838"/>
            <a:chExt cx="5188500" cy="445275"/>
          </a:xfrm>
        </p:grpSpPr>
        <p:sp>
          <p:nvSpPr>
            <p:cNvPr id="364" name="Google Shape;364;g3dc35a4ca61_0_0"/>
            <p:cNvSpPr/>
            <p:nvPr/>
          </p:nvSpPr>
          <p:spPr>
            <a:xfrm>
              <a:off x="289925" y="5611850"/>
              <a:ext cx="51885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solidFill>
                  <a:srgbClr val="000000"/>
                </a:solidFill>
              </a:endParaRPr>
            </a:p>
          </p:txBody>
        </p:sp>
        <p:pic>
          <p:nvPicPr>
            <p:cNvPr id="365" name="Google Shape;365;g3dc35a4ca61_0_0"/>
            <p:cNvPicPr preferRelativeResize="0"/>
            <p:nvPr/>
          </p:nvPicPr>
          <p:blipFill>
            <a:blip r:embed="rId7">
              <a:alphaModFix/>
            </a:blip>
            <a:stretch>
              <a:fillRect/>
            </a:stretch>
          </p:blipFill>
          <p:spPr>
            <a:xfrm>
              <a:off x="289925" y="5611838"/>
              <a:ext cx="445275" cy="445275"/>
            </a:xfrm>
            <a:prstGeom prst="rect">
              <a:avLst/>
            </a:prstGeom>
            <a:noFill/>
            <a:ln>
              <a:noFill/>
            </a:ln>
          </p:spPr>
        </p:pic>
        <p:sp>
          <p:nvSpPr>
            <p:cNvPr id="366" name="Google Shape;366;g3dc35a4ca61_0_0"/>
            <p:cNvSpPr/>
            <p:nvPr/>
          </p:nvSpPr>
          <p:spPr>
            <a:xfrm>
              <a:off x="777375" y="5611850"/>
              <a:ext cx="47010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000000"/>
                </a:buClr>
                <a:buSzPts val="2400"/>
                <a:buFont typeface="Arial"/>
                <a:buNone/>
              </a:pPr>
              <a:r>
                <a:rPr lang="en-US" sz="2400" u="sng">
                  <a:solidFill>
                    <a:schemeClr val="hlink"/>
                  </a:solidFill>
                  <a:hlinkClick r:id="rId8"/>
                </a:rPr>
                <a:t>https://godbolt.org/z/fc37Edob6</a:t>
              </a:r>
              <a:r>
                <a:rPr lang="en-US" sz="2400"/>
                <a:t> </a:t>
              </a:r>
              <a:endParaRPr sz="2400"/>
            </a:p>
          </p:txBody>
        </p:sp>
      </p:grpSp>
      <p:pic>
        <p:nvPicPr>
          <p:cNvPr id="367" name="Google Shape;367;g3dc35a4ca61_0_0"/>
          <p:cNvPicPr preferRelativeResize="0"/>
          <p:nvPr/>
        </p:nvPicPr>
        <p:blipFill>
          <a:blip r:embed="rId9">
            <a:alphaModFix/>
          </a:blip>
          <a:stretch>
            <a:fillRect/>
          </a:stretch>
        </p:blipFill>
        <p:spPr>
          <a:xfrm>
            <a:off x="2331425" y="0"/>
            <a:ext cx="2768450" cy="1687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3dc35a4ca61_0_67"/>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Python interpreter &lt;-&gt; built-in modules &amp; functions</a:t>
            </a:r>
            <a:endParaRPr/>
          </a:p>
        </p:txBody>
      </p:sp>
      <p:pic>
        <p:nvPicPr>
          <p:cNvPr id="373" name="Google Shape;373;g3dc35a4ca61_0_67"/>
          <p:cNvPicPr preferRelativeResize="0"/>
          <p:nvPr/>
        </p:nvPicPr>
        <p:blipFill rotWithShape="1">
          <a:blip r:embed="rId3">
            <a:alphaModFix/>
          </a:blip>
          <a:srcRect b="0" l="0" r="0" t="0"/>
          <a:stretch/>
        </p:blipFill>
        <p:spPr>
          <a:xfrm>
            <a:off x="2431772" y="1582400"/>
            <a:ext cx="7862326" cy="46386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dc35a4ca61_0_77"/>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Python AST Parser</a:t>
            </a:r>
            <a:endParaRPr/>
          </a:p>
        </p:txBody>
      </p:sp>
      <p:sp>
        <p:nvSpPr>
          <p:cNvPr id="379" name="Google Shape;379;g3dc35a4ca61_0_77"/>
          <p:cNvSpPr txBox="1"/>
          <p:nvPr>
            <p:ph idx="1" type="body"/>
          </p:nvPr>
        </p:nvSpPr>
        <p:spPr>
          <a:xfrm>
            <a:off x="571375" y="1673450"/>
            <a:ext cx="6145800" cy="5043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r>
              <a:rPr lang="en-US" sz="1900">
                <a:latin typeface="Consolas"/>
                <a:ea typeface="Consolas"/>
                <a:cs typeface="Consolas"/>
                <a:sym typeface="Consolas"/>
              </a:rPr>
              <a:t>python3 -m ast --help</a:t>
            </a:r>
            <a:endParaRPr sz="1900">
              <a:latin typeface="Consolas"/>
              <a:ea typeface="Consolas"/>
              <a:cs typeface="Consolas"/>
              <a:sym typeface="Consolas"/>
            </a:endParaRPr>
          </a:p>
          <a:p>
            <a:pPr indent="0" lvl="0" marL="0" rtl="0" algn="l">
              <a:lnSpc>
                <a:spcPct val="100000"/>
              </a:lnSpc>
              <a:spcBef>
                <a:spcPts val="1200"/>
              </a:spcBef>
              <a:spcAft>
                <a:spcPts val="0"/>
              </a:spcAft>
              <a:buNone/>
            </a:pPr>
            <a:r>
              <a:rPr lang="en-US" sz="1900">
                <a:latin typeface="Consolas"/>
                <a:ea typeface="Consolas"/>
                <a:cs typeface="Consolas"/>
                <a:sym typeface="Consolas"/>
              </a:rPr>
              <a:t>ast.parse("def sum(a, b): return a + b")</a:t>
            </a:r>
            <a:endParaRPr sz="1900">
              <a:latin typeface="Consolas"/>
              <a:ea typeface="Consolas"/>
              <a:cs typeface="Consolas"/>
              <a:sym typeface="Consolas"/>
            </a:endParaRPr>
          </a:p>
          <a:p>
            <a:pPr indent="0" lvl="0" marL="0" rtl="0" algn="l">
              <a:lnSpc>
                <a:spcPct val="100000"/>
              </a:lnSpc>
              <a:spcBef>
                <a:spcPts val="1200"/>
              </a:spcBef>
              <a:spcAft>
                <a:spcPts val="0"/>
              </a:spcAft>
              <a:buNone/>
            </a:pPr>
            <a:r>
              <a:rPr lang="en-US"/>
              <a:t>Classes and methods:</a:t>
            </a:r>
            <a:endParaRPr/>
          </a:p>
          <a:p>
            <a:pPr indent="-342900" lvl="0" marL="457200" rtl="0" algn="l">
              <a:lnSpc>
                <a:spcPct val="100000"/>
              </a:lnSpc>
              <a:spcBef>
                <a:spcPts val="1200"/>
              </a:spcBef>
              <a:spcAft>
                <a:spcPts val="0"/>
              </a:spcAft>
              <a:buSzPts val="1800"/>
              <a:buChar char="•"/>
            </a:pPr>
            <a:r>
              <a:rPr lang="en-US" sz="1800">
                <a:latin typeface="Consolas"/>
                <a:ea typeface="Consolas"/>
                <a:cs typeface="Consolas"/>
                <a:sym typeface="Consolas"/>
              </a:rPr>
              <a:t>ast.NodeVisitor</a:t>
            </a:r>
            <a:r>
              <a:rPr lang="en-US" sz="1800"/>
              <a:t> - base class to walk AST in read-only mode</a:t>
            </a:r>
            <a:endParaRPr sz="1800"/>
          </a:p>
          <a:p>
            <a:pPr indent="-342900" lvl="0" marL="457200" rtl="0" algn="l">
              <a:lnSpc>
                <a:spcPct val="100000"/>
              </a:lnSpc>
              <a:spcBef>
                <a:spcPts val="0"/>
              </a:spcBef>
              <a:spcAft>
                <a:spcPts val="0"/>
              </a:spcAft>
              <a:buSzPts val="1800"/>
              <a:buChar char="•"/>
            </a:pPr>
            <a:r>
              <a:rPr lang="en-US" sz="1800">
                <a:latin typeface="Consolas"/>
                <a:ea typeface="Consolas"/>
                <a:cs typeface="Consolas"/>
                <a:sym typeface="Consolas"/>
              </a:rPr>
              <a:t>ast.NodeTransformer</a:t>
            </a:r>
            <a:r>
              <a:rPr lang="en-US" sz="1800"/>
              <a:t> - base class to walk AST to replace/remove nodes</a:t>
            </a:r>
            <a:endParaRPr sz="1800"/>
          </a:p>
          <a:p>
            <a:pPr indent="-342900" lvl="0" marL="457200" rtl="0" algn="l">
              <a:lnSpc>
                <a:spcPct val="100000"/>
              </a:lnSpc>
              <a:spcBef>
                <a:spcPts val="0"/>
              </a:spcBef>
              <a:spcAft>
                <a:spcPts val="0"/>
              </a:spcAft>
              <a:buSzPts val="1800"/>
              <a:buFont typeface="Calibri"/>
              <a:buChar char="•"/>
            </a:pPr>
            <a:r>
              <a:rPr lang="en-US" sz="1800">
                <a:latin typeface="Consolas"/>
                <a:ea typeface="Consolas"/>
                <a:cs typeface="Consolas"/>
                <a:sym typeface="Consolas"/>
              </a:rPr>
              <a:t>ast.walk()</a:t>
            </a:r>
            <a:r>
              <a:rPr lang="en-US" sz="1800"/>
              <a:t> - walk without Visitor pattern</a:t>
            </a:r>
            <a:endParaRPr sz="1800"/>
          </a:p>
          <a:p>
            <a:pPr indent="-342900" lvl="0" marL="457200" rtl="0" algn="l">
              <a:lnSpc>
                <a:spcPct val="100000"/>
              </a:lnSpc>
              <a:spcBef>
                <a:spcPts val="0"/>
              </a:spcBef>
              <a:spcAft>
                <a:spcPts val="0"/>
              </a:spcAft>
              <a:buSzPts val="1800"/>
              <a:buFont typeface="Calibri"/>
              <a:buChar char="•"/>
            </a:pPr>
            <a:r>
              <a:rPr lang="en-US" sz="1800">
                <a:latin typeface="Consolas"/>
                <a:ea typeface="Consolas"/>
                <a:cs typeface="Consolas"/>
                <a:sym typeface="Consolas"/>
              </a:rPr>
              <a:t>ast.literal_eval() / eval()</a:t>
            </a:r>
            <a:r>
              <a:rPr lang="en-US" sz="1800"/>
              <a:t> - evaluate AST</a:t>
            </a:r>
            <a:endParaRPr sz="1800"/>
          </a:p>
          <a:p>
            <a:pPr indent="-342900" lvl="0" marL="457200" rtl="0" algn="l">
              <a:lnSpc>
                <a:spcPct val="100000"/>
              </a:lnSpc>
              <a:spcBef>
                <a:spcPts val="0"/>
              </a:spcBef>
              <a:spcAft>
                <a:spcPts val="0"/>
              </a:spcAft>
              <a:buSzPts val="1800"/>
              <a:buFont typeface="Calibri"/>
              <a:buChar char="•"/>
            </a:pPr>
            <a:r>
              <a:rPr lang="en-US" sz="1800">
                <a:latin typeface="Consolas"/>
                <a:ea typeface="Consolas"/>
                <a:cs typeface="Consolas"/>
                <a:sym typeface="Consolas"/>
              </a:rPr>
              <a:t>ast.unparse()</a:t>
            </a:r>
            <a:r>
              <a:rPr lang="en-US" sz="1800"/>
              <a:t> – useful for decompiler or obfuscator</a:t>
            </a:r>
            <a:endParaRPr sz="1800"/>
          </a:p>
        </p:txBody>
      </p:sp>
      <p:sp>
        <p:nvSpPr>
          <p:cNvPr id="380" name="Google Shape;380;g3dc35a4ca61_0_77"/>
          <p:cNvSpPr txBox="1"/>
          <p:nvPr/>
        </p:nvSpPr>
        <p:spPr>
          <a:xfrm>
            <a:off x="7133825" y="763975"/>
            <a:ext cx="50583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onsolas"/>
                <a:ea typeface="Consolas"/>
                <a:cs typeface="Consolas"/>
                <a:sym typeface="Consolas"/>
              </a:rPr>
              <a:t>$ python3</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Python 3.14.3 (main, Feb  3 2026, 15:32:20) [Clang 17.0.0 (clang-1700.6.3.2)] on darwin</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Type "help", "copyright", "credits" or "license" for more information.</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&gt;&gt;&gt; import ast</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&gt;&gt;&gt; a = ast.parse("def sum(a, b): return a + b")</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&gt;&gt;&gt; a</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Module(body=[FunctionDef(name='sum', args=arguments(posonlyargs=[], args=[arg(...), arg(...)], vararg=None, kwonlyargs=[], kw_defaults=[], kwarg=None, defaults=[]), body=[Return(value=BinOp(...))], decorator_list=[], returns=None, type_comment=None, type_params=[])], type_ignores=[])</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&gt;&gt;&gt; ast.unparse(a)</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'def sum(a, b):\n    return a + b'</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dc35a4ca61_0_36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Python Virtual Machine</a:t>
            </a:r>
            <a:endParaRPr/>
          </a:p>
        </p:txBody>
      </p:sp>
      <p:sp>
        <p:nvSpPr>
          <p:cNvPr id="387" name="Google Shape;387;g3dc35a4ca61_0_361"/>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Python source code is first compiled into bytecode</a:t>
            </a:r>
            <a:endParaRPr/>
          </a:p>
          <a:p>
            <a:pPr indent="-342900" lvl="0" marL="457200" rtl="0" algn="l">
              <a:spcBef>
                <a:spcPts val="0"/>
              </a:spcBef>
              <a:spcAft>
                <a:spcPts val="0"/>
              </a:spcAft>
              <a:buSzPts val="1800"/>
              <a:buChar char="•"/>
            </a:pPr>
            <a:r>
              <a:rPr lang="en-US"/>
              <a:t>Bytecode is a low-level, platform-independent instruction format</a:t>
            </a:r>
            <a:endParaRPr/>
          </a:p>
          <a:p>
            <a:pPr indent="-342900" lvl="0" marL="457200" rtl="0" algn="l">
              <a:spcBef>
                <a:spcPts val="0"/>
              </a:spcBef>
              <a:spcAft>
                <a:spcPts val="0"/>
              </a:spcAft>
              <a:buSzPts val="1800"/>
              <a:buChar char="•"/>
            </a:pPr>
            <a:r>
              <a:rPr lang="en-US"/>
              <a:t>The Python Virtual Machine executes this bytecode</a:t>
            </a:r>
            <a:endParaRPr/>
          </a:p>
          <a:p>
            <a:pPr indent="-342900" lvl="0" marL="457200" rtl="0" algn="l">
              <a:spcBef>
                <a:spcPts val="0"/>
              </a:spcBef>
              <a:spcAft>
                <a:spcPts val="0"/>
              </a:spcAft>
              <a:buSzPts val="1800"/>
              <a:buChar char="•"/>
            </a:pPr>
            <a:r>
              <a:rPr lang="en-US"/>
              <a:t>In CPython, the VM is an interpreter written mostly in C</a:t>
            </a:r>
            <a:endParaRPr/>
          </a:p>
          <a:p>
            <a:pPr indent="-342900" lvl="0" marL="457200" rtl="0" algn="l">
              <a:spcBef>
                <a:spcPts val="0"/>
              </a:spcBef>
              <a:spcAft>
                <a:spcPts val="0"/>
              </a:spcAft>
              <a:buSzPts val="1800"/>
              <a:buChar char="•"/>
            </a:pPr>
            <a:r>
              <a:rPr lang="en-US"/>
              <a:t>Execution is stack-based (like JVM): bytecode instructions push and pop values from a virtual stack</a:t>
            </a:r>
            <a:endParaRPr/>
          </a:p>
        </p:txBody>
      </p:sp>
      <p:pic>
        <p:nvPicPr>
          <p:cNvPr id="388" name="Google Shape;388;g3dc35a4ca61_0_361"/>
          <p:cNvPicPr preferRelativeResize="0"/>
          <p:nvPr/>
        </p:nvPicPr>
        <p:blipFill rotWithShape="1">
          <a:blip r:embed="rId3">
            <a:alphaModFix/>
          </a:blip>
          <a:srcRect b="0" l="0" r="0" t="0"/>
          <a:stretch/>
        </p:blipFill>
        <p:spPr>
          <a:xfrm>
            <a:off x="609730" y="4178531"/>
            <a:ext cx="6581775" cy="2181225"/>
          </a:xfrm>
          <a:prstGeom prst="rect">
            <a:avLst/>
          </a:prstGeom>
          <a:noFill/>
          <a:ln>
            <a:noFill/>
          </a:ln>
        </p:spPr>
      </p:pic>
      <p:pic>
        <p:nvPicPr>
          <p:cNvPr id="389" name="Google Shape;389;g3dc35a4ca61_0_361"/>
          <p:cNvPicPr preferRelativeResize="0"/>
          <p:nvPr/>
        </p:nvPicPr>
        <p:blipFill rotWithShape="1">
          <a:blip r:embed="rId4">
            <a:alphaModFix/>
          </a:blip>
          <a:srcRect b="0" l="0" r="0" t="0"/>
          <a:stretch/>
        </p:blipFill>
        <p:spPr>
          <a:xfrm>
            <a:off x="6368562" y="5735502"/>
            <a:ext cx="4648200" cy="1143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3dc35a4ca61_0_87"/>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Python bytecode (IR)</a:t>
            </a:r>
            <a:endParaRPr/>
          </a:p>
        </p:txBody>
      </p:sp>
      <p:sp>
        <p:nvSpPr>
          <p:cNvPr id="395" name="Google Shape;395;g3dc35a4ca61_0_87"/>
          <p:cNvSpPr txBox="1"/>
          <p:nvPr>
            <p:ph idx="1" type="body"/>
          </p:nvPr>
        </p:nvSpPr>
        <p:spPr>
          <a:xfrm>
            <a:off x="571370" y="1523999"/>
            <a:ext cx="11010900" cy="4575000"/>
          </a:xfrm>
          <a:prstGeom prst="rect">
            <a:avLst/>
          </a:prstGeom>
          <a:noFill/>
          <a:ln>
            <a:noFill/>
          </a:ln>
        </p:spPr>
        <p:txBody>
          <a:bodyPr anchorCtr="0" anchor="t" bIns="0" lIns="0" spcFirstLastPara="1" rIns="0" wrap="square" tIns="0">
            <a:normAutofit/>
          </a:bodyPr>
          <a:lstStyle/>
          <a:p>
            <a:pPr indent="-342900" lvl="0" marL="457200" rtl="0" algn="l">
              <a:lnSpc>
                <a:spcPct val="100000"/>
              </a:lnSpc>
              <a:spcBef>
                <a:spcPts val="0"/>
              </a:spcBef>
              <a:spcAft>
                <a:spcPts val="0"/>
              </a:spcAft>
              <a:buSzPts val="1800"/>
              <a:buChar char="•"/>
            </a:pPr>
            <a:r>
              <a:rPr lang="en-US"/>
              <a:t>As any IR it has 3 forms:</a:t>
            </a:r>
            <a:endParaRPr/>
          </a:p>
          <a:p>
            <a:pPr indent="-342900" lvl="1" marL="914400" rtl="0" algn="l">
              <a:lnSpc>
                <a:spcPct val="100000"/>
              </a:lnSpc>
              <a:spcBef>
                <a:spcPts val="0"/>
              </a:spcBef>
              <a:spcAft>
                <a:spcPts val="0"/>
              </a:spcAft>
              <a:buSzPts val="1800"/>
              <a:buChar char="•"/>
            </a:pPr>
            <a:r>
              <a:rPr lang="en-US"/>
              <a:t>Byte-code itself: </a:t>
            </a:r>
            <a:r>
              <a:rPr b="1" lang="en-US"/>
              <a:t>*.pyc</a:t>
            </a:r>
            <a:r>
              <a:rPr lang="en-US"/>
              <a:t> file content or code_object</a:t>
            </a:r>
            <a:r>
              <a:rPr b="1" lang="en-US"/>
              <a:t>.co_code</a:t>
            </a:r>
            <a:endParaRPr b="1"/>
          </a:p>
          <a:p>
            <a:pPr indent="-342900" lvl="1" marL="914400" rtl="0" algn="l">
              <a:lnSpc>
                <a:spcPct val="100000"/>
              </a:lnSpc>
              <a:spcBef>
                <a:spcPts val="0"/>
              </a:spcBef>
              <a:spcAft>
                <a:spcPts val="0"/>
              </a:spcAft>
              <a:buSzPts val="1800"/>
              <a:buChar char="•"/>
            </a:pPr>
            <a:r>
              <a:rPr lang="en-US"/>
              <a:t>In-memory representation: </a:t>
            </a:r>
            <a:r>
              <a:rPr b="1" lang="en-US"/>
              <a:t>code_object = compile(…)</a:t>
            </a:r>
            <a:endParaRPr/>
          </a:p>
          <a:p>
            <a:pPr indent="-342900" lvl="1" marL="914400" rtl="0" algn="l">
              <a:lnSpc>
                <a:spcPct val="100000"/>
              </a:lnSpc>
              <a:spcBef>
                <a:spcPts val="0"/>
              </a:spcBef>
              <a:spcAft>
                <a:spcPts val="0"/>
              </a:spcAft>
              <a:buSzPts val="1800"/>
              <a:buChar char="•"/>
            </a:pPr>
            <a:r>
              <a:rPr lang="en-US"/>
              <a:t>String representation: </a:t>
            </a:r>
            <a:r>
              <a:rPr b="1" lang="en-US"/>
              <a:t>import dis; dis.dis(code_object)</a:t>
            </a:r>
            <a:endParaRPr/>
          </a:p>
        </p:txBody>
      </p:sp>
      <p:pic>
        <p:nvPicPr>
          <p:cNvPr id="396" name="Google Shape;396;g3dc35a4ca61_0_87"/>
          <p:cNvPicPr preferRelativeResize="0"/>
          <p:nvPr/>
        </p:nvPicPr>
        <p:blipFill rotWithShape="1">
          <a:blip r:embed="rId3">
            <a:alphaModFix/>
          </a:blip>
          <a:srcRect b="0" l="0" r="0" t="0"/>
          <a:stretch/>
        </p:blipFill>
        <p:spPr>
          <a:xfrm>
            <a:off x="609730" y="3645131"/>
            <a:ext cx="6581775" cy="2181225"/>
          </a:xfrm>
          <a:prstGeom prst="rect">
            <a:avLst/>
          </a:prstGeom>
          <a:noFill/>
          <a:ln>
            <a:noFill/>
          </a:ln>
        </p:spPr>
      </p:pic>
      <p:pic>
        <p:nvPicPr>
          <p:cNvPr id="397" name="Google Shape;397;g3dc35a4ca61_0_87"/>
          <p:cNvPicPr preferRelativeResize="0"/>
          <p:nvPr/>
        </p:nvPicPr>
        <p:blipFill rotWithShape="1">
          <a:blip r:embed="rId4">
            <a:alphaModFix/>
          </a:blip>
          <a:srcRect b="0" l="0" r="0" t="0"/>
          <a:stretch/>
        </p:blipFill>
        <p:spPr>
          <a:xfrm>
            <a:off x="6368562" y="5202102"/>
            <a:ext cx="4648200" cy="1143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3dc35a4ca61_0_105"/>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JIT compiler for Python</a:t>
            </a:r>
            <a:endParaRPr/>
          </a:p>
        </p:txBody>
      </p:sp>
      <p:sp>
        <p:nvSpPr>
          <p:cNvPr id="403" name="Google Shape;403;g3dc35a4ca61_0_105"/>
          <p:cNvSpPr txBox="1"/>
          <p:nvPr>
            <p:ph idx="1" type="body"/>
          </p:nvPr>
        </p:nvSpPr>
        <p:spPr>
          <a:xfrm>
            <a:off x="571375" y="1673450"/>
            <a:ext cx="6145800" cy="4575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r>
              <a:rPr lang="en-US"/>
              <a:t>PyPy is a Python implemented in RPython as a JIT compiler</a:t>
            </a:r>
            <a:endParaRPr/>
          </a:p>
          <a:p>
            <a:pPr indent="-342900" lvl="0" marL="457200" rtl="0" algn="l">
              <a:lnSpc>
                <a:spcPct val="100000"/>
              </a:lnSpc>
              <a:spcBef>
                <a:spcPts val="1200"/>
              </a:spcBef>
              <a:spcAft>
                <a:spcPts val="0"/>
              </a:spcAft>
              <a:buSzPts val="1800"/>
              <a:buChar char="•"/>
            </a:pPr>
            <a:r>
              <a:rPr lang="en-US"/>
              <a:t>Provides g</a:t>
            </a:r>
            <a:r>
              <a:rPr lang="en-US"/>
              <a:t>ood compatibility for pure Python, but C-extension-heavy workloads remain problematic</a:t>
            </a:r>
            <a:endParaRPr/>
          </a:p>
          <a:p>
            <a:pPr indent="-342900" lvl="0" marL="457200" rtl="0" algn="l">
              <a:lnSpc>
                <a:spcPct val="100000"/>
              </a:lnSpc>
              <a:spcBef>
                <a:spcPts val="0"/>
              </a:spcBef>
              <a:spcAft>
                <a:spcPts val="0"/>
              </a:spcAft>
              <a:buSzPts val="1800"/>
              <a:buChar char="•"/>
            </a:pPr>
            <a:r>
              <a:rPr lang="en-US"/>
              <a:t>CPython 3.14 is stable (as of May 2026), while current PyPy targets only Python 3.11</a:t>
            </a:r>
            <a:endParaRPr/>
          </a:p>
          <a:p>
            <a:pPr indent="-342900" lvl="0" marL="457200" rtl="0" algn="l">
              <a:lnSpc>
                <a:spcPct val="100000"/>
              </a:lnSpc>
              <a:spcBef>
                <a:spcPts val="0"/>
              </a:spcBef>
              <a:spcAft>
                <a:spcPts val="0"/>
              </a:spcAft>
              <a:buSzPts val="1800"/>
              <a:buChar char="•"/>
            </a:pPr>
            <a:r>
              <a:rPr lang="en-US"/>
              <a:t>3 times faster on average comparing with CPython 3.11*</a:t>
            </a:r>
            <a:endParaRPr/>
          </a:p>
        </p:txBody>
      </p:sp>
      <p:sp>
        <p:nvSpPr>
          <p:cNvPr id="404" name="Google Shape;404;g3dc35a4ca61_0_105"/>
          <p:cNvSpPr txBox="1"/>
          <p:nvPr/>
        </p:nvSpPr>
        <p:spPr>
          <a:xfrm>
            <a:off x="9691800" y="6457800"/>
            <a:ext cx="250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3"/>
              </a:rPr>
              <a:t>https://github.com/pypy/pypy</a:t>
            </a:r>
            <a:r>
              <a:rPr lang="en-US"/>
              <a:t> </a:t>
            </a:r>
            <a:endParaRPr/>
          </a:p>
        </p:txBody>
      </p:sp>
      <p:sp>
        <p:nvSpPr>
          <p:cNvPr id="405" name="Google Shape;405;g3dc35a4ca61_0_105"/>
          <p:cNvSpPr txBox="1"/>
          <p:nvPr/>
        </p:nvSpPr>
        <p:spPr>
          <a:xfrm>
            <a:off x="615150" y="6498825"/>
            <a:ext cx="6717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numbers are workload dependent, may vary in different scenarios</a:t>
            </a:r>
            <a:endParaRPr sz="1800">
              <a:solidFill>
                <a:schemeClr val="dk1"/>
              </a:solidFill>
              <a:latin typeface="Calibri"/>
              <a:ea typeface="Calibri"/>
              <a:cs typeface="Calibri"/>
              <a:sym typeface="Calibri"/>
            </a:endParaRPr>
          </a:p>
        </p:txBody>
      </p:sp>
      <p:pic>
        <p:nvPicPr>
          <p:cNvPr id="406" name="Google Shape;406;g3dc35a4ca61_0_105"/>
          <p:cNvPicPr preferRelativeResize="0"/>
          <p:nvPr/>
        </p:nvPicPr>
        <p:blipFill>
          <a:blip r:embed="rId4">
            <a:alphaModFix/>
          </a:blip>
          <a:stretch>
            <a:fillRect/>
          </a:stretch>
        </p:blipFill>
        <p:spPr>
          <a:xfrm>
            <a:off x="6653900" y="1524000"/>
            <a:ext cx="5455149" cy="3506400"/>
          </a:xfrm>
          <a:prstGeom prst="rect">
            <a:avLst/>
          </a:prstGeom>
          <a:noFill/>
          <a:ln>
            <a:noFill/>
          </a:ln>
        </p:spPr>
      </p:pic>
      <p:sp>
        <p:nvSpPr>
          <p:cNvPr id="407" name="Google Shape;407;g3dc35a4ca61_0_105"/>
          <p:cNvSpPr txBox="1"/>
          <p:nvPr/>
        </p:nvSpPr>
        <p:spPr>
          <a:xfrm>
            <a:off x="8334375" y="5030400"/>
            <a:ext cx="200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5"/>
              </a:rPr>
              <a:t>https://speed.pypy.org/</a:t>
            </a:r>
            <a:r>
              <a:rPr lang="en-US"/>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3dc35a4ca61_0_110"/>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JIT compilers for Python functions</a:t>
            </a:r>
            <a:endParaRPr/>
          </a:p>
        </p:txBody>
      </p:sp>
      <p:sp>
        <p:nvSpPr>
          <p:cNvPr id="413" name="Google Shape;413;g3dc35a4ca61_0_110"/>
          <p:cNvSpPr txBox="1"/>
          <p:nvPr>
            <p:ph idx="1" type="body"/>
          </p:nvPr>
        </p:nvSpPr>
        <p:spPr>
          <a:xfrm>
            <a:off x="571375" y="1673450"/>
            <a:ext cx="7981200" cy="50535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None/>
            </a:pPr>
            <a:r>
              <a:rPr lang="en-US"/>
              <a:t>Numba</a:t>
            </a:r>
            <a:endParaRPr/>
          </a:p>
          <a:p>
            <a:pPr indent="-342900" lvl="0" marL="457200" rtl="0" algn="l">
              <a:lnSpc>
                <a:spcPct val="100000"/>
              </a:lnSpc>
              <a:spcBef>
                <a:spcPts val="0"/>
              </a:spcBef>
              <a:spcAft>
                <a:spcPts val="0"/>
              </a:spcAft>
              <a:buSzPts val="1800"/>
              <a:buChar char="•"/>
            </a:pPr>
            <a:r>
              <a:rPr lang="en-US"/>
              <a:t>JIT-compiles Python functions to machine code via LLVM</a:t>
            </a:r>
            <a:endParaRPr/>
          </a:p>
          <a:p>
            <a:pPr indent="-342900" lvl="0" marL="457200" rtl="0" algn="l">
              <a:lnSpc>
                <a:spcPct val="100000"/>
              </a:lnSpc>
              <a:spcBef>
                <a:spcPts val="0"/>
              </a:spcBef>
              <a:spcAft>
                <a:spcPts val="0"/>
              </a:spcAft>
              <a:buSzPts val="1800"/>
              <a:buChar char="•"/>
            </a:pPr>
            <a:r>
              <a:rPr lang="en-US"/>
              <a:t>Best for NumPy-heavy numerical code</a:t>
            </a:r>
            <a:endParaRPr/>
          </a:p>
          <a:p>
            <a:pPr indent="-342900" lvl="0" marL="457200" rtl="0" algn="l">
              <a:lnSpc>
                <a:spcPct val="100000"/>
              </a:lnSpc>
              <a:spcBef>
                <a:spcPts val="0"/>
              </a:spcBef>
              <a:spcAft>
                <a:spcPts val="0"/>
              </a:spcAft>
              <a:buSzPts val="1800"/>
              <a:buChar char="•"/>
            </a:pPr>
            <a:r>
              <a:rPr lang="en-US"/>
              <a:t>Supports CPU and some GPU targets, especially CUDA</a:t>
            </a:r>
            <a:endParaRPr/>
          </a:p>
          <a:p>
            <a:pPr indent="-342900" lvl="0" marL="457200" rtl="0" algn="l">
              <a:lnSpc>
                <a:spcPct val="100000"/>
              </a:lnSpc>
              <a:spcBef>
                <a:spcPts val="0"/>
              </a:spcBef>
              <a:spcAft>
                <a:spcPts val="0"/>
              </a:spcAft>
              <a:buSzPts val="1800"/>
              <a:buChar char="•"/>
            </a:pPr>
            <a:r>
              <a:rPr lang="en-US"/>
              <a:t>Minimal code changes: often just add </a:t>
            </a:r>
            <a:r>
              <a:rPr lang="en-US">
                <a:latin typeface="Consolas"/>
                <a:ea typeface="Consolas"/>
                <a:cs typeface="Consolas"/>
                <a:sym typeface="Consolas"/>
              </a:rPr>
              <a:t>@numba.jit</a:t>
            </a:r>
            <a:endParaRPr>
              <a:latin typeface="Consolas"/>
              <a:ea typeface="Consolas"/>
              <a:cs typeface="Consolas"/>
              <a:sym typeface="Consolas"/>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Taichi</a:t>
            </a:r>
            <a:endParaRPr/>
          </a:p>
          <a:p>
            <a:pPr indent="-342900" lvl="0" marL="457200" rtl="0" algn="l">
              <a:lnSpc>
                <a:spcPct val="100000"/>
              </a:lnSpc>
              <a:spcBef>
                <a:spcPts val="0"/>
              </a:spcBef>
              <a:spcAft>
                <a:spcPts val="0"/>
              </a:spcAft>
              <a:buSzPts val="1800"/>
              <a:buChar char="•"/>
            </a:pPr>
            <a:r>
              <a:rPr lang="en-US"/>
              <a:t>Python-embedded DSL for high-performance kernels</a:t>
            </a:r>
            <a:endParaRPr/>
          </a:p>
          <a:p>
            <a:pPr indent="-342900" lvl="0" marL="457200" rtl="0" algn="l">
              <a:lnSpc>
                <a:spcPct val="100000"/>
              </a:lnSpc>
              <a:spcBef>
                <a:spcPts val="0"/>
              </a:spcBef>
              <a:spcAft>
                <a:spcPts val="0"/>
              </a:spcAft>
              <a:buSzPts val="1800"/>
              <a:buChar char="•"/>
            </a:pPr>
            <a:r>
              <a:rPr lang="en-US"/>
              <a:t>Designed for parallel simulation, graphics, and numerical computing</a:t>
            </a:r>
            <a:endParaRPr/>
          </a:p>
          <a:p>
            <a:pPr indent="-342900" lvl="0" marL="457200" rtl="0" algn="l">
              <a:lnSpc>
                <a:spcPct val="100000"/>
              </a:lnSpc>
              <a:spcBef>
                <a:spcPts val="0"/>
              </a:spcBef>
              <a:spcAft>
                <a:spcPts val="0"/>
              </a:spcAft>
              <a:buSzPts val="1800"/>
              <a:buChar char="•"/>
            </a:pPr>
            <a:r>
              <a:rPr lang="en-US"/>
              <a:t>Targets CPU/GPU backends</a:t>
            </a:r>
            <a:endParaRPr/>
          </a:p>
        </p:txBody>
      </p:sp>
      <p:sp>
        <p:nvSpPr>
          <p:cNvPr id="414" name="Google Shape;414;g3dc35a4ca61_0_110"/>
          <p:cNvSpPr txBox="1"/>
          <p:nvPr/>
        </p:nvSpPr>
        <p:spPr>
          <a:xfrm>
            <a:off x="8741175" y="60920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3"/>
              </a:rPr>
              <a:t>https://www.taichi-lang.org/</a:t>
            </a:r>
            <a:r>
              <a:rPr lang="en-US"/>
              <a:t> </a:t>
            </a:r>
            <a:endParaRPr/>
          </a:p>
          <a:p>
            <a:pPr indent="0" lvl="0" marL="0" rtl="0" algn="l">
              <a:spcBef>
                <a:spcPts val="0"/>
              </a:spcBef>
              <a:spcAft>
                <a:spcPts val="0"/>
              </a:spcAft>
              <a:buNone/>
            </a:pPr>
            <a:r>
              <a:rPr lang="en-US" u="sng">
                <a:solidFill>
                  <a:schemeClr val="hlink"/>
                </a:solidFill>
                <a:hlinkClick r:id="rId4"/>
              </a:rPr>
              <a:t>https://github.com/taichi-dev/taichi</a:t>
            </a:r>
            <a:r>
              <a:rPr lang="en-US"/>
              <a:t> </a:t>
            </a:r>
            <a:endParaRPr/>
          </a:p>
        </p:txBody>
      </p:sp>
      <p:sp>
        <p:nvSpPr>
          <p:cNvPr id="415" name="Google Shape;415;g3dc35a4ca61_0_110"/>
          <p:cNvSpPr txBox="1"/>
          <p:nvPr/>
        </p:nvSpPr>
        <p:spPr>
          <a:xfrm>
            <a:off x="8646300" y="3482013"/>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5"/>
              </a:rPr>
              <a:t>https://numba.pydata.org/</a:t>
            </a:r>
            <a:r>
              <a:rPr lang="en-US"/>
              <a:t> </a:t>
            </a:r>
            <a:endParaRPr/>
          </a:p>
          <a:p>
            <a:pPr indent="0" lvl="0" marL="0" rtl="0" algn="l">
              <a:spcBef>
                <a:spcPts val="0"/>
              </a:spcBef>
              <a:spcAft>
                <a:spcPts val="0"/>
              </a:spcAft>
              <a:buNone/>
            </a:pPr>
            <a:r>
              <a:rPr lang="en-US" u="sng">
                <a:solidFill>
                  <a:schemeClr val="hlink"/>
                </a:solidFill>
                <a:hlinkClick r:id="rId6"/>
              </a:rPr>
              <a:t>https://github.com/numba/numba</a:t>
            </a:r>
            <a:r>
              <a:rPr lang="en-US"/>
              <a:t> </a:t>
            </a:r>
            <a:endParaRPr/>
          </a:p>
        </p:txBody>
      </p:sp>
      <p:pic>
        <p:nvPicPr>
          <p:cNvPr id="416" name="Google Shape;416;g3dc35a4ca61_0_110"/>
          <p:cNvPicPr preferRelativeResize="0"/>
          <p:nvPr/>
        </p:nvPicPr>
        <p:blipFill>
          <a:blip r:embed="rId7">
            <a:alphaModFix/>
          </a:blip>
          <a:stretch>
            <a:fillRect/>
          </a:stretch>
        </p:blipFill>
        <p:spPr>
          <a:xfrm>
            <a:off x="8786400" y="1455935"/>
            <a:ext cx="2859901" cy="2026079"/>
          </a:xfrm>
          <a:prstGeom prst="rect">
            <a:avLst/>
          </a:prstGeom>
          <a:noFill/>
          <a:ln>
            <a:noFill/>
          </a:ln>
        </p:spPr>
      </p:pic>
      <p:pic>
        <p:nvPicPr>
          <p:cNvPr id="417" name="Google Shape;417;g3dc35a4ca61_0_110"/>
          <p:cNvPicPr preferRelativeResize="0"/>
          <p:nvPr/>
        </p:nvPicPr>
        <p:blipFill>
          <a:blip r:embed="rId8">
            <a:alphaModFix/>
          </a:blip>
          <a:stretch>
            <a:fillRect/>
          </a:stretch>
        </p:blipFill>
        <p:spPr>
          <a:xfrm>
            <a:off x="8741175" y="4390800"/>
            <a:ext cx="2905126" cy="179971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g3dc35a4ca61_0_115"/>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Typical compilation pipeline (Numba)</a:t>
            </a:r>
            <a:endParaRPr/>
          </a:p>
        </p:txBody>
      </p:sp>
      <p:pic>
        <p:nvPicPr>
          <p:cNvPr id="423" name="Google Shape;423;g3dc35a4ca61_0_115"/>
          <p:cNvPicPr preferRelativeResize="0"/>
          <p:nvPr/>
        </p:nvPicPr>
        <p:blipFill rotWithShape="1">
          <a:blip r:embed="rId3">
            <a:alphaModFix/>
          </a:blip>
          <a:srcRect b="0" l="0" r="0" t="0"/>
          <a:stretch/>
        </p:blipFill>
        <p:spPr>
          <a:xfrm>
            <a:off x="609813" y="1312252"/>
            <a:ext cx="2819301" cy="4455502"/>
          </a:xfrm>
          <a:prstGeom prst="rect">
            <a:avLst/>
          </a:prstGeom>
          <a:noFill/>
          <a:ln>
            <a:noFill/>
          </a:ln>
        </p:spPr>
      </p:pic>
      <p:pic>
        <p:nvPicPr>
          <p:cNvPr id="424" name="Google Shape;424;g3dc35a4ca61_0_115"/>
          <p:cNvPicPr preferRelativeResize="0"/>
          <p:nvPr/>
        </p:nvPicPr>
        <p:blipFill rotWithShape="1">
          <a:blip r:embed="rId4">
            <a:alphaModFix/>
          </a:blip>
          <a:srcRect b="0" l="0" r="0" t="0"/>
          <a:stretch/>
        </p:blipFill>
        <p:spPr>
          <a:xfrm>
            <a:off x="10034043" y="533033"/>
            <a:ext cx="1548143" cy="5926016"/>
          </a:xfrm>
          <a:prstGeom prst="rect">
            <a:avLst/>
          </a:prstGeom>
          <a:noFill/>
          <a:ln>
            <a:noFill/>
          </a:ln>
        </p:spPr>
      </p:pic>
      <p:sp>
        <p:nvSpPr>
          <p:cNvPr id="425" name="Google Shape;425;g3dc35a4ca61_0_115"/>
          <p:cNvSpPr txBox="1"/>
          <p:nvPr/>
        </p:nvSpPr>
        <p:spPr>
          <a:xfrm>
            <a:off x="3641325" y="6459050"/>
            <a:ext cx="598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5"/>
              </a:rPr>
              <a:t>https://numba.pydata.org/numba-doc/dev/developer/architecture.html</a:t>
            </a:r>
            <a:r>
              <a:rPr lang="en-US"/>
              <a:t> </a:t>
            </a:r>
            <a:endParaRPr/>
          </a:p>
        </p:txBody>
      </p:sp>
      <p:pic>
        <p:nvPicPr>
          <p:cNvPr id="426" name="Google Shape;426;g3dc35a4ca61_0_115"/>
          <p:cNvPicPr preferRelativeResize="0"/>
          <p:nvPr/>
        </p:nvPicPr>
        <p:blipFill>
          <a:blip r:embed="rId6">
            <a:alphaModFix/>
          </a:blip>
          <a:stretch>
            <a:fillRect/>
          </a:stretch>
        </p:blipFill>
        <p:spPr>
          <a:xfrm>
            <a:off x="3581514" y="1676400"/>
            <a:ext cx="6300130" cy="2957355"/>
          </a:xfrm>
          <a:prstGeom prst="rect">
            <a:avLst/>
          </a:prstGeom>
          <a:noFill/>
          <a:ln>
            <a:noFill/>
          </a:ln>
        </p:spPr>
      </p:pic>
      <p:sp>
        <p:nvSpPr>
          <p:cNvPr id="427" name="Google Shape;427;g3dc35a4ca61_0_115"/>
          <p:cNvSpPr txBox="1"/>
          <p:nvPr/>
        </p:nvSpPr>
        <p:spPr>
          <a:xfrm>
            <a:off x="128975" y="5767750"/>
            <a:ext cx="5595300" cy="738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200">
                <a:solidFill>
                  <a:srgbClr val="222222"/>
                </a:solidFill>
                <a:highlight>
                  <a:srgbClr val="FFFFFF"/>
                </a:highlight>
                <a:latin typeface="Calibri"/>
                <a:ea typeface="Calibri"/>
                <a:cs typeface="Calibri"/>
                <a:sym typeface="Calibri"/>
              </a:rPr>
              <a:t>Saedi, Omid. "Towards Eco-Conscious Python: A Comparative Analysis of Performance, Energy Efficiency and Carbon Emissions Between CPython and Alternative Implementations." (2024).</a:t>
            </a:r>
            <a:endParaRPr sz="12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3dc35a4ca61_0_122"/>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Type inference for Python</a:t>
            </a:r>
            <a:endParaRPr/>
          </a:p>
        </p:txBody>
      </p:sp>
      <p:sp>
        <p:nvSpPr>
          <p:cNvPr id="433" name="Google Shape;433;g3dc35a4ca61_0_122"/>
          <p:cNvSpPr txBox="1"/>
          <p:nvPr>
            <p:ph idx="1" type="body"/>
          </p:nvPr>
        </p:nvSpPr>
        <p:spPr>
          <a:xfrm>
            <a:off x="571370" y="1673454"/>
            <a:ext cx="11010900" cy="4575000"/>
          </a:xfrm>
          <a:prstGeom prst="rect">
            <a:avLst/>
          </a:prstGeom>
          <a:noFill/>
          <a:ln>
            <a:noFill/>
          </a:ln>
        </p:spPr>
        <p:txBody>
          <a:bodyPr anchorCtr="0" anchor="t" bIns="0" lIns="0" spcFirstLastPara="1" rIns="0" wrap="square" tIns="0">
            <a:normAutofit/>
          </a:bodyPr>
          <a:lstStyle/>
          <a:p>
            <a:pPr indent="-342900" lvl="0" marL="457200" rtl="0" algn="l">
              <a:lnSpc>
                <a:spcPct val="100000"/>
              </a:lnSpc>
              <a:spcBef>
                <a:spcPts val="0"/>
              </a:spcBef>
              <a:spcAft>
                <a:spcPts val="0"/>
              </a:spcAft>
              <a:buSzPts val="1800"/>
              <a:buChar char="•"/>
            </a:pPr>
            <a:r>
              <a:rPr lang="en-US"/>
              <a:t>mypy + mypyC (transpiler to C)</a:t>
            </a:r>
            <a:endParaRPr/>
          </a:p>
          <a:p>
            <a:pPr indent="-342900" lvl="0" marL="457200" rtl="0" algn="l">
              <a:lnSpc>
                <a:spcPct val="100000"/>
              </a:lnSpc>
              <a:spcBef>
                <a:spcPts val="0"/>
              </a:spcBef>
              <a:spcAft>
                <a:spcPts val="0"/>
              </a:spcAft>
              <a:buSzPts val="1800"/>
              <a:buChar char="•"/>
            </a:pPr>
            <a:r>
              <a:rPr lang="en-US"/>
              <a:t>pytype (type hints are not necessary; by Google)</a:t>
            </a:r>
            <a:endParaRPr/>
          </a:p>
          <a:p>
            <a:pPr indent="-342900" lvl="0" marL="457200" rtl="0" algn="l">
              <a:lnSpc>
                <a:spcPct val="100000"/>
              </a:lnSpc>
              <a:spcBef>
                <a:spcPts val="0"/>
              </a:spcBef>
              <a:spcAft>
                <a:spcPts val="0"/>
              </a:spcAft>
              <a:buSzPts val="1800"/>
              <a:buChar char="•"/>
            </a:pPr>
            <a:r>
              <a:rPr lang="en-US"/>
              <a:t>pyright (type checker for VSCode; by Microsoft; written in TypeScript)</a:t>
            </a:r>
            <a:endParaRPr/>
          </a:p>
          <a:p>
            <a:pPr indent="0" lvl="0" marL="0" rtl="0" algn="l">
              <a:lnSpc>
                <a:spcPct val="100000"/>
              </a:lnSpc>
              <a:spcBef>
                <a:spcPts val="1200"/>
              </a:spcBef>
              <a:spcAft>
                <a:spcPts val="0"/>
              </a:spcAft>
              <a:buNone/>
            </a:pPr>
            <a:r>
              <a:t/>
            </a:r>
            <a:endParaRPr/>
          </a:p>
          <a:p>
            <a:pPr indent="0" lvl="0" marL="0" rtl="0" algn="l">
              <a:lnSpc>
                <a:spcPct val="100000"/>
              </a:lnSpc>
              <a:spcBef>
                <a:spcPts val="1200"/>
              </a:spcBef>
              <a:spcAft>
                <a:spcPts val="0"/>
              </a:spcAft>
              <a:buNone/>
            </a:pPr>
            <a:r>
              <a:rPr lang="en-US"/>
              <a:t>Python type hints are Turing-complete that means that full static checking/inference is undecidable</a:t>
            </a:r>
            <a:endParaRPr/>
          </a:p>
          <a:p>
            <a:pPr indent="0" lvl="0" marL="0" rtl="0" algn="l">
              <a:lnSpc>
                <a:spcPct val="100000"/>
              </a:lnSpc>
              <a:spcBef>
                <a:spcPts val="1200"/>
              </a:spcBef>
              <a:spcAft>
                <a:spcPts val="0"/>
              </a:spcAft>
              <a:buNone/>
            </a:pPr>
            <a:r>
              <a:rPr lang="en-US" u="sng">
                <a:solidFill>
                  <a:schemeClr val="hlink"/>
                </a:solidFill>
                <a:hlinkClick r:id="rId3"/>
              </a:rPr>
              <a:t>https://arxiv.org/pdf/2208.14755.pdf</a:t>
            </a:r>
            <a:endParaRPr/>
          </a:p>
          <a:p>
            <a:pPr indent="0" lvl="0" marL="0" rtl="0" algn="l">
              <a:lnSpc>
                <a:spcPct val="100000"/>
              </a:lnSpc>
              <a:spcBef>
                <a:spcPts val="1200"/>
              </a:spcBef>
              <a:spcAft>
                <a:spcPts val="0"/>
              </a:spcAft>
              <a:buNone/>
            </a:pPr>
            <a:r>
              <a:rPr lang="en-US"/>
              <a:t>mypy, pyright, pytype implement useful decidable approximations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dc35a4ca61_0_9"/>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Compilers evolution</a:t>
            </a:r>
            <a:endParaRPr/>
          </a:p>
        </p:txBody>
      </p:sp>
      <p:sp>
        <p:nvSpPr>
          <p:cNvPr id="440" name="Google Shape;440;g3dc35a4ca61_0_9"/>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Compiler are constantly evolving…</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Understanding compilers means understanding how modern software is built, optimized and adapted to run on the hardware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g35904ca52a9_0_110"/>
          <p:cNvSpPr txBox="1"/>
          <p:nvPr>
            <p:ph type="title"/>
          </p:nvPr>
        </p:nvSpPr>
        <p:spPr>
          <a:xfrm>
            <a:off x="571500" y="571501"/>
            <a:ext cx="11010900" cy="952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4000"/>
              <a:buNone/>
            </a:pPr>
            <a:r>
              <a:rPr lang="en-US"/>
              <a:t>Course feedback form</a:t>
            </a:r>
            <a:endParaRPr/>
          </a:p>
        </p:txBody>
      </p:sp>
      <p:sp>
        <p:nvSpPr>
          <p:cNvPr id="447" name="Google Shape;447;g35904ca52a9_0_110"/>
          <p:cNvSpPr txBox="1"/>
          <p:nvPr/>
        </p:nvSpPr>
        <p:spPr>
          <a:xfrm>
            <a:off x="571375" y="1673451"/>
            <a:ext cx="11010900" cy="29118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Clr>
                <a:srgbClr val="000000"/>
              </a:buClr>
              <a:buSzPts val="2800"/>
              <a:buFont typeface="Arial"/>
              <a:buNone/>
            </a:pPr>
            <a:r>
              <a:rPr lang="en-US" sz="2800" u="sng">
                <a:solidFill>
                  <a:schemeClr val="hlink"/>
                </a:solidFill>
                <a:latin typeface="Calibri"/>
                <a:ea typeface="Calibri"/>
                <a:cs typeface="Calibri"/>
                <a:sym typeface="Calibri"/>
                <a:hlinkClick r:id="rId3"/>
              </a:rPr>
              <a:t>https://forms.gle/taqUuCfNCq4u5Xn9A</a:t>
            </a:r>
            <a:r>
              <a:rPr lang="en-US" sz="2800">
                <a:latin typeface="Calibri"/>
                <a:ea typeface="Calibri"/>
                <a:cs typeface="Calibri"/>
                <a:sym typeface="Calibri"/>
              </a:rPr>
              <a:t> </a:t>
            </a:r>
            <a:endParaRPr b="0" i="0" sz="2800" u="none" cap="none" strike="noStrike">
              <a:solidFill>
                <a:srgbClr val="000000"/>
              </a:solidFill>
              <a:latin typeface="Calibri"/>
              <a:ea typeface="Calibri"/>
              <a:cs typeface="Calibri"/>
              <a:sym typeface="Calibri"/>
            </a:endParaRPr>
          </a:p>
        </p:txBody>
      </p:sp>
      <p:sp>
        <p:nvSpPr>
          <p:cNvPr id="448" name="Google Shape;448;g35904ca52a9_0_110"/>
          <p:cNvSpPr txBox="1"/>
          <p:nvPr/>
        </p:nvSpPr>
        <p:spPr>
          <a:xfrm>
            <a:off x="8510750" y="6397900"/>
            <a:ext cx="3356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25252"/>
                </a:solidFill>
                <a:latin typeface="Arial"/>
                <a:ea typeface="Arial"/>
                <a:cs typeface="Arial"/>
                <a:sym typeface="Arial"/>
              </a:rPr>
              <a:t>Backup: </a:t>
            </a:r>
            <a:r>
              <a:rPr b="0" i="0" lang="en-US" sz="2000" u="sng" cap="none" strike="noStrike">
                <a:solidFill>
                  <a:srgbClr val="0068B5"/>
                </a:solidFill>
                <a:latin typeface="Arial"/>
                <a:ea typeface="Arial"/>
                <a:cs typeface="Arial"/>
                <a:sym typeface="Arial"/>
                <a:hlinkClick r:id="rId4">
                  <a:extLst>
                    <a:ext uri="{A12FA001-AC4F-418D-AE19-62706E023703}">
                      <ahyp:hlinkClr val="tx"/>
                    </a:ext>
                  </a:extLst>
                </a:hlinkClick>
              </a:rPr>
              <a:t>me@gooddoog.ru</a:t>
            </a:r>
            <a:r>
              <a:rPr b="0" i="0" lang="en-US" sz="2000" u="none" cap="none" strike="noStrike">
                <a:solidFill>
                  <a:srgbClr val="525252"/>
                </a:solidFill>
                <a:latin typeface="Arial"/>
                <a:ea typeface="Arial"/>
                <a:cs typeface="Arial"/>
                <a:sym typeface="Arial"/>
              </a:rPr>
              <a:t> </a:t>
            </a:r>
            <a:endParaRPr b="0" i="0" sz="2000" u="none" cap="none" strike="noStrike">
              <a:solidFill>
                <a:srgbClr val="525252"/>
              </a:solidFill>
              <a:latin typeface="Arial"/>
              <a:ea typeface="Arial"/>
              <a:cs typeface="Arial"/>
              <a:sym typeface="Arial"/>
            </a:endParaRPr>
          </a:p>
        </p:txBody>
      </p:sp>
      <p:pic>
        <p:nvPicPr>
          <p:cNvPr id="449" name="Google Shape;449;g35904ca52a9_0_110"/>
          <p:cNvPicPr preferRelativeResize="0"/>
          <p:nvPr/>
        </p:nvPicPr>
        <p:blipFill>
          <a:blip r:embed="rId5">
            <a:alphaModFix/>
          </a:blip>
          <a:stretch>
            <a:fillRect/>
          </a:stretch>
        </p:blipFill>
        <p:spPr>
          <a:xfrm>
            <a:off x="9021175" y="1813776"/>
            <a:ext cx="1979325" cy="196794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39a6a542a37_0_119"/>
          <p:cNvSpPr txBox="1"/>
          <p:nvPr>
            <p:ph type="title"/>
          </p:nvPr>
        </p:nvSpPr>
        <p:spPr>
          <a:xfrm>
            <a:off x="571500" y="571501"/>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Test</a:t>
            </a:r>
            <a:endParaRPr/>
          </a:p>
        </p:txBody>
      </p:sp>
      <p:sp>
        <p:nvSpPr>
          <p:cNvPr id="456" name="Google Shape;456;g39a6a542a37_0_119"/>
          <p:cNvSpPr txBox="1"/>
          <p:nvPr/>
        </p:nvSpPr>
        <p:spPr>
          <a:xfrm>
            <a:off x="571375" y="1673451"/>
            <a:ext cx="11010900" cy="2911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None/>
            </a:pPr>
            <a:r>
              <a:rPr lang="en-US" sz="2800" u="sng">
                <a:solidFill>
                  <a:schemeClr val="hlink"/>
                </a:solidFill>
                <a:latin typeface="Calibri"/>
                <a:ea typeface="Calibri"/>
                <a:cs typeface="Calibri"/>
                <a:sym typeface="Calibri"/>
                <a:hlinkClick r:id="rId3"/>
              </a:rPr>
              <a:t>https://forms.gle/kQENCeeS6anmf6Lp8</a:t>
            </a:r>
            <a:r>
              <a:rPr lang="en-US" sz="2800">
                <a:latin typeface="Calibri"/>
                <a:ea typeface="Calibri"/>
                <a:cs typeface="Calibri"/>
                <a:sym typeface="Calibri"/>
              </a:rPr>
              <a:t> </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2800">
                <a:solidFill>
                  <a:srgbClr val="000000"/>
                </a:solidFill>
                <a:latin typeface="Calibri"/>
                <a:ea typeface="Calibri"/>
                <a:cs typeface="Calibri"/>
                <a:sym typeface="Calibri"/>
              </a:rPr>
              <a:t>Submission time: </a:t>
            </a:r>
            <a:r>
              <a:rPr b="1" lang="en-US" sz="2800">
                <a:solidFill>
                  <a:srgbClr val="000000"/>
                </a:solidFill>
                <a:latin typeface="Calibri"/>
                <a:ea typeface="Calibri"/>
                <a:cs typeface="Calibri"/>
                <a:sym typeface="Calibri"/>
              </a:rPr>
              <a:t>10 minutes</a:t>
            </a:r>
            <a:r>
              <a:rPr lang="en-US" sz="2800">
                <a:solidFill>
                  <a:srgbClr val="000000"/>
                </a:solidFill>
                <a:latin typeface="Calibri"/>
                <a:ea typeface="Calibri"/>
                <a:cs typeface="Calibri"/>
                <a:sym typeface="Calibri"/>
              </a:rPr>
              <a:t> </a:t>
            </a:r>
            <a:endParaRPr sz="2800">
              <a:solidFill>
                <a:srgbClr val="000000"/>
              </a:solidFill>
              <a:latin typeface="Calibri"/>
              <a:ea typeface="Calibri"/>
              <a:cs typeface="Calibri"/>
              <a:sym typeface="Calibri"/>
            </a:endParaRPr>
          </a:p>
        </p:txBody>
      </p:sp>
      <p:sp>
        <p:nvSpPr>
          <p:cNvPr id="457" name="Google Shape;457;g39a6a542a37_0_119"/>
          <p:cNvSpPr txBox="1"/>
          <p:nvPr/>
        </p:nvSpPr>
        <p:spPr>
          <a:xfrm>
            <a:off x="8510750" y="6397900"/>
            <a:ext cx="3356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rgbClr val="525252"/>
                </a:solidFill>
              </a:rPr>
              <a:t>Backup: </a:t>
            </a:r>
            <a:r>
              <a:rPr lang="en-US" sz="2000" u="sng">
                <a:solidFill>
                  <a:srgbClr val="0068B5"/>
                </a:solidFill>
                <a:hlinkClick r:id="rId4">
                  <a:extLst>
                    <a:ext uri="{A12FA001-AC4F-418D-AE19-62706E023703}">
                      <ahyp:hlinkClr val="tx"/>
                    </a:ext>
                  </a:extLst>
                </a:hlinkClick>
              </a:rPr>
              <a:t>me@gooddoog.ru</a:t>
            </a:r>
            <a:r>
              <a:rPr lang="en-US" sz="2000">
                <a:solidFill>
                  <a:srgbClr val="525252"/>
                </a:solidFill>
              </a:rPr>
              <a:t> </a:t>
            </a:r>
            <a:endParaRPr sz="2000">
              <a:solidFill>
                <a:srgbClr val="525252"/>
              </a:solidFill>
            </a:endParaRPr>
          </a:p>
        </p:txBody>
      </p:sp>
      <p:pic>
        <p:nvPicPr>
          <p:cNvPr id="458" name="Google Shape;458;g39a6a542a37_0_119"/>
          <p:cNvPicPr preferRelativeResize="0"/>
          <p:nvPr/>
        </p:nvPicPr>
        <p:blipFill>
          <a:blip r:embed="rId5">
            <a:alphaModFix/>
          </a:blip>
          <a:stretch>
            <a:fillRect/>
          </a:stretch>
        </p:blipFill>
        <p:spPr>
          <a:xfrm>
            <a:off x="8848125" y="1673450"/>
            <a:ext cx="2882300" cy="2801325"/>
          </a:xfrm>
          <a:prstGeom prst="rect">
            <a:avLst/>
          </a:prstGeom>
          <a:noFill/>
          <a:ln>
            <a:noFill/>
          </a:ln>
        </p:spPr>
      </p:pic>
      <p:pic>
        <p:nvPicPr>
          <p:cNvPr id="459" name="Google Shape;459;g39a6a542a37_0_119"/>
          <p:cNvPicPr preferRelativeResize="0"/>
          <p:nvPr/>
        </p:nvPicPr>
        <p:blipFill>
          <a:blip r:embed="rId6">
            <a:alphaModFix/>
          </a:blip>
          <a:stretch>
            <a:fillRect/>
          </a:stretch>
        </p:blipFill>
        <p:spPr>
          <a:xfrm>
            <a:off x="231775" y="2902101"/>
            <a:ext cx="8205948" cy="1862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18"/>
          <p:cNvSpPr txBox="1"/>
          <p:nvPr>
            <p:ph type="title"/>
          </p:nvPr>
        </p:nvSpPr>
        <p:spPr>
          <a:xfrm>
            <a:off x="571500" y="571501"/>
            <a:ext cx="11010901" cy="952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525252"/>
              </a:buClr>
              <a:buSzPts val="4000"/>
              <a:buFont typeface="Calibri"/>
              <a:buNone/>
            </a:pPr>
            <a:r>
              <a:rPr lang="en-US"/>
              <a:t>Extra materials</a:t>
            </a:r>
            <a:endParaRPr/>
          </a:p>
        </p:txBody>
      </p:sp>
      <p:sp>
        <p:nvSpPr>
          <p:cNvPr id="465" name="Google Shape;465;p18"/>
          <p:cNvSpPr txBox="1"/>
          <p:nvPr>
            <p:ph idx="1" type="body"/>
          </p:nvPr>
        </p:nvSpPr>
        <p:spPr>
          <a:xfrm>
            <a:off x="571500" y="1673402"/>
            <a:ext cx="10837852" cy="4584830"/>
          </a:xfrm>
          <a:prstGeom prst="rect">
            <a:avLst/>
          </a:prstGeom>
          <a:noFill/>
          <a:ln>
            <a:noFill/>
          </a:ln>
        </p:spPr>
        <p:txBody>
          <a:bodyPr anchorCtr="0" anchor="t" bIns="45700" lIns="91425" spcFirstLastPara="1" rIns="91425" wrap="square" tIns="45700">
            <a:normAutofit/>
          </a:bodyPr>
          <a:lstStyle/>
          <a:p>
            <a:pPr indent="-330200" lvl="0" marL="457200" rtl="0" algn="l">
              <a:lnSpc>
                <a:spcPct val="90000"/>
              </a:lnSpc>
              <a:spcBef>
                <a:spcPts val="0"/>
              </a:spcBef>
              <a:spcAft>
                <a:spcPts val="0"/>
              </a:spcAft>
              <a:buSzPts val="1600"/>
              <a:buChar char="•"/>
            </a:pPr>
            <a:r>
              <a:rPr lang="en-US" sz="1600"/>
              <a:t>Triton Kernel Compilation Stages: </a:t>
            </a:r>
            <a:r>
              <a:rPr lang="en-US" sz="1600" u="sng">
                <a:solidFill>
                  <a:schemeClr val="hlink"/>
                </a:solidFill>
                <a:hlinkClick r:id="rId3"/>
              </a:rPr>
              <a:t>https://pytorch.org/blog/triton-kernel-compilation-stages/</a:t>
            </a:r>
            <a:r>
              <a:rPr lang="en-US" sz="1600"/>
              <a:t> </a:t>
            </a:r>
            <a:endParaRPr sz="1600"/>
          </a:p>
          <a:p>
            <a:pPr indent="-330200" lvl="0" marL="457200" rtl="0" algn="l">
              <a:lnSpc>
                <a:spcPct val="90000"/>
              </a:lnSpc>
              <a:spcBef>
                <a:spcPts val="0"/>
              </a:spcBef>
              <a:spcAft>
                <a:spcPts val="0"/>
              </a:spcAft>
              <a:buSzPts val="1600"/>
              <a:buChar char="•"/>
            </a:pPr>
            <a:r>
              <a:rPr lang="en-US" sz="1600"/>
              <a:t>CPython’s internals: </a:t>
            </a:r>
            <a:r>
              <a:rPr lang="en-US" sz="1600" u="sng">
                <a:solidFill>
                  <a:schemeClr val="hlink"/>
                </a:solidFill>
                <a:hlinkClick r:id="rId4"/>
              </a:rPr>
              <a:t>https://devguide.python.org/internals/</a:t>
            </a:r>
            <a:endParaRPr sz="1600"/>
          </a:p>
          <a:p>
            <a:pPr indent="0" lvl="0" marL="0" rtl="0" algn="l">
              <a:lnSpc>
                <a:spcPct val="90000"/>
              </a:lnSpc>
              <a:spcBef>
                <a:spcPts val="0"/>
              </a:spcBef>
              <a:spcAft>
                <a:spcPts val="0"/>
              </a:spcAft>
              <a:buNone/>
            </a:pPr>
            <a:r>
              <a:t/>
            </a:r>
            <a:endParaRPr sz="1600"/>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2022-04-12T07:39:01Z</dcterms:created>
  <dc:creator>Александр Баташев</dc:creator>
</cp:coreProperties>
</file>