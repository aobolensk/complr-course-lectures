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6858000" cx="12192000"/>
  <p:notesSz cx="6858000" cy="9144000"/>
  <p:embeddedFontLst>
    <p:embeddedFont>
      <p:font typeface="Helvetica Neu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jTSW6LhuP3fQpUxWO3qUiRcaUN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HelveticaNeue-regular.fntdata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HelveticaNeue-italic.fntdata"/><Relationship Id="rId21" Type="http://schemas.openxmlformats.org/officeDocument/2006/relationships/slide" Target="slides/slide17.xml"/><Relationship Id="rId43" Type="http://schemas.openxmlformats.org/officeDocument/2006/relationships/font" Target="fonts/HelveticaNeue-bold.fntdata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904ca52a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5904ca52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be5626e1a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be5626e1a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2cbe5626e1a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96d2629e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96d2629e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96d2629e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96d2629e4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96d2629e4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96d2629e4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9bd83010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9bd83010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d9bd83010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96d2629e4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96d2629e4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96d2629e4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cbe5626e1a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cbe5626e1a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2cbe5626e1a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cbe5626e1a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cbe5626e1a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2cbe5626e1a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cbe5626e1a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cbe5626e1a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2cbe5626e1a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cbe5626e1a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cbe5626e1a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cbe5626e1a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cbe5626e1a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cbe5626e1a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cbe5626e1a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cbe5626e1a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cbe5626e1a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2cbe5626e1a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96d2629e4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d96d2629e4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d96d2629e4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cbe5626e1a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cbe5626e1a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cbe5626e1a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cbe5626e1a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cbe5626e1a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cbe5626e1a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cbe5626e1a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cbe5626e1a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2cbe5626e1a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cbe5626e1a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cbe5626e1a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2cbe5626e1a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cbe5626e1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cbe5626e1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2cbe5626e1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5904ca52a9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5904ca52a9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5904ca52a9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9bd830106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9bd830106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d9bd830106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904ca52a9_0_91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g35904ca52a9_0_91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g35904ca52a9_0_91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hyperlink" Target="https://en.wikipedia.org/wiki/Executable_and_Linkable_Forma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dwarfstd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prevanders.net/dwarf.html" TargetMode="External"/><Relationship Id="rId4" Type="http://schemas.openxmlformats.org/officeDocument/2006/relationships/hyperlink" Target="https://github.com/sevaa/dwex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https://godbolt.org/z/ecn15d566" TargetMode="External"/><Relationship Id="rId5" Type="http://schemas.openxmlformats.org/officeDocument/2006/relationships/hyperlink" Target="https://godbolt.org/z/oW19bY35E" TargetMode="External"/><Relationship Id="rId6" Type="http://schemas.openxmlformats.org/officeDocument/2006/relationships/hyperlink" Target="https://godbolt.org/z/v41qPPGEf" TargetMode="External"/><Relationship Id="rId7" Type="http://schemas.openxmlformats.org/officeDocument/2006/relationships/hyperlink" Target="https://godbolt.org/z/f9n1n8dK3" TargetMode="External"/><Relationship Id="rId8" Type="http://schemas.openxmlformats.org/officeDocument/2006/relationships/hyperlink" Target="https://godbolt.org/z/17snPja5v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hyperlink" Target="https://godbolt.org/z/v41qPPGE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hyperlink" Target="https://godbolt.org/z/ecn15d566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godbolt.org/z/ecn15d566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hyperlink" Target="https://godbolt.org/z/oW19bY35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man7.org/linux/man-pages/man2/ptrace.2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microsoft.com/en-us/windows-hardware/drivers/debugger/debugger-engine-and-extension-api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ldb.llvm.org/" TargetMode="External"/><Relationship Id="rId4" Type="http://schemas.openxmlformats.org/officeDocument/2006/relationships/hyperlink" Target="https://lldb.llvm.org/use/tutorial.html" TargetMode="External"/><Relationship Id="rId5" Type="http://schemas.openxmlformats.org/officeDocument/2006/relationships/hyperlink" Target="https://sourceware.org/gdb/documentation/" TargetMode="External"/><Relationship Id="rId6" Type="http://schemas.openxmlformats.org/officeDocument/2006/relationships/hyperlink" Target="https://learn.microsoft.com/en-us/visualstudio/debugger/getting-started-with-the-debugger-cpp?view=visualstudio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sourceware.org/gdb/onlinedocs/gdb/Remote-Protocol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lldb.llvm.org/python_api.html" TargetMode="External"/><Relationship Id="rId4" Type="http://schemas.openxmlformats.org/officeDocument/2006/relationships/hyperlink" Target="https://lldb.llvm.org/use/tutorials/implementing-standalone-scripts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rr-project.org/" TargetMode="External"/><Relationship Id="rId4" Type="http://schemas.openxmlformats.org/officeDocument/2006/relationships/hyperlink" Target="https://github.com/rr-debugger/rr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lldb.llvm.org/use/tutorial.html" TargetMode="External"/><Relationship Id="rId4" Type="http://schemas.openxmlformats.org/officeDocument/2006/relationships/hyperlink" Target="https://lldb.llvm.org/use/map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forms.gle/VGhg53cKmkHoVtPw9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forms.gle/ESvwo5dfw9drBFvk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forms.gle/8JntK294hophUPVX6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llvm.org/docs/SourceLevelDebugging.html" TargetMode="External"/><Relationship Id="rId4" Type="http://schemas.openxmlformats.org/officeDocument/2006/relationships/hyperlink" Target="https://www.youtube.com/watch?v=PorfLSr3DDI" TargetMode="External"/><Relationship Id="rId5" Type="http://schemas.openxmlformats.org/officeDocument/2006/relationships/hyperlink" Target="https://www.youtube.com/watch?v=vuNZLlHhy0k" TargetMode="External"/><Relationship Id="rId6" Type="http://schemas.openxmlformats.org/officeDocument/2006/relationships/hyperlink" Target="https://www.youtube.com/watch?v=JtpQZw9NpI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904ca52a9_0_0"/>
          <p:cNvSpPr txBox="1"/>
          <p:nvPr>
            <p:ph type="title"/>
          </p:nvPr>
        </p:nvSpPr>
        <p:spPr>
          <a:xfrm>
            <a:off x="1895475" y="3585275"/>
            <a:ext cx="619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100" name="Google Shape;100;g35904ca52a9_0_0"/>
          <p:cNvSpPr txBox="1"/>
          <p:nvPr>
            <p:ph idx="2" type="body"/>
          </p:nvPr>
        </p:nvSpPr>
        <p:spPr>
          <a:xfrm>
            <a:off x="1908350" y="4778600"/>
            <a:ext cx="8226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Debuggers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55401" y="4336066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55400" y="4889622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855399" y="544317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8F5DA2"/>
          </a:solidFill>
          <a:ln cap="flat" cmpd="sng" w="25400">
            <a:solidFill>
              <a:srgbClr val="6843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Why debugging?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Static analysis does not discover many kinds of errors (especially, logic errors)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Retrieve runtime information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Need some insight into running programs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Allow to change execution flow without recompilation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Debuggers in a nutshell</a:t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Ability to control execution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Resume after signal/trap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Ability to read/write memory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Registers and RAM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Mapping from binary code to source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Executable and linkable format (ELF)</a:t>
            </a:r>
            <a:endParaRPr/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044" y="1523999"/>
            <a:ext cx="4615449" cy="49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571375" y="1673451"/>
            <a:ext cx="6402300" cy="30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ELF is a common executable file format for Unix-like systems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File is divided in multiple sections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Sections can be read-only and executable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571370" y="5963334"/>
            <a:ext cx="64021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https://en.wikipedia.org/wiki/Executable_and_Linkable_Format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DWARF</a:t>
            </a:r>
            <a:endParaRPr/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DWARF is a widely used debugging information format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DWARF uses Debugging Information Entry (DIE) data structure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DIE has a tag (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DW_TAG_variable</a:t>
            </a:r>
            <a:r>
              <a:rPr lang="en-US"/>
              <a:t>,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DW_TAG_pointer_type</a:t>
            </a:r>
            <a:r>
              <a:rPr lang="en-US"/>
              <a:t>,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DW_TAG_subprogram</a:t>
            </a:r>
            <a:r>
              <a:rPr lang="en-US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And attributes (key-value pairs)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DIE attributes can reference other DIEs</a:t>
            </a:r>
            <a:endParaRPr/>
          </a:p>
        </p:txBody>
      </p:sp>
      <p:pic>
        <p:nvPicPr>
          <p:cNvPr id="143" name="Google Shape;14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6850" y="319088"/>
            <a:ext cx="149542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9959013" y="1776400"/>
            <a:ext cx="175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https://dwarfstd.org/</a:t>
            </a:r>
            <a:r>
              <a:rPr lang="en-US"/>
              <a:t> 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571525" y="5628175"/>
            <a:ext cx="11010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name is a medieval fantasy complement to "ELF" that had no official meaning, although the name "Debugging With Arbitrary Record Formats" has since been proposed as a backronym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Working with DWARF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-g</a:t>
            </a:r>
            <a:r>
              <a:rPr lang="en-US"/>
              <a:t> flag to enable DWARF in the compiler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GDB and LLDB are the most used debuggers on Unix-like platforms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libdwarf – C library for working with DWARF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http://www.prevanders.net/dwarf.html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dwex – GUI for visualizing DWARF (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https://github.com/sevaa/dwex</a:t>
            </a:r>
            <a:r>
              <a:rPr lang="en-US"/>
              <a:t>)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PE and PDB</a:t>
            </a:r>
            <a:endParaRPr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Portable Executable (PE) is an executable file format on Windows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Program database (PDB) is a debug info file format on Windows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 </a:t>
            </a:r>
            <a:r>
              <a:rPr lang="en-US"/>
              <a:t>plays a similar role to ELF on Windows, but the structure and loader model differ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Unlike DWARF*, PDB is typically stored as an external file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760125" y="6248400"/>
            <a:ext cx="911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-gsplit-dwarf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gcc/clang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can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place DWARF debug info into a separate 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.dwo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file, but it is not default behavior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be5626e1a_0_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ELF and PE</a:t>
            </a:r>
            <a:endParaRPr/>
          </a:p>
        </p:txBody>
      </p:sp>
      <p:sp>
        <p:nvSpPr>
          <p:cNvPr id="165" name="Google Shape;165;g2cbe5626e1a_0_9"/>
          <p:cNvSpPr txBox="1"/>
          <p:nvPr>
            <p:ph idx="1" type="body"/>
          </p:nvPr>
        </p:nvSpPr>
        <p:spPr>
          <a:xfrm>
            <a:off x="241175" y="1673450"/>
            <a:ext cx="41106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Comparison of different executable formats: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 (Portable Exectuable) - Windows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ELF (Executable and Linkable Format) - Unix</a:t>
            </a:r>
            <a:endParaRPr/>
          </a:p>
        </p:txBody>
      </p:sp>
      <p:pic>
        <p:nvPicPr>
          <p:cNvPr id="166" name="Google Shape;166;g2cbe5626e1a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0867" y="6"/>
            <a:ext cx="7611133" cy="68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96d2629e4_0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Debug info path</a:t>
            </a:r>
            <a:endParaRPr/>
          </a:p>
        </p:txBody>
      </p:sp>
      <p:sp>
        <p:nvSpPr>
          <p:cNvPr id="173" name="Google Shape;173;g3d96d2629e4_0_10"/>
          <p:cNvSpPr txBox="1"/>
          <p:nvPr>
            <p:ph idx="1" type="body"/>
          </p:nvPr>
        </p:nvSpPr>
        <p:spPr>
          <a:xfrm>
            <a:off x="4721400" y="373825"/>
            <a:ext cx="6920400" cy="90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whole compilation flow is involved in debug information processing:</a:t>
            </a:r>
            <a:endParaRPr/>
          </a:p>
        </p:txBody>
      </p:sp>
      <p:sp>
        <p:nvSpPr>
          <p:cNvPr id="174" name="Google Shape;174;g3d96d2629e4_0_10"/>
          <p:cNvSpPr txBox="1"/>
          <p:nvPr/>
        </p:nvSpPr>
        <p:spPr>
          <a:xfrm>
            <a:off x="4120725" y="1427425"/>
            <a:ext cx="22017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Preprocessor: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Lexer: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AST: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LLVM IR: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Assembly/Object: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g3d96d2629e4_0_10"/>
          <p:cNvGrpSpPr/>
          <p:nvPr/>
        </p:nvGrpSpPr>
        <p:grpSpPr>
          <a:xfrm>
            <a:off x="4219348" y="4517355"/>
            <a:ext cx="5146992" cy="445275"/>
            <a:chOff x="289925" y="5611838"/>
            <a:chExt cx="5188500" cy="445275"/>
          </a:xfrm>
        </p:grpSpPr>
        <p:sp>
          <p:nvSpPr>
            <p:cNvPr id="176" name="Google Shape;176;g3d96d2629e4_0_1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177" name="Google Shape;177;g3d96d2629e4_0_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g3d96d2629e4_0_1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https://godbolt.org/z/ecn15d566</a:t>
              </a:r>
              <a:r>
                <a:rPr lang="en-US" sz="2400"/>
                <a:t> </a:t>
              </a:r>
              <a:endParaRPr sz="2400"/>
            </a:p>
          </p:txBody>
        </p:sp>
      </p:grpSp>
      <p:grpSp>
        <p:nvGrpSpPr>
          <p:cNvPr id="179" name="Google Shape;179;g3d96d2629e4_0_10"/>
          <p:cNvGrpSpPr/>
          <p:nvPr/>
        </p:nvGrpSpPr>
        <p:grpSpPr>
          <a:xfrm>
            <a:off x="4219331" y="5467402"/>
            <a:ext cx="5147027" cy="445275"/>
            <a:chOff x="289925" y="5611838"/>
            <a:chExt cx="5396338" cy="445275"/>
          </a:xfrm>
        </p:grpSpPr>
        <p:sp>
          <p:nvSpPr>
            <p:cNvPr id="180" name="Google Shape;180;g3d96d2629e4_0_1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181" name="Google Shape;181;g3d96d2629e4_0_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g3d96d2629e4_0_10"/>
            <p:cNvSpPr/>
            <p:nvPr/>
          </p:nvSpPr>
          <p:spPr>
            <a:xfrm>
              <a:off x="777363" y="5611839"/>
              <a:ext cx="49089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https://godbolt.org/z/oW19bY35E</a:t>
              </a:r>
              <a:r>
                <a:rPr lang="en-US" sz="2400"/>
                <a:t> </a:t>
              </a:r>
              <a:endParaRPr sz="2400"/>
            </a:p>
          </p:txBody>
        </p:sp>
      </p:grpSp>
      <p:grpSp>
        <p:nvGrpSpPr>
          <p:cNvPr id="183" name="Google Shape;183;g3d96d2629e4_0_10"/>
          <p:cNvGrpSpPr/>
          <p:nvPr/>
        </p:nvGrpSpPr>
        <p:grpSpPr>
          <a:xfrm>
            <a:off x="4219348" y="3636387"/>
            <a:ext cx="5146992" cy="445275"/>
            <a:chOff x="289925" y="5611838"/>
            <a:chExt cx="5188500" cy="445275"/>
          </a:xfrm>
        </p:grpSpPr>
        <p:sp>
          <p:nvSpPr>
            <p:cNvPr id="184" name="Google Shape;184;g3d96d2629e4_0_1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185" name="Google Shape;185;g3d96d2629e4_0_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g3d96d2629e4_0_1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https://godbolt.org/z/v41qPPGEf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187" name="Google Shape;187;g3d96d2629e4_0_10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g3d96d2629e4_0_10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g3d96d2629e4_0_10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g3d96d2629e4_0_10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g3d96d2629e4_0_10"/>
          <p:cNvSpPr/>
          <p:nvPr/>
        </p:nvSpPr>
        <p:spPr>
          <a:xfrm>
            <a:off x="855402" y="3774634"/>
            <a:ext cx="2861100" cy="4719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g3d96d2629e4_0_10"/>
          <p:cNvSpPr/>
          <p:nvPr/>
        </p:nvSpPr>
        <p:spPr>
          <a:xfrm>
            <a:off x="855401" y="4336066"/>
            <a:ext cx="2861100" cy="471900"/>
          </a:xfrm>
          <a:prstGeom prst="rect">
            <a:avLst/>
          </a:prstGeom>
          <a:solidFill>
            <a:srgbClr val="7030A0"/>
          </a:solidFill>
          <a:ln cap="flat" cmpd="sng" w="25400">
            <a:solidFill>
              <a:srgbClr val="B394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g3d96d2629e4_0_10"/>
          <p:cNvSpPr/>
          <p:nvPr/>
        </p:nvSpPr>
        <p:spPr>
          <a:xfrm>
            <a:off x="855438" y="5458947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3d96d2629e4_0_10"/>
          <p:cNvSpPr/>
          <p:nvPr/>
        </p:nvSpPr>
        <p:spPr>
          <a:xfrm>
            <a:off x="855424" y="4897528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5" name="Google Shape;195;g3d96d2629e4_0_10"/>
          <p:cNvGrpSpPr/>
          <p:nvPr/>
        </p:nvGrpSpPr>
        <p:grpSpPr>
          <a:xfrm>
            <a:off x="4219360" y="1805362"/>
            <a:ext cx="5146992" cy="445275"/>
            <a:chOff x="289925" y="5611838"/>
            <a:chExt cx="5188500" cy="445275"/>
          </a:xfrm>
        </p:grpSpPr>
        <p:sp>
          <p:nvSpPr>
            <p:cNvPr id="196" name="Google Shape;196;g3d96d2629e4_0_1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197" name="Google Shape;197;g3d96d2629e4_0_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g3d96d2629e4_0_1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7"/>
                </a:rPr>
                <a:t>https://godbolt.org/z/f9n1n8dK3</a:t>
              </a:r>
              <a:r>
                <a:rPr lang="en-US" sz="2400"/>
                <a:t> </a:t>
              </a:r>
              <a:endParaRPr sz="2400"/>
            </a:p>
          </p:txBody>
        </p:sp>
      </p:grpSp>
      <p:grpSp>
        <p:nvGrpSpPr>
          <p:cNvPr id="199" name="Google Shape;199;g3d96d2629e4_0_10"/>
          <p:cNvGrpSpPr/>
          <p:nvPr/>
        </p:nvGrpSpPr>
        <p:grpSpPr>
          <a:xfrm>
            <a:off x="4219373" y="2720875"/>
            <a:ext cx="5146992" cy="445275"/>
            <a:chOff x="289925" y="5611838"/>
            <a:chExt cx="5188500" cy="445275"/>
          </a:xfrm>
        </p:grpSpPr>
        <p:sp>
          <p:nvSpPr>
            <p:cNvPr id="200" name="Google Shape;200;g3d96d2629e4_0_1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01" name="Google Shape;201;g3d96d2629e4_0_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g3d96d2629e4_0_1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8"/>
                </a:rPr>
                <a:t>https://godbolt.org/z/17snPja5v</a:t>
              </a:r>
              <a:r>
                <a:rPr lang="en-US" sz="2400"/>
                <a:t> </a:t>
              </a:r>
              <a:endParaRPr sz="2400"/>
            </a:p>
          </p:txBody>
        </p:sp>
      </p:grpSp>
      <p:cxnSp>
        <p:nvCxnSpPr>
          <p:cNvPr id="203" name="Google Shape;203;g3d96d2629e4_0_10"/>
          <p:cNvCxnSpPr/>
          <p:nvPr/>
        </p:nvCxnSpPr>
        <p:spPr>
          <a:xfrm>
            <a:off x="4042800" y="1641450"/>
            <a:ext cx="10500" cy="435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6d2629e4_0_3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Debug info in AST</a:t>
            </a:r>
            <a:endParaRPr/>
          </a:p>
        </p:txBody>
      </p:sp>
      <p:sp>
        <p:nvSpPr>
          <p:cNvPr id="210" name="Google Shape;210;g3d96d2629e4_0_35"/>
          <p:cNvSpPr txBox="1"/>
          <p:nvPr>
            <p:ph idx="1" type="body"/>
          </p:nvPr>
        </p:nvSpPr>
        <p:spPr>
          <a:xfrm>
            <a:off x="571372" y="1673453"/>
            <a:ext cx="3931200" cy="136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AST preserves code locations from </a:t>
            </a:r>
            <a:r>
              <a:rPr lang="en-US"/>
              <a:t>the original file</a:t>
            </a:r>
            <a:endParaRPr/>
          </a:p>
        </p:txBody>
      </p:sp>
      <p:grpSp>
        <p:nvGrpSpPr>
          <p:cNvPr id="211" name="Google Shape;211;g3d96d2629e4_0_35"/>
          <p:cNvGrpSpPr/>
          <p:nvPr/>
        </p:nvGrpSpPr>
        <p:grpSpPr>
          <a:xfrm>
            <a:off x="6964398" y="126237"/>
            <a:ext cx="5146992" cy="445275"/>
            <a:chOff x="289925" y="5611838"/>
            <a:chExt cx="5188500" cy="445275"/>
          </a:xfrm>
        </p:grpSpPr>
        <p:sp>
          <p:nvSpPr>
            <p:cNvPr id="212" name="Google Shape;212;g3d96d2629e4_0_3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13" name="Google Shape;213;g3d96d2629e4_0_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g3d96d2629e4_0_3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https://godbolt.org/z/v41qPPGEf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215" name="Google Shape;215;g3d96d2629e4_0_35"/>
          <p:cNvSpPr txBox="1"/>
          <p:nvPr/>
        </p:nvSpPr>
        <p:spPr>
          <a:xfrm>
            <a:off x="4596000" y="152400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square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8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g3d96d2629e4_0_35"/>
          <p:cNvSpPr txBox="1"/>
          <p:nvPr/>
        </p:nvSpPr>
        <p:spPr>
          <a:xfrm>
            <a:off x="438025" y="2989700"/>
            <a:ext cx="112776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`-</a:t>
            </a:r>
            <a:r>
              <a:rPr b="1"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FunctionDecl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0x4bd603b8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&lt;source&gt;:2:1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line:4:1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line:2:5</a:t>
            </a:r>
            <a:r>
              <a:rPr b="1" lang="en-US" sz="1800">
                <a:solidFill>
                  <a:srgbClr val="00AAAA"/>
                </a:solidFill>
                <a:latin typeface="Consolas"/>
                <a:ea typeface="Consolas"/>
                <a:cs typeface="Consolas"/>
                <a:sym typeface="Consolas"/>
              </a:rPr>
              <a:t> square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 (int)'</a:t>
            </a:r>
            <a:endParaRPr sz="1800">
              <a:solidFill>
                <a:srgbClr val="00AA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|-</a:t>
            </a:r>
            <a:r>
              <a:rPr b="1"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ParmVarDecl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0x4bd602e8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col:12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col:16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col:16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used</a:t>
            </a:r>
            <a:r>
              <a:rPr b="1" lang="en-US" sz="1800">
                <a:solidFill>
                  <a:srgbClr val="00AAAA"/>
                </a:solidFill>
                <a:latin typeface="Consolas"/>
                <a:ea typeface="Consolas"/>
                <a:cs typeface="Consolas"/>
                <a:sym typeface="Consolas"/>
              </a:rPr>
              <a:t> num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endParaRPr sz="1800">
              <a:solidFill>
                <a:srgbClr val="00AA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`-</a:t>
            </a:r>
            <a:r>
              <a:rPr b="1" lang="en-US" sz="1800">
                <a:solidFill>
                  <a:srgbClr val="AA00AA"/>
                </a:solidFill>
                <a:latin typeface="Consolas"/>
                <a:ea typeface="Consolas"/>
                <a:cs typeface="Consolas"/>
                <a:sym typeface="Consolas"/>
              </a:rPr>
              <a:t>CompoundStmt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0x4bd60550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col:21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line:4:1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  `-</a:t>
            </a:r>
            <a:r>
              <a:rPr b="1" lang="en-US" sz="1800">
                <a:solidFill>
                  <a:srgbClr val="AA00AA"/>
                </a:solidFill>
                <a:latin typeface="Consolas"/>
                <a:ea typeface="Consolas"/>
                <a:cs typeface="Consolas"/>
                <a:sym typeface="Consolas"/>
              </a:rPr>
              <a:t>ReturnStmt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0x4bd60540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line:3:5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col:18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    `-</a:t>
            </a:r>
            <a:r>
              <a:rPr b="1" lang="en-US" sz="1800">
                <a:solidFill>
                  <a:srgbClr val="AA00AA"/>
                </a:solidFill>
                <a:latin typeface="Consolas"/>
                <a:ea typeface="Consolas"/>
                <a:cs typeface="Consolas"/>
                <a:sym typeface="Consolas"/>
              </a:rPr>
              <a:t>BinaryOperator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0x4bd60520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col:12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col:18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'*'</a:t>
            </a:r>
            <a:endParaRPr sz="18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      |-</a:t>
            </a:r>
            <a:r>
              <a:rPr b="1" lang="en-US" sz="1800">
                <a:solidFill>
                  <a:srgbClr val="AA00AA"/>
                </a:solidFill>
                <a:latin typeface="Consolas"/>
                <a:ea typeface="Consolas"/>
                <a:cs typeface="Consolas"/>
                <a:sym typeface="Consolas"/>
              </a:rPr>
              <a:t>ImplicitCastExpr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0x4bd604f0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col:12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0000"/>
                </a:solidFill>
                <a:latin typeface="Consolas"/>
                <a:ea typeface="Consolas"/>
                <a:cs typeface="Consolas"/>
                <a:sym typeface="Consolas"/>
              </a:rPr>
              <a:t>LValueToRValue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      | `-</a:t>
            </a:r>
            <a:r>
              <a:rPr b="1" lang="en-US" sz="1800">
                <a:solidFill>
                  <a:srgbClr val="AA00AA"/>
                </a:solidFill>
                <a:latin typeface="Consolas"/>
                <a:ea typeface="Consolas"/>
                <a:cs typeface="Consolas"/>
                <a:sym typeface="Consolas"/>
              </a:rPr>
              <a:t>DeclRefExpr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0x4bd604b0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col:12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r>
              <a:rPr lang="en-US" sz="1800">
                <a:solidFill>
                  <a:srgbClr val="00AAAA"/>
                </a:solidFill>
                <a:latin typeface="Consolas"/>
                <a:ea typeface="Consolas"/>
                <a:cs typeface="Consolas"/>
                <a:sym typeface="Consolas"/>
              </a:rPr>
              <a:t> lvalue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ParmVar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0x4bd602e8</a:t>
            </a:r>
            <a:r>
              <a:rPr b="1" lang="en-US" sz="1800">
                <a:solidFill>
                  <a:srgbClr val="00AAAA"/>
                </a:solidFill>
                <a:latin typeface="Consolas"/>
                <a:ea typeface="Consolas"/>
                <a:cs typeface="Consolas"/>
                <a:sym typeface="Consolas"/>
              </a:rPr>
              <a:t> 'num'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endParaRPr sz="1800">
              <a:solidFill>
                <a:srgbClr val="00AA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      `-</a:t>
            </a:r>
            <a:r>
              <a:rPr b="1" lang="en-US" sz="1800">
                <a:solidFill>
                  <a:srgbClr val="AA00AA"/>
                </a:solidFill>
                <a:latin typeface="Consolas"/>
                <a:ea typeface="Consolas"/>
                <a:cs typeface="Consolas"/>
                <a:sym typeface="Consolas"/>
              </a:rPr>
              <a:t>ImplicitCastExpr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0x4bd60508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col:18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0000"/>
                </a:solidFill>
                <a:latin typeface="Consolas"/>
                <a:ea typeface="Consolas"/>
                <a:cs typeface="Consolas"/>
                <a:sym typeface="Consolas"/>
              </a:rPr>
              <a:t>LValueToRValue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AA"/>
                </a:solidFill>
                <a:latin typeface="Consolas"/>
                <a:ea typeface="Consolas"/>
                <a:cs typeface="Consolas"/>
                <a:sym typeface="Consolas"/>
              </a:rPr>
              <a:t>         `-</a:t>
            </a:r>
            <a:r>
              <a:rPr b="1" lang="en-US" sz="1800">
                <a:solidFill>
                  <a:srgbClr val="AA00AA"/>
                </a:solidFill>
                <a:latin typeface="Consolas"/>
                <a:ea typeface="Consolas"/>
                <a:cs typeface="Consolas"/>
                <a:sym typeface="Consolas"/>
              </a:rPr>
              <a:t>DeclRefExpr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0x4bd604d0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col:18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r>
              <a:rPr lang="en-US" sz="1800">
                <a:solidFill>
                  <a:srgbClr val="00AAAA"/>
                </a:solidFill>
                <a:latin typeface="Consolas"/>
                <a:ea typeface="Consolas"/>
                <a:cs typeface="Consolas"/>
                <a:sym typeface="Consolas"/>
              </a:rPr>
              <a:t> lvalue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ParmVar</a:t>
            </a:r>
            <a:r>
              <a:rPr lang="en-US" sz="1800">
                <a:solidFill>
                  <a:srgbClr val="AA5500"/>
                </a:solidFill>
                <a:latin typeface="Consolas"/>
                <a:ea typeface="Consolas"/>
                <a:cs typeface="Consolas"/>
                <a:sym typeface="Consolas"/>
              </a:rPr>
              <a:t> 0x4bd602e8</a:t>
            </a:r>
            <a:r>
              <a:rPr b="1" lang="en-US" sz="1800">
                <a:solidFill>
                  <a:srgbClr val="00AAAA"/>
                </a:solidFill>
                <a:latin typeface="Consolas"/>
                <a:ea typeface="Consolas"/>
                <a:cs typeface="Consolas"/>
                <a:sym typeface="Consolas"/>
              </a:rPr>
              <a:t> 'num'</a:t>
            </a:r>
            <a:r>
              <a:rPr lang="en-US" sz="18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AA00"/>
                </a:solidFill>
                <a:latin typeface="Consolas"/>
                <a:ea typeface="Consolas"/>
                <a:cs typeface="Consolas"/>
                <a:sym typeface="Consolas"/>
              </a:rPr>
              <a:t>'int'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From LLVM IR to DWARF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122336" y="1524004"/>
            <a:ext cx="43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LLVM IR debug metadata used to emit DWARF</a:t>
            </a:r>
            <a:endParaRPr sz="2400"/>
          </a:p>
        </p:txBody>
      </p:sp>
      <p:sp>
        <p:nvSpPr>
          <p:cNvPr id="223" name="Google Shape;223;p9"/>
          <p:cNvSpPr txBox="1"/>
          <p:nvPr/>
        </p:nvSpPr>
        <p:spPr>
          <a:xfrm>
            <a:off x="64525" y="2959425"/>
            <a:ext cx="14376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distinct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!DICompileUnit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(language: DW_LANG_C_plus_plus_14, file: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producer: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"clang version 23.0.0git (https://github.com/llvm/llvm-project.git 652700b4cb3c87294f2d78cb87df5e394e589984)"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isOptimized: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runtimeVersion: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emissionKind: FullDebug, splitDebugInlining: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nameTableKind: None)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!DIFile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(filename: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"/app/example.cpp"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directory: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"/app"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checksumkind: CSK_MD5, checksum: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"10b91831677796a5c7dc72e7bd216467"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!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"Dwarf Version"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!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"Debug Info Version"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!4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!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"PIC Level"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!5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!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"PIE Level"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!6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!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"uwtable"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!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"frame-pointer"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!8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!{!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"clang version 23.0.0git (https://github.com/llvm/llvm-project.git 652700b4cb3c87294f2d78cb87df5e394e589984)"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distinct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!DISubprogram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"square"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linkageName: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"square(int)"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file: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type: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!11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flags: DIFlagPrototyped, spFlags: DISPFlagDefinition, unit: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retainedNodes: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!14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!DIFile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(filename: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"example.cpp"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directory: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"/app"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checksumkind: CSK_MD5, checksum: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"10b91831677796a5c7dc72e7bd216467"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!11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!DISubroutineType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(types: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!DIBasicType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"int"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size: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encoding: DW_ATE_signed)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!14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!15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!DILocalVariable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n-US" sz="1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"num"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arg: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file: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type: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!16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!17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!18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!20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 sz="1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 sz="1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6259700" y="152400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18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square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8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8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25" name="Google Shape;225;p9"/>
          <p:cNvGrpSpPr/>
          <p:nvPr/>
        </p:nvGrpSpPr>
        <p:grpSpPr>
          <a:xfrm>
            <a:off x="6951798" y="126217"/>
            <a:ext cx="5146992" cy="445275"/>
            <a:chOff x="289925" y="5611838"/>
            <a:chExt cx="5188500" cy="445275"/>
          </a:xfrm>
        </p:grpSpPr>
        <p:sp>
          <p:nvSpPr>
            <p:cNvPr id="226" name="Google Shape;226;p9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27" name="Google Shape;227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9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https://godbolt.org/z/ecn15d566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9bd830106_0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Debug info in LLVM IR</a:t>
            </a:r>
            <a:endParaRPr/>
          </a:p>
        </p:txBody>
      </p:sp>
      <p:sp>
        <p:nvSpPr>
          <p:cNvPr id="235" name="Google Shape;235;g3d9bd830106_0_1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!DISubprogram</a:t>
            </a:r>
            <a:r>
              <a:rPr lang="en-US"/>
              <a:t> - function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!DILocalVariable</a:t>
            </a:r>
            <a:r>
              <a:rPr lang="en-US"/>
              <a:t> - local variable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/>
              <a:t> - source location attached to IR instruction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!DICompositeType</a:t>
            </a:r>
            <a:r>
              <a:rPr lang="en-US"/>
              <a:t> - struct/class/array type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!DIBasicType</a:t>
            </a:r>
            <a:r>
              <a:rPr lang="en-US"/>
              <a:t> - int, float, char, ...</a:t>
            </a:r>
            <a:endParaRPr/>
          </a:p>
        </p:txBody>
      </p:sp>
      <p:sp>
        <p:nvSpPr>
          <p:cNvPr id="236" name="Google Shape;236;g3d9bd830106_0_10"/>
          <p:cNvSpPr txBox="1"/>
          <p:nvPr/>
        </p:nvSpPr>
        <p:spPr>
          <a:xfrm>
            <a:off x="388000" y="3607850"/>
            <a:ext cx="118041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distinct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!DISubprogram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"square"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linkageName: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"square(int)"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file: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type: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flags: DIFlagPrototyped, spFlags: DISPFlagDefinition, unit: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retainedNodes: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!DIFile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(filename: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"example.cpp"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directory: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"/app"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checksumkind: CSK_MD5, checksum: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"10b91831677796a5c7dc72e7bd216467"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!DISubroutineType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(types: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!DIBasicType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"int"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size: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encoding: DW_ATE_signed)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!{}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!DILocalVariable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(name: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"num"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arg: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file: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type: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!16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!17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!18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!19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!20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!DILocation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(line: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column: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scope: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!9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37" name="Google Shape;237;g3d9bd830106_0_10"/>
          <p:cNvGrpSpPr/>
          <p:nvPr/>
        </p:nvGrpSpPr>
        <p:grpSpPr>
          <a:xfrm>
            <a:off x="6973348" y="126223"/>
            <a:ext cx="5146992" cy="445275"/>
            <a:chOff x="289925" y="5611838"/>
            <a:chExt cx="5188500" cy="445275"/>
          </a:xfrm>
        </p:grpSpPr>
        <p:sp>
          <p:nvSpPr>
            <p:cNvPr id="238" name="Google Shape;238;g3d9bd830106_0_1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39" name="Google Shape;239;g3d9bd830106_0_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g3d9bd830106_0_1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https://godbolt.org/z/ecn15d566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96d2629e4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Debug info in object file</a:t>
            </a:r>
            <a:endParaRPr/>
          </a:p>
        </p:txBody>
      </p:sp>
      <p:sp>
        <p:nvSpPr>
          <p:cNvPr id="247" name="Google Shape;247;g3d96d2629e4_0_1"/>
          <p:cNvSpPr txBox="1"/>
          <p:nvPr>
            <p:ph idx="1" type="body"/>
          </p:nvPr>
        </p:nvSpPr>
        <p:spPr>
          <a:xfrm>
            <a:off x="571372" y="1673450"/>
            <a:ext cx="48276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Debug information is stored to the corresponding sections in binary format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Tools responsible for working with DWARF are able to parse it and map back to the original source code</a:t>
            </a:r>
            <a:endParaRPr/>
          </a:p>
        </p:txBody>
      </p:sp>
      <p:sp>
        <p:nvSpPr>
          <p:cNvPr id="248" name="Google Shape;248;g3d96d2629e4_0_1"/>
          <p:cNvSpPr txBox="1"/>
          <p:nvPr/>
        </p:nvSpPr>
        <p:spPr>
          <a:xfrm>
            <a:off x="4979700" y="1559750"/>
            <a:ext cx="7212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.section        .debug_abbrev,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,@progbits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Abbreviation Code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DW_TAG_compile_unit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DW_CHILDREN_yes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DW_AT_producer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DW_FORM_strx1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DW_AT_language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DW_FORM_data2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DW_AT_name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DW_FORM_strx1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114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DW_AT_str_offsets_base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DW_FORM_sec_offset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DW_AT_stmt_list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DW_FORM_sec_offset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DW_AT_comp_dir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DW_FORM_strx1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DW_AT_low_pc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DW_FORM_addrx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DW_AT_high_pc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DW_FORM_data4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115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DW_AT_addr_base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DW_FORM_sec_offset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EOM(1)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.byte  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</a:t>
            </a:r>
            <a:r>
              <a:rPr lang="en-US" sz="12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EOM(2)</a:t>
            </a:r>
            <a:endParaRPr sz="12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...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49" name="Google Shape;249;g3d96d2629e4_0_1"/>
          <p:cNvGrpSpPr/>
          <p:nvPr/>
        </p:nvGrpSpPr>
        <p:grpSpPr>
          <a:xfrm>
            <a:off x="6951781" y="126227"/>
            <a:ext cx="5147027" cy="445275"/>
            <a:chOff x="289925" y="5611838"/>
            <a:chExt cx="5396338" cy="445275"/>
          </a:xfrm>
        </p:grpSpPr>
        <p:sp>
          <p:nvSpPr>
            <p:cNvPr id="250" name="Google Shape;250;g3d96d2629e4_0_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51" name="Google Shape;251;g3d96d2629e4_0_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g3d96d2629e4_0_1"/>
            <p:cNvSpPr/>
            <p:nvPr/>
          </p:nvSpPr>
          <p:spPr>
            <a:xfrm>
              <a:off x="777363" y="5611839"/>
              <a:ext cx="49089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https://godbolt.org/z/oW19bY35E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ptrace</a:t>
            </a:r>
            <a:endParaRPr/>
          </a:p>
        </p:txBody>
      </p:sp>
      <p:pic>
        <p:nvPicPr>
          <p:cNvPr id="258" name="Google Shape;25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400" y="1339333"/>
            <a:ext cx="9347200" cy="19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 txBox="1"/>
          <p:nvPr/>
        </p:nvSpPr>
        <p:spPr>
          <a:xfrm>
            <a:off x="3344464" y="6286500"/>
            <a:ext cx="54646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https://man7.org/linux/man-pages/man2/ptrace.2.html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 txBox="1"/>
          <p:nvPr/>
        </p:nvSpPr>
        <p:spPr>
          <a:xfrm>
            <a:off x="571202" y="3333232"/>
            <a:ext cx="11010900" cy="2595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 to process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Read/write registers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Read/write memory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on traps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Trace syscalls (emulated capability)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Debugger Engine</a:t>
            </a:r>
            <a:endParaRPr/>
          </a:p>
        </p:txBody>
      </p:sp>
      <p:sp>
        <p:nvSpPr>
          <p:cNvPr id="266" name="Google Shape;266;p11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Debugger Engine provides an interface for examining and manipulating running processes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Debugger Engine can be used to both write debugger extensions (e.g., for WinDbg) and full-featured debuggers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Debugger Markup Language is similar to HTML, but for debug info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Full docs: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https://docs.microsoft.com/en-us/windows-hardware/drivers/debugger/debugger-engine-and-extension-apis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cbe5626e1a_0_2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Debugger features</a:t>
            </a:r>
            <a:endParaRPr/>
          </a:p>
        </p:txBody>
      </p:sp>
      <p:sp>
        <p:nvSpPr>
          <p:cNvPr id="273" name="Google Shape;273;g2cbe5626e1a_0_25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Breakpoints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Step-by-step execution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Local variables overview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and many others…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Breakpoints</a:t>
            </a:r>
            <a:endParaRPr/>
          </a:p>
        </p:txBody>
      </p:sp>
      <p:sp>
        <p:nvSpPr>
          <p:cNvPr id="279" name="Google Shape;279;p12"/>
          <p:cNvSpPr txBox="1"/>
          <p:nvPr>
            <p:ph idx="1" type="body"/>
          </p:nvPr>
        </p:nvSpPr>
        <p:spPr>
          <a:xfrm>
            <a:off x="571373" y="1673450"/>
            <a:ext cx="68424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Essential debugging tool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very different kind of breakpoints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Hardware – supported by CPU, limited number of BPs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Software – replace instruction at address with halt/trap/interrupt and then replace back with original instruction 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1141350" y="4674550"/>
            <a:ext cx="571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625250" y="4803575"/>
            <a:ext cx="644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GDB: break &lt;file&gt;:&lt;line&gt;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LLDB: breakpoint set -l &lt;line&gt;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2" name="Google Shape;28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550" y="4356300"/>
            <a:ext cx="7822801" cy="40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3167" y="1"/>
            <a:ext cx="4988826" cy="412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cbe5626e1a_0_1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Step-by-step execution</a:t>
            </a:r>
            <a:endParaRPr/>
          </a:p>
        </p:txBody>
      </p:sp>
      <p:sp>
        <p:nvSpPr>
          <p:cNvPr id="290" name="Google Shape;290;g2cbe5626e1a_0_1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Stepping commands let developers execute their program one line or instruction at a time. This helps in closely monitoring the changes in program state and variable values</a:t>
            </a:r>
            <a:endParaRPr/>
          </a:p>
        </p:txBody>
      </p:sp>
      <p:sp>
        <p:nvSpPr>
          <p:cNvPr id="291" name="Google Shape;291;g2cbe5626e1a_0_16"/>
          <p:cNvSpPr txBox="1"/>
          <p:nvPr/>
        </p:nvSpPr>
        <p:spPr>
          <a:xfrm>
            <a:off x="499415" y="3167750"/>
            <a:ext cx="64413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level (line by line):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GDB/LLDB: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level (instr by instr):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GDB/LLDB: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stepi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nexti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2" name="Google Shape;292;g2cbe5626e1a_0_16"/>
          <p:cNvCxnSpPr/>
          <p:nvPr/>
        </p:nvCxnSpPr>
        <p:spPr>
          <a:xfrm>
            <a:off x="4694400" y="4902825"/>
            <a:ext cx="40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93" name="Google Shape;293;g2cbe5626e1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125" y="2937725"/>
            <a:ext cx="6151226" cy="38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cbe5626e1a_0_4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Inspect</a:t>
            </a:r>
            <a:r>
              <a:rPr lang="en-US"/>
              <a:t> local variables and stack</a:t>
            </a:r>
            <a:endParaRPr/>
          </a:p>
        </p:txBody>
      </p:sp>
      <p:sp>
        <p:nvSpPr>
          <p:cNvPr id="300" name="Google Shape;300;g2cbe5626e1a_0_4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See current values of the variables</a:t>
            </a:r>
            <a:endParaRPr/>
          </a:p>
        </p:txBody>
      </p:sp>
      <p:pic>
        <p:nvPicPr>
          <p:cNvPr id="301" name="Google Shape;301;g2cbe5626e1a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95624"/>
            <a:ext cx="12192002" cy="104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2cbe5626e1a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3650" y="2122175"/>
            <a:ext cx="8642151" cy="2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2cbe5626e1a_0_46"/>
          <p:cNvSpPr txBox="1"/>
          <p:nvPr/>
        </p:nvSpPr>
        <p:spPr>
          <a:xfrm>
            <a:off x="0" y="3434225"/>
            <a:ext cx="6441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 &lt;</a:t>
            </a: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</a:t>
            </a: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frame variable [</a:t>
            </a: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</a:t>
            </a: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be5626e1a_0_6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Stack trace</a:t>
            </a:r>
            <a:endParaRPr/>
          </a:p>
        </p:txBody>
      </p:sp>
      <p:sp>
        <p:nvSpPr>
          <p:cNvPr id="310" name="Google Shape;310;g2cbe5626e1a_0_6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Stack tracing provides a look at the function call stack at any point in a program's execution. This is useful for understanding the sequence of function calls leading to the current point.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g2cbe5626e1a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150" y="3840050"/>
            <a:ext cx="93535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2cbe5626e1a_0_68"/>
          <p:cNvSpPr txBox="1"/>
          <p:nvPr/>
        </p:nvSpPr>
        <p:spPr>
          <a:xfrm>
            <a:off x="625250" y="5184575"/>
            <a:ext cx="644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GDB/LLDB: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backtrace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bt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cbe5626e1a_0_7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Watchpoints</a:t>
            </a:r>
            <a:endParaRPr/>
          </a:p>
        </p:txBody>
      </p:sp>
      <p:sp>
        <p:nvSpPr>
          <p:cNvPr id="319" name="Google Shape;319;g2cbe5626e1a_0_77"/>
          <p:cNvSpPr txBox="1"/>
          <p:nvPr>
            <p:ph idx="1" type="body"/>
          </p:nvPr>
        </p:nvSpPr>
        <p:spPr>
          <a:xfrm>
            <a:off x="210950" y="1524000"/>
            <a:ext cx="5682600" cy="293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Watchpoints are similar to breakpoints but are triggered by changes in the value of a variable rather than the execution of a specific line of code.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cbe5626e1a_0_77"/>
          <p:cNvSpPr txBox="1"/>
          <p:nvPr/>
        </p:nvSpPr>
        <p:spPr>
          <a:xfrm>
            <a:off x="0" y="4564175"/>
            <a:ext cx="5893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watch &lt;variable&gt;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watchpoint set variable &lt;variable&gt;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1" name="Google Shape;321;g2cbe5626e1a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951" y="0"/>
            <a:ext cx="625904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cbe5626e1a_0_9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Conditional breakpoints</a:t>
            </a:r>
            <a:endParaRPr/>
          </a:p>
        </p:txBody>
      </p:sp>
      <p:sp>
        <p:nvSpPr>
          <p:cNvPr id="328" name="Google Shape;328;g2cbe5626e1a_0_91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These are breakpoints that are triggered only if a specified condition is true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Condition is checked every time when program reaches particular line of code</a:t>
            </a:r>
            <a:endParaRPr/>
          </a:p>
        </p:txBody>
      </p:sp>
      <p:sp>
        <p:nvSpPr>
          <p:cNvPr id="329" name="Google Shape;329;g2cbe5626e1a_0_91"/>
          <p:cNvSpPr txBox="1"/>
          <p:nvPr/>
        </p:nvSpPr>
        <p:spPr>
          <a:xfrm>
            <a:off x="0" y="3718725"/>
            <a:ext cx="12267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break [location] if [condition]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breakpoint set --name [function] --condition '[condition]'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96d2629e4_0_7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debugger capabilities</a:t>
            </a:r>
            <a:endParaRPr/>
          </a:p>
        </p:txBody>
      </p:sp>
      <p:sp>
        <p:nvSpPr>
          <p:cNvPr id="336" name="Google Shape;336;g3d96d2629e4_0_7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LLDB documentation: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https://lldb.llvm.org/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LLDB tutorial: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https://lldb.llvm.org/use/tutorial.html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GDB documentation: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https://sourceware.org/gdb/documentation/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MSVC debugger documentation: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https://learn.microsoft.com/en-us/visualstudio/debugger/getting-started-with-the-debugger-cpp?view=visualstudio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cbe5626e1a_0_10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Modifying Program State</a:t>
            </a:r>
            <a:endParaRPr/>
          </a:p>
        </p:txBody>
      </p:sp>
      <p:sp>
        <p:nvSpPr>
          <p:cNvPr id="343" name="Google Shape;343;g2cbe5626e1a_0_102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Debuggers often allow altering the state of the program, such as changing variable values or jumping to different points in the code.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2cbe5626e1a_0_102"/>
          <p:cNvSpPr txBox="1"/>
          <p:nvPr/>
        </p:nvSpPr>
        <p:spPr>
          <a:xfrm>
            <a:off x="0" y="3718725"/>
            <a:ext cx="12267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 var &lt;variable&gt;=&lt;value&gt;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LLDB: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expression &lt;variable&gt; = &lt;value&gt;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cbe5626e1a_0_11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Modifying Program State</a:t>
            </a:r>
            <a:endParaRPr/>
          </a:p>
        </p:txBody>
      </p:sp>
      <p:pic>
        <p:nvPicPr>
          <p:cNvPr id="351" name="Google Shape;351;g2cbe5626e1a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964" y="1673450"/>
            <a:ext cx="8271722" cy="518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Expression evaluation</a:t>
            </a:r>
            <a:endParaRPr/>
          </a:p>
        </p:txBody>
      </p:sp>
      <p:sp>
        <p:nvSpPr>
          <p:cNvPr id="357" name="Google Shape;357;p1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Parsing programming languages is still a challenge for debuggers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Hard to keep up with all new features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C++ LLDB uses a full Clang instance: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parses C/C++ expressions using Clang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maps debug info to Clang types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JIT compile or evaluate expression 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cbe5626e1a_0_1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Remote debugging</a:t>
            </a:r>
            <a:endParaRPr/>
          </a:p>
        </p:txBody>
      </p:sp>
      <p:sp>
        <p:nvSpPr>
          <p:cNvPr id="364" name="Google Shape;364;g2cbe5626e1a_0_11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feature enables the debugging of a program running on a different machine than the debugger, which is useful for testing in different environments or on different hardware.</a:t>
            </a:r>
            <a:endParaRPr/>
          </a:p>
        </p:txBody>
      </p:sp>
      <p:pic>
        <p:nvPicPr>
          <p:cNvPr id="365" name="Google Shape;365;g2cbe5626e1a_0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207" y="3880550"/>
            <a:ext cx="5230975" cy="153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2cbe5626e1a_0_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075" y="3448945"/>
            <a:ext cx="5539151" cy="26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2cbe5626e1a_0_119"/>
          <p:cNvSpPr txBox="1"/>
          <p:nvPr/>
        </p:nvSpPr>
        <p:spPr>
          <a:xfrm>
            <a:off x="938900" y="6055275"/>
            <a:ext cx="439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gdb/lldb network debugging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2cbe5626e1a_0_119"/>
          <p:cNvSpPr txBox="1"/>
          <p:nvPr/>
        </p:nvSpPr>
        <p:spPr>
          <a:xfrm>
            <a:off x="7047925" y="6055275"/>
            <a:ext cx="439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MSVC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debugging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2cbe5626e1a_0_119"/>
          <p:cNvSpPr txBox="1"/>
          <p:nvPr/>
        </p:nvSpPr>
        <p:spPr>
          <a:xfrm>
            <a:off x="1990650" y="2915175"/>
            <a:ext cx="821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Debugger and debuggee communicate over a protocol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LLDB network debugging architecture</a:t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1919236" y="2919045"/>
            <a:ext cx="2311120" cy="15373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802734" y="1728316"/>
            <a:ext cx="3356149" cy="391885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7104185" y="2341266"/>
            <a:ext cx="2843684" cy="703384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7104185" y="3140111"/>
            <a:ext cx="2843684" cy="703384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macOS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7104185" y="3938956"/>
            <a:ext cx="2843684" cy="703384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7104185" y="4737801"/>
            <a:ext cx="2843684" cy="703384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2031442" y="3518600"/>
            <a:ext cx="2068286" cy="703384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3"/>
          <p:cNvCxnSpPr>
            <a:stCxn id="375" idx="3"/>
            <a:endCxn id="376" idx="1"/>
          </p:cNvCxnSpPr>
          <p:nvPr/>
        </p:nvCxnSpPr>
        <p:spPr>
          <a:xfrm>
            <a:off x="4230356" y="3687745"/>
            <a:ext cx="25725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83" name="Google Shape;383;p13"/>
          <p:cNvSpPr txBox="1"/>
          <p:nvPr/>
        </p:nvSpPr>
        <p:spPr>
          <a:xfrm>
            <a:off x="4426631" y="3044650"/>
            <a:ext cx="2179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GDB remote protocol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GDB remote protocol</a:t>
            </a:r>
            <a:endParaRPr/>
          </a:p>
        </p:txBody>
      </p:sp>
      <p:sp>
        <p:nvSpPr>
          <p:cNvPr id="389" name="Google Shape;389;p15"/>
          <p:cNvSpPr txBox="1"/>
          <p:nvPr>
            <p:ph idx="1" type="body"/>
          </p:nvPr>
        </p:nvSpPr>
        <p:spPr>
          <a:xfrm>
            <a:off x="571370" y="1673454"/>
            <a:ext cx="11010900" cy="484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Exchange textual messages in the format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Checksum is modulo 256 sum of all characters between $ and #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common packets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? – query reason for halt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b addr,mode – set breakpoint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 addr – continue at addr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g – read general registers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g XX... – write general registers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m addr,length - read memory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m addr,length:XX… - write memory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1204292" y="2131202"/>
            <a:ext cx="273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$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packet-data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checksum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&lt;- +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571369" y="6434351"/>
            <a:ext cx="8261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https://sourceware.org/gdb/onlinedocs/gdb/Remote-Protocol.html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Python interface</a:t>
            </a:r>
            <a:endParaRPr/>
          </a:p>
        </p:txBody>
      </p:sp>
      <p:sp>
        <p:nvSpPr>
          <p:cNvPr id="397" name="Google Shape;397;p16"/>
          <p:cNvSpPr txBox="1"/>
          <p:nvPr>
            <p:ph idx="1" type="body"/>
          </p:nvPr>
        </p:nvSpPr>
        <p:spPr>
          <a:xfrm>
            <a:off x="571375" y="1673450"/>
            <a:ext cx="112257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LLDB has flexible scripting facilities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Interfaces to control entire debugging session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 debugger commands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Pretty printers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Customize debugger to support your data structures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LLDB Python API: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https://lldb.llvm.org/python_api.html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LLDB Python example: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https://lldb.llvm.org/use/tutorials/implementing-standalone-scripts.html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Time travel</a:t>
            </a:r>
            <a:endParaRPr/>
          </a:p>
        </p:txBody>
      </p:sp>
      <p:sp>
        <p:nvSpPr>
          <p:cNvPr id="403" name="Google Shape;403;p17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Time travel debugging is </a:t>
            </a:r>
            <a:r>
              <a:rPr lang="en-US"/>
              <a:t>the ability</a:t>
            </a:r>
            <a:r>
              <a:rPr lang="en-US"/>
              <a:t> to step back one or more instructions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 principle: save state in particular points of program execution and restore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Typical implementation ideas: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Virtual machine, that saves the whole processor state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Save state on perf counters change only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hardware assistance: Intel Processor Trace (PT), ARM CoreSight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Limitations: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Networking, GPUs, other peripherals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Multithreading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rr (Record and Replay Framework): </a:t>
            </a:r>
            <a:r>
              <a:rPr lang="en-US" sz="2200" u="sng">
                <a:solidFill>
                  <a:schemeClr val="hlink"/>
                </a:solidFill>
                <a:hlinkClick r:id="rId3"/>
              </a:rPr>
              <a:t>https://rr-project.org/</a:t>
            </a:r>
            <a:r>
              <a:rPr lang="en-US" sz="2200"/>
              <a:t>, </a:t>
            </a:r>
            <a:r>
              <a:rPr lang="en-US" sz="2200" u="sng">
                <a:solidFill>
                  <a:schemeClr val="hlink"/>
                </a:solidFill>
                <a:hlinkClick r:id="rId4"/>
              </a:rPr>
              <a:t>https://github.com/rr-debugger/rr</a:t>
            </a:r>
            <a:r>
              <a:rPr lang="en-US" sz="2200"/>
              <a:t> </a:t>
            </a:r>
            <a:endParaRPr sz="22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cbe5626e1a_0_12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More useful materials on LLDB</a:t>
            </a:r>
            <a:endParaRPr/>
          </a:p>
        </p:txBody>
      </p:sp>
      <p:sp>
        <p:nvSpPr>
          <p:cNvPr id="410" name="Google Shape;410;g2cbe5626e1a_0_12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LLDB tutorial: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https://lldb.llvm.org/use/tutorial.html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GDB to LLDB commands mapping: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https://lldb.llvm.org/use/map.html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cbe5626e1a_0_1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17" name="Google Shape;417;g2cbe5626e1a_0_1"/>
          <p:cNvSpPr txBox="1"/>
          <p:nvPr/>
        </p:nvSpPr>
        <p:spPr>
          <a:xfrm>
            <a:off x="571375" y="1673451"/>
            <a:ext cx="110109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https://forms.gle/VGhg53cKmkHoVtPw9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Submission time: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2cbe5626e1a_0_1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19" name="Google Shape;419;g2cbe5626e1a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250" y="2798750"/>
            <a:ext cx="9577400" cy="35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2cbe5626e1a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0750" y="239975"/>
            <a:ext cx="3086100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904ca52a9_0_110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27" name="Google Shape;427;g35904ca52a9_0_110"/>
          <p:cNvSpPr txBox="1"/>
          <p:nvPr/>
        </p:nvSpPr>
        <p:spPr>
          <a:xfrm>
            <a:off x="571375" y="1673451"/>
            <a:ext cx="110109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https://forms.gle/ESvwo5dfw9drBFvk7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Submission time: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5904ca52a9_0_11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29" name="Google Shape;429;g35904ca52a9_0_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05400" y="1776225"/>
            <a:ext cx="2464575" cy="24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5904ca52a9_0_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688300"/>
            <a:ext cx="8225275" cy="40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9bd830106_0_29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437" name="Google Shape;437;g3d9bd830106_0_29"/>
          <p:cNvSpPr txBox="1"/>
          <p:nvPr/>
        </p:nvSpPr>
        <p:spPr>
          <a:xfrm>
            <a:off x="571375" y="1673451"/>
            <a:ext cx="110109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https://forms.gle/8JntK294hophUPVX6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Submission time: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d9bd830106_0_29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439" name="Google Shape;439;g3d9bd830106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88063" y="1800825"/>
            <a:ext cx="2601475" cy="25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d9bd830106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768375"/>
            <a:ext cx="8073801" cy="393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446" name="Google Shape;446;p18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Source Level Debugging with LLVM: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https://llvm.org/docs/SourceLevelDebugging.html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Greg Law "Give me 15 minutes &amp; I'll change your view of GDB”: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https://www.youtube.com/watch?v=PorfLSr3DDI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LLVM Developers’ Meeting: R. Isemann “Better C++ debugging using Clang Modules in LLDB”: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https://www.youtube.com/watch?v=vuNZLlHhy0k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2015 EuroLLVM Developers’ Meeting: “Why should I use LLDB?”: </a:t>
            </a:r>
            <a:r>
              <a:rPr lang="en-US" sz="1600" u="sng">
                <a:solidFill>
                  <a:schemeClr val="hlink"/>
                </a:solidFill>
                <a:hlinkClick r:id="rId6"/>
              </a:rPr>
              <a:t>https://www.youtube.com/watch?v=JtpQZw9NpIU</a:t>
            </a:r>
            <a:r>
              <a:rPr lang="en-US" sz="1600"/>
              <a:t> </a:t>
            </a:r>
            <a:endParaRPr sz="1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2022-04-12T07:39:01Z</dcterms:created>
  <dc:creator>Александр Баташев</dc:creator>
</cp:coreProperties>
</file>