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6858000" cx="12192000"/>
  <p:notesSz cx="6858000" cy="9144000"/>
  <p:embeddedFontLst>
    <p:embeddedFont>
      <p:font typeface="Helvetica Neue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jiu2H9+2hgOkkmFSBrKlX05+FC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HelveticaNeue-regular.fntdata"/><Relationship Id="rId47" Type="http://schemas.openxmlformats.org/officeDocument/2006/relationships/slide" Target="slides/slide43.xml"/><Relationship Id="rId49" Type="http://schemas.openxmlformats.org/officeDocument/2006/relationships/font" Target="fonts/HelveticaNeu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HelveticaNeue-boldItalic.fntdata"/><Relationship Id="rId50" Type="http://schemas.openxmlformats.org/officeDocument/2006/relationships/font" Target="fonts/HelveticaNeue-italic.fntdata"/><Relationship Id="rId52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aa17c3ece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26aa17c3ec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6b5081e801_0_2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26b5081e801_0_2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b5081e801_0_4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6b5081e801_0_4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6b5081e80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6b5081e80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6b5081e801_0_4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6b5081e801_0_4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6b5081e801_0_4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6b5081e801_0_4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6b5081e801_0_4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6b5081e801_0_4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08807a7f1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d08807a7f1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08807a7f1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d08807a7f1_0_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08807a7f1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d08807a7f1_0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08807a7f1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d08807a7f1_0_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08807a7f1_0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d08807a7f1_0_1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08807a7f1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d08807a7f1_0_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5494b0e56_0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5494b0e56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c3fbe12272_1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c3fbe12272_1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6aa17c3ece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6aa17c3ece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6b5081e801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26b5081e801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6b5081e801_0_4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6b5081e801_0_4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4113910fe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4113910fee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26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Blue B" showMasterSp="0">
  <p:cSld name="1_Title Blue B">
    <p:bg>
      <p:bgPr>
        <a:solidFill>
          <a:srgbClr val="184A86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0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30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0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0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p30"/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31" name="Google Shape;31;p30"/>
            <p:cNvSpPr/>
            <p:nvPr/>
          </p:nvSpPr>
          <p:spPr>
            <a:xfrm>
              <a:off x="1314450" y="6396809"/>
              <a:ext cx="78581" cy="78581"/>
            </a:xfrm>
            <a:custGeom>
              <a:rect b="b" l="l" r="r" t="t"/>
              <a:pathLst>
                <a:path extrusionOk="0" h="78581" w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0"/>
            <p:cNvSpPr/>
            <p:nvPr/>
          </p:nvSpPr>
          <p:spPr>
            <a:xfrm>
              <a:off x="1316545" y="6391094"/>
              <a:ext cx="995171" cy="420623"/>
            </a:xfrm>
            <a:custGeom>
              <a:rect b="b" l="l" r="r" t="t"/>
              <a:pathLst>
                <a:path extrusionOk="0" h="420623" w="995171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0"/>
            <p:cNvSpPr/>
            <p:nvPr/>
          </p:nvSpPr>
          <p:spPr>
            <a:xfrm>
              <a:off x="2358770" y="6728469"/>
              <a:ext cx="79057" cy="79057"/>
            </a:xfrm>
            <a:custGeom>
              <a:rect b="b" l="l" r="r" t="t"/>
              <a:pathLst>
                <a:path extrusionOk="0" h="79057" w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0"/>
            <p:cNvSpPr/>
            <p:nvPr/>
          </p:nvSpPr>
          <p:spPr>
            <a:xfrm>
              <a:off x="2384869" y="6748090"/>
              <a:ext cx="30765" cy="39528"/>
            </a:xfrm>
            <a:custGeom>
              <a:rect b="b" l="l" r="r" t="t"/>
              <a:pathLst>
                <a:path extrusionOk="0" h="39528" w="30765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hite" showMasterSp="0">
  <p:cSld name="Title Whit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500"/>
              <a:buFont typeface="Arial"/>
              <a:buNone/>
              <a:defRPr sz="75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i="0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31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1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1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6513" y="5992753"/>
            <a:ext cx="1031758" cy="38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">
  <p:cSld name="Title, Sub &amp; Conte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" type="body"/>
          </p:nvPr>
        </p:nvSpPr>
        <p:spPr>
          <a:xfrm>
            <a:off x="571370" y="2139953"/>
            <a:ext cx="11010900" cy="410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2" type="body"/>
          </p:nvPr>
        </p:nvSpPr>
        <p:spPr>
          <a:xfrm>
            <a:off x="57137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2 Content Columns">
  <p:cSld name="Title, Sub &amp; 2 Content 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" type="body"/>
          </p:nvPr>
        </p:nvSpPr>
        <p:spPr>
          <a:xfrm>
            <a:off x="571500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2" type="body"/>
          </p:nvPr>
        </p:nvSpPr>
        <p:spPr>
          <a:xfrm>
            <a:off x="6289113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3" type="body"/>
          </p:nvPr>
        </p:nvSpPr>
        <p:spPr>
          <a:xfrm>
            <a:off x="57150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2 Pictures">
  <p:cSld name="Title, Sub, Content &amp; 2 Picture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5"/>
          <p:cNvSpPr txBox="1"/>
          <p:nvPr>
            <p:ph type="title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" type="body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2" type="body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35"/>
          <p:cNvSpPr/>
          <p:nvPr>
            <p:ph idx="3" type="pic"/>
          </p:nvPr>
        </p:nvSpPr>
        <p:spPr>
          <a:xfrm>
            <a:off x="6609331" y="571500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35"/>
          <p:cNvSpPr/>
          <p:nvPr>
            <p:ph idx="4" type="pic"/>
          </p:nvPr>
        </p:nvSpPr>
        <p:spPr>
          <a:xfrm>
            <a:off x="6609331" y="3537061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35"/>
          <p:cNvSpPr txBox="1"/>
          <p:nvPr>
            <p:ph idx="5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6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Picture">
  <p:cSld name="Title, Sub, Content &amp; Pictur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6"/>
          <p:cNvSpPr/>
          <p:nvPr>
            <p:ph idx="2" type="pic"/>
          </p:nvPr>
        </p:nvSpPr>
        <p:spPr>
          <a:xfrm>
            <a:off x="6615046" y="0"/>
            <a:ext cx="5129422" cy="6416167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36"/>
          <p:cNvSpPr txBox="1"/>
          <p:nvPr>
            <p:ph type="title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3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Full Page Picture">
  <p:cSld name="Title &amp; Full Page Pictur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/>
          <p:nvPr>
            <p:ph idx="2" type="pic"/>
          </p:nvPr>
        </p:nvSpPr>
        <p:spPr>
          <a:xfrm>
            <a:off x="-11286" y="0"/>
            <a:ext cx="11744325" cy="6401797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7"/>
          <p:cNvSpPr txBox="1"/>
          <p:nvPr>
            <p:ph type="title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Quote">
  <p:cSld name="Title &amp; Quot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8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" type="body"/>
          </p:nvPr>
        </p:nvSpPr>
        <p:spPr>
          <a:xfrm>
            <a:off x="571500" y="1592529"/>
            <a:ext cx="11010900" cy="3727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571500" y="5461818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hart Example" showMasterSp="0">
  <p:cSld name="3_Chart Example">
    <p:bg>
      <p:bgPr>
        <a:solidFill>
          <a:schemeClr val="accen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9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39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4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9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9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571500" y="1599816"/>
            <a:ext cx="11010900" cy="3719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pic>
        <p:nvPicPr>
          <p:cNvPr descr="Image" id="81" name="Google Shape;81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9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83" name="Google Shape;83;p39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84" name="Google Shape;84;p39"/>
          <p:cNvSpPr txBox="1"/>
          <p:nvPr>
            <p:ph idx="2" type="body"/>
          </p:nvPr>
        </p:nvSpPr>
        <p:spPr>
          <a:xfrm>
            <a:off x="571500" y="5476099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39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hite">
  <p:cSld name="Section Break Whit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0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Arial"/>
              <a:buNone/>
              <a:defRPr sz="48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88" name="Google Shape;88;p40"/>
          <p:cNvSpPr txBox="1"/>
          <p:nvPr>
            <p:ph idx="1" type="body"/>
          </p:nvPr>
        </p:nvSpPr>
        <p:spPr>
          <a:xfrm>
            <a:off x="571500" y="393975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Blue" showMasterSp="0">
  <p:cSld name="Section Break Blue">
    <p:bg>
      <p:bgPr>
        <a:solidFill>
          <a:schemeClr val="accen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1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91" name="Google Shape;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1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1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94" name="Google Shape;94;p41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95" name="Google Shape;95;p41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96" name="Google Shape;96;p41"/>
          <p:cNvSpPr txBox="1"/>
          <p:nvPr>
            <p:ph idx="1" type="body"/>
          </p:nvPr>
        </p:nvSpPr>
        <p:spPr>
          <a:xfrm>
            <a:off x="571500" y="3948942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97" name="Google Shape;97;p41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ight Blue" showMasterSp="0">
  <p:cSld name="Section Break Light Blue">
    <p:bg>
      <p:bgPr>
        <a:solidFill>
          <a:srgbClr val="0095BD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2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42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101" name="Google Shape;10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2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2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2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05" name="Google Shape;105;p42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06" name="Google Shape;106;p42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07" name="Google Shape;107;p42"/>
          <p:cNvSpPr txBox="1"/>
          <p:nvPr>
            <p:ph idx="1" type="body"/>
          </p:nvPr>
        </p:nvSpPr>
        <p:spPr>
          <a:xfrm>
            <a:off x="571500" y="396442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" showMasterSp="0">
  <p:cSld name="Title, Sub &amp; Content Blue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3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3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3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3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3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14" name="Google Shape;11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3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3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43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18" name="Google Shape;118;p43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19" name="Google Shape;119;p43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20" name="Google Shape;120;p43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2" showMasterSp="0">
  <p:cSld name="Title, Sub &amp; Content Blue 2">
    <p:bg>
      <p:bgPr>
        <a:solidFill>
          <a:schemeClr val="dk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4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4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4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4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4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27" name="Google Shape;12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4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4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44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31" name="Google Shape;131;p44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32" name="Google Shape;132;p44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33" name="Google Shape;133;p44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" showMasterSp="0">
  <p:cSld name="Title, Sub &amp; Content Light Blue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5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5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37" name="Google Shape;137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5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5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5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5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5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5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44" name="Google Shape;144;p45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45" name="Google Shape;145;p45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46" name="Google Shape;146;p45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47" name="Google Shape;147;p45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Gray">
  <p:cSld name="Title, Sub, Content Gray">
    <p:bg>
      <p:bgPr>
        <a:solidFill>
          <a:srgbClr val="F2F2F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6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6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6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6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  <a:defRPr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3" name="Google Shape;153;p46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4" name="Google Shape;154;p46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p46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3" showMasterSp="0">
  <p:cSld name="Title, Sub &amp; Content Blue 3">
    <p:bg>
      <p:bgPr>
        <a:solidFill>
          <a:schemeClr val="accen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7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8" name="Google Shape;158;p47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9" name="Google Shape;159;p47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47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47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4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7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63" name="Google Shape;163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7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65" name="Google Shape;165;p47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66" name="Google Shape;166;p47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 2" showMasterSp="0">
  <p:cSld name="Title, Sub &amp; Content Light Blue 2">
    <p:bg>
      <p:bgPr>
        <a:solidFill>
          <a:srgbClr val="0095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8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9" name="Google Shape;169;p48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70" name="Google Shape;170;p48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71" name="Google Shape;171;p48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48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73" name="Google Shape;173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8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75" name="Google Shape;175;p48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76" name="Google Shape;176;p48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White">
  <p:cSld name="Title &amp; Sub Whit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49"/>
          <p:cNvGraphicFramePr/>
          <p:nvPr/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79" name="Google Shape;179;p49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80" name="Google Shape;180;p49"/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49"/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Blue" showMasterSp="0">
  <p:cSld name="Title &amp; Sub Blue">
    <p:bg>
      <p:bgPr>
        <a:solidFill>
          <a:schemeClr val="dk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0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0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85" name="Google Shape;185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0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0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0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89" name="Google Shape;189;p50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90" name="Google Shape;190;p50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Light Blue" showMasterSp="0">
  <p:cSld name="Title &amp; Sub Light Blue">
    <p:bg>
      <p:bgPr>
        <a:solidFill>
          <a:srgbClr val="00C7FD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1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1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94" name="Google Shape;19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1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1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1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98" name="Google Shape;198;p51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99" name="Google Shape;199;p51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idx="1" type="body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25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llvm.org/docs/CommandGuide/opt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lvm.org/docs/Passes.html" TargetMode="External"/><Relationship Id="rId4" Type="http://schemas.openxmlformats.org/officeDocument/2006/relationships/hyperlink" Target="https://llvm.org/docs/CommandGuide/opt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godbolt.org/z/vYzMohM3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hyperlink" Target="https://godbolt.org/z/T6bWarjjK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hyperlink" Target="https://godbolt.org/z/hK4ndPbcq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hyperlink" Target="https://dl.acm.org/doi/pdf/10.1145/362929.362947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hyperlink" Target="https://llvm.org/docs/LoopTerminology.html" TargetMode="External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hyperlink" Target="https://godbolt.org/z/KE4GKsfKT" TargetMode="External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hyperlink" Target="https://godbolt.org/z/ofGWxx4c4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hyperlink" Target="https://llvm.org/docs/CycleTerminology.html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hyperlink" Target="https://www.intel.com/content/www/us/en/developer/articles/technical/intel-sdm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hyperlink" Target="https://en.wikipedia.org/wiki/Polytope_model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polly.llvm.org/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llvm.org/docs/WritingAnLLVMNewPMPass.html" TargetMode="External"/><Relationship Id="rId4" Type="http://schemas.openxmlformats.org/officeDocument/2006/relationships/hyperlink" Target="https://github.com/llvm/llvm-project/tree/main/llvm/examples/IRTransforms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forms.gle/A3XfkLu2PnZbRodT7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forms.gle/ywfMNSijV2XqDiVF8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llvm.org/devmtg/2018-10/slides/Kruse-LoopTransforms.pdf" TargetMode="External"/><Relationship Id="rId4" Type="http://schemas.openxmlformats.org/officeDocument/2006/relationships/hyperlink" Target="https://www.youtube.com/watch?v=mXve_W4XU2g" TargetMode="External"/><Relationship Id="rId5" Type="http://schemas.openxmlformats.org/officeDocument/2006/relationships/hyperlink" Target="https://www.youtube.com/watch?v=WwfZkQEuwEE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</a:pPr>
            <a:r>
              <a:rPr lang="en-US"/>
              <a:t>Compilers 101</a:t>
            </a:r>
            <a:endParaRPr/>
          </a:p>
        </p:txBody>
      </p:sp>
      <p:sp>
        <p:nvSpPr>
          <p:cNvPr id="205" name="Google Shape;205;p1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Optimizations – Part 2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Previously…</a:t>
            </a:r>
            <a:endParaRPr/>
          </a:p>
        </p:txBody>
      </p:sp>
      <p:sp>
        <p:nvSpPr>
          <p:cNvPr id="211" name="Google Shape;211;p2"/>
          <p:cNvSpPr/>
          <p:nvPr/>
        </p:nvSpPr>
        <p:spPr>
          <a:xfrm>
            <a:off x="855405" y="1544658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2"/>
          <p:cNvSpPr/>
          <p:nvPr/>
        </p:nvSpPr>
        <p:spPr>
          <a:xfrm>
            <a:off x="855404" y="2098214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2"/>
          <p:cNvSpPr/>
          <p:nvPr/>
        </p:nvSpPr>
        <p:spPr>
          <a:xfrm>
            <a:off x="855403" y="2651770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2"/>
          <p:cNvSpPr/>
          <p:nvPr/>
        </p:nvSpPr>
        <p:spPr>
          <a:xfrm>
            <a:off x="855405" y="3213202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855402" y="3774634"/>
            <a:ext cx="2861187" cy="471924"/>
          </a:xfrm>
          <a:prstGeom prst="rect">
            <a:avLst/>
          </a:prstGeom>
          <a:solidFill>
            <a:srgbClr val="A5A5A5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855401" y="4336066"/>
            <a:ext cx="2861187" cy="471924"/>
          </a:xfrm>
          <a:prstGeom prst="rect">
            <a:avLst/>
          </a:prstGeom>
          <a:solidFill>
            <a:schemeClr val="accent5"/>
          </a:solidFill>
          <a:ln cap="flat" cmpd="sng" w="25400">
            <a:solidFill>
              <a:srgbClr val="6843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2"/>
          <p:cNvSpPr/>
          <p:nvPr/>
        </p:nvSpPr>
        <p:spPr>
          <a:xfrm>
            <a:off x="855413" y="5458947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855424" y="4897528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6707568" y="2474368"/>
            <a:ext cx="1828800" cy="5950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220" name="Google Shape;220;p2"/>
          <p:cNvSpPr/>
          <p:nvPr/>
        </p:nvSpPr>
        <p:spPr>
          <a:xfrm>
            <a:off x="6478475" y="4241871"/>
            <a:ext cx="2286983" cy="595035"/>
          </a:xfrm>
          <a:prstGeom prst="rect">
            <a:avLst/>
          </a:prstGeom>
          <a:solidFill>
            <a:schemeClr val="accent5"/>
          </a:solidFill>
          <a:ln cap="flat" cmpd="sng" w="25400">
            <a:solidFill>
              <a:srgbClr val="6843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/>
          </a:p>
        </p:txBody>
      </p:sp>
      <p:sp>
        <p:nvSpPr>
          <p:cNvPr id="221" name="Google Shape;221;p2"/>
          <p:cNvSpPr/>
          <p:nvPr/>
        </p:nvSpPr>
        <p:spPr>
          <a:xfrm>
            <a:off x="6478476" y="5064028"/>
            <a:ext cx="2286983" cy="59503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Previously… (2)</a:t>
            </a:r>
            <a:endParaRPr/>
          </a:p>
        </p:txBody>
      </p:sp>
      <p:sp>
        <p:nvSpPr>
          <p:cNvPr id="227" name="Google Shape;227;p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IR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IR passes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IR optimizations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6aa17c3ece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33" name="Google Shape;233;g26aa17c3ece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 tool showcase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Loop optimizations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6b5081e801_0_22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Running optimizations</a:t>
            </a:r>
            <a:endParaRPr/>
          </a:p>
        </p:txBody>
      </p:sp>
      <p:sp>
        <p:nvSpPr>
          <p:cNvPr id="239" name="Google Shape;239;g26b5081e801_0_22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Generate LLVM IR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Use opt tool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Guide: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https://llvm.org/docs/CommandGuide/opt.html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b5081e801_0_42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 tool</a:t>
            </a:r>
            <a:endParaRPr/>
          </a:p>
        </p:txBody>
      </p:sp>
      <p:sp>
        <p:nvSpPr>
          <p:cNvPr id="245" name="Google Shape;245;g26b5081e801_0_42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optimizer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Input: LLVM IR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Output: LLVM 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Passes list: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https://llvm.org/docs/Passes.html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Options: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https://llvm.org/docs/CommandGuide/opt.html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Command line examples: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opt -print-passes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opt -O2 input.ll -o optimized.bc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opt -passes=’dce’ input.bc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opt -dce input.bc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opt -load MyPass.so -my-custom-pass input.ll -o output.ll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6b5081e801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Running LLVM IR optimizations</a:t>
            </a:r>
            <a:endParaRPr/>
          </a:p>
        </p:txBody>
      </p:sp>
      <p:sp>
        <p:nvSpPr>
          <p:cNvPr id="251" name="Google Shape;251;g26b5081e801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Learn by example (1):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SCCP: </a:t>
            </a:r>
            <a:endParaRPr/>
          </a:p>
        </p:txBody>
      </p:sp>
      <p:grpSp>
        <p:nvGrpSpPr>
          <p:cNvPr id="252" name="Google Shape;252;g26b5081e801_0_0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253" name="Google Shape;253;g26b5081e801_0_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254" name="Google Shape;254;g26b5081e801_0_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g26b5081e801_0_0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https://godbolt.org/z/vYzMohM3e</a:t>
              </a:r>
              <a:r>
                <a:rPr lang="en-US" sz="2400"/>
                <a:t> </a:t>
              </a:r>
              <a:endParaRPr sz="2400"/>
            </a:p>
          </p:txBody>
        </p:sp>
      </p:grpSp>
      <p:sp>
        <p:nvSpPr>
          <p:cNvPr id="256" name="Google Shape;256;g26b5081e801_0_0"/>
          <p:cNvSpPr txBox="1"/>
          <p:nvPr/>
        </p:nvSpPr>
        <p:spPr>
          <a:xfrm>
            <a:off x="628875" y="3235650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@add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endParaRPr sz="18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g26b5081e801_0_0"/>
          <p:cNvSpPr txBox="1"/>
          <p:nvPr/>
        </p:nvSpPr>
        <p:spPr>
          <a:xfrm>
            <a:off x="7039275" y="3235650"/>
            <a:ext cx="3000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@add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g26b5081e801_0_0"/>
          <p:cNvSpPr/>
          <p:nvPr/>
        </p:nvSpPr>
        <p:spPr>
          <a:xfrm>
            <a:off x="5325125" y="3235650"/>
            <a:ext cx="1236300" cy="10734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6b5081e801_0_44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CFG visualization</a:t>
            </a:r>
            <a:endParaRPr/>
          </a:p>
        </p:txBody>
      </p:sp>
      <p:sp>
        <p:nvSpPr>
          <p:cNvPr id="264" name="Google Shape;264;g26b5081e801_0_443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@test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%check</a:t>
            </a:r>
            <a:endParaRPr sz="18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check:                                           </a:t>
            </a:r>
            <a:r>
              <a:rPr lang="en-US" sz="1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%entry</a:t>
            </a:r>
            <a:endParaRPr sz="18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icmp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eq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%if_true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%if_false</a:t>
            </a:r>
            <a:endParaRPr sz="18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if_true:                                         </a:t>
            </a:r>
            <a:r>
              <a:rPr lang="en-US" sz="1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%check</a:t>
            </a:r>
            <a:endParaRPr sz="18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if_false:                                        </a:t>
            </a:r>
            <a:r>
              <a:rPr lang="en-US" sz="1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%check</a:t>
            </a:r>
            <a:endParaRPr sz="18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5" name="Google Shape;265;g26b5081e801_0_443"/>
          <p:cNvSpPr txBox="1"/>
          <p:nvPr/>
        </p:nvSpPr>
        <p:spPr>
          <a:xfrm>
            <a:off x="6049400" y="409275"/>
            <a:ext cx="5749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opt -dot-cfg cfg_example.ll</a:t>
            </a:r>
            <a:endParaRPr sz="19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dot -Tpng </a:t>
            </a:r>
            <a:r>
              <a:rPr lang="en-US" sz="19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cfg_example.dot</a:t>
            </a:r>
            <a:endParaRPr sz="19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" name="Google Shape;266;g26b5081e801_0_4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7" name="Google Shape;267;g26b5081e801_0_443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268" name="Google Shape;268;g26b5081e801_0_443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269" name="Google Shape;269;g26b5081e801_0_4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g26b5081e801_0_443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https://godbolt.org/z/T6bWarjjK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6b5081e801_0_43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Running LLVM IR optimizations</a:t>
            </a:r>
            <a:endParaRPr/>
          </a:p>
        </p:txBody>
      </p:sp>
      <p:sp>
        <p:nvSpPr>
          <p:cNvPr id="276" name="Google Shape;276;g26b5081e801_0_435"/>
          <p:cNvSpPr txBox="1"/>
          <p:nvPr>
            <p:ph idx="1" type="body"/>
          </p:nvPr>
        </p:nvSpPr>
        <p:spPr>
          <a:xfrm>
            <a:off x="571370" y="123730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Learn by example (2):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CFG simplification: </a:t>
            </a:r>
            <a:endParaRPr/>
          </a:p>
        </p:txBody>
      </p:sp>
      <p:grpSp>
        <p:nvGrpSpPr>
          <p:cNvPr id="277" name="Google Shape;277;g26b5081e801_0_435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278" name="Google Shape;278;g26b5081e801_0_435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279" name="Google Shape;279;g26b5081e801_0_4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g26b5081e801_0_435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https://godbolt.org/z/hK4ndPbcq</a:t>
              </a:r>
              <a:r>
                <a:rPr lang="en-US" sz="2400"/>
                <a:t> </a:t>
              </a:r>
              <a:endParaRPr sz="2400"/>
            </a:p>
          </p:txBody>
        </p:sp>
      </p:grpSp>
      <p:sp>
        <p:nvSpPr>
          <p:cNvPr id="281" name="Google Shape;281;g26b5081e801_0_435"/>
          <p:cNvSpPr txBox="1"/>
          <p:nvPr>
            <p:ph idx="1" type="body"/>
          </p:nvPr>
        </p:nvSpPr>
        <p:spPr>
          <a:xfrm>
            <a:off x="125100" y="2337050"/>
            <a:ext cx="6042000" cy="39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@test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%check</a:t>
            </a:r>
            <a:endParaRPr sz="18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check:</a:t>
            </a:r>
            <a:endParaRPr sz="18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icmp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eq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%if_true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%if_false</a:t>
            </a:r>
            <a:endParaRPr sz="18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if_true:</a:t>
            </a:r>
            <a:endParaRPr sz="18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if_false:</a:t>
            </a:r>
            <a:endParaRPr sz="18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g26b5081e801_0_435"/>
          <p:cNvSpPr txBox="1"/>
          <p:nvPr>
            <p:ph idx="1" type="body"/>
          </p:nvPr>
        </p:nvSpPr>
        <p:spPr>
          <a:xfrm>
            <a:off x="6028625" y="2337050"/>
            <a:ext cx="6042000" cy="39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@test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%x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icmp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eq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%x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%common.ret.op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%common.ret.op</a:t>
            </a:r>
            <a:endParaRPr sz="18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3" name="Google Shape;283;g26b5081e801_0_435"/>
          <p:cNvSpPr/>
          <p:nvPr/>
        </p:nvSpPr>
        <p:spPr>
          <a:xfrm>
            <a:off x="4493375" y="2779200"/>
            <a:ext cx="1236300" cy="10734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optimizations</a:t>
            </a:r>
            <a:endParaRPr/>
          </a:p>
        </p:txBody>
      </p:sp>
      <p:sp>
        <p:nvSpPr>
          <p:cNvPr id="289" name="Google Shape;289;p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Why are they important?</a:t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Pareto principle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20 percent of effort gives 80 percent of result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Most computationally </a:t>
            </a:r>
            <a:r>
              <a:rPr lang="en-US"/>
              <a:t>intensive</a:t>
            </a:r>
            <a:r>
              <a:rPr lang="en-US"/>
              <a:t> algorithms involve loops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6b5081e801_0_45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>
                <a:solidFill>
                  <a:schemeClr val="lt2"/>
                </a:solidFill>
              </a:rPr>
              <a:t>Structured control flow</a:t>
            </a:r>
            <a:endParaRPr/>
          </a:p>
        </p:txBody>
      </p:sp>
      <p:sp>
        <p:nvSpPr>
          <p:cNvPr id="295" name="Google Shape;295;g26b5081e801_0_456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Structured control flow is a programming paradigm characterized by the clear, hierarchical organization of control paths through a program.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It relies exclusively on structured control constructs such as conditionals (if, else), loops (for, while), and function calls, which lead to well-defined entry and exit points.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The key attribute of structured CF is that it avoids the use of arbitrary jumps or goto statements, making the control flow predictable and easier to follow.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Structured control flow</a:t>
            </a:r>
            <a:endParaRPr/>
          </a:p>
        </p:txBody>
      </p:sp>
      <p:pic>
        <p:nvPicPr>
          <p:cNvPr id="301" name="Google Shape;301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553" y="1673225"/>
            <a:ext cx="9926793" cy="457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7"/>
          <p:cNvSpPr txBox="1"/>
          <p:nvPr/>
        </p:nvSpPr>
        <p:spPr>
          <a:xfrm>
            <a:off x="5907200" y="6397625"/>
            <a:ext cx="4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https://dl.acm.org/doi/pdf/10.1145/362929.362947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2"/>
                </a:solidFill>
              </a:rPr>
              <a:t>Loop terminology</a:t>
            </a:r>
            <a:endParaRPr/>
          </a:p>
        </p:txBody>
      </p:sp>
      <p:sp>
        <p:nvSpPr>
          <p:cNvPr id="308" name="Google Shape;308;p5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Trip count</a:t>
            </a:r>
            <a:r>
              <a:rPr lang="en-US"/>
              <a:t> is a minimum number of times a loop executes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Induction variable</a:t>
            </a:r>
            <a:r>
              <a:rPr lang="en-US"/>
              <a:t> is a variable that gets increased or decreased on each loop iteration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Loop invariant</a:t>
            </a:r>
            <a:r>
              <a:rPr lang="en-US"/>
              <a:t> is the part of a computation inside a loop that remains unchanged (invariant) in each iteration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08807a7f1_0_2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 terminology</a:t>
            </a:r>
            <a:endParaRPr/>
          </a:p>
        </p:txBody>
      </p:sp>
      <p:sp>
        <p:nvSpPr>
          <p:cNvPr id="314" name="Google Shape;314;g3d08807a7f1_0_21"/>
          <p:cNvSpPr txBox="1"/>
          <p:nvPr>
            <p:ph idx="1" type="body"/>
          </p:nvPr>
        </p:nvSpPr>
        <p:spPr>
          <a:xfrm>
            <a:off x="571375" y="1673450"/>
            <a:ext cx="76251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An </a:t>
            </a:r>
            <a:r>
              <a:rPr b="1" lang="en-US"/>
              <a:t>entering block</a:t>
            </a:r>
            <a:r>
              <a:rPr lang="en-US"/>
              <a:t> (or loop predecessor) is a non-loop node that has an edge into the loop (necessarily the header). </a:t>
            </a:r>
            <a:r>
              <a:rPr b="1" lang="en-US"/>
              <a:t>If</a:t>
            </a:r>
            <a:r>
              <a:rPr lang="en-US"/>
              <a:t> there is </a:t>
            </a:r>
            <a:r>
              <a:rPr b="1" lang="en-US"/>
              <a:t>only one entering block</a:t>
            </a:r>
            <a:r>
              <a:rPr lang="en-US"/>
              <a:t>, and its only edge is to the header, it is also called the loop’s </a:t>
            </a:r>
            <a:r>
              <a:rPr b="1" lang="en-US"/>
              <a:t>preheader</a:t>
            </a:r>
            <a:r>
              <a:rPr lang="en-US"/>
              <a:t>. The preheader dominates the loop without itself being part of the loop.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 </a:t>
            </a:r>
            <a:r>
              <a:rPr b="1" lang="en-US"/>
              <a:t>latch</a:t>
            </a:r>
            <a:r>
              <a:rPr lang="en-US"/>
              <a:t> is a loop node that has an edge to the header.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 </a:t>
            </a:r>
            <a:r>
              <a:rPr b="1" lang="en-US"/>
              <a:t>backedge</a:t>
            </a:r>
            <a:r>
              <a:rPr lang="en-US"/>
              <a:t> is an edge from a latch to the header.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An </a:t>
            </a:r>
            <a:r>
              <a:rPr b="1" lang="en-US"/>
              <a:t>exiting edge</a:t>
            </a:r>
            <a:r>
              <a:rPr lang="en-US"/>
              <a:t> is an edge from inside the loop to a node outside of the loop. The source of such an edge is called an exiting block, its target is an exit block.</a:t>
            </a:r>
            <a:endParaRPr/>
          </a:p>
        </p:txBody>
      </p:sp>
      <p:pic>
        <p:nvPicPr>
          <p:cNvPr id="315" name="Google Shape;315;g3d08807a7f1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6325" y="1895475"/>
            <a:ext cx="3247175" cy="330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d08807a7f1_0_21"/>
          <p:cNvSpPr txBox="1"/>
          <p:nvPr/>
        </p:nvSpPr>
        <p:spPr>
          <a:xfrm>
            <a:off x="8196475" y="5373050"/>
            <a:ext cx="356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https://llvm.org/docs/LoopTerminology.html</a:t>
            </a:r>
            <a:r>
              <a:rPr lang="en-US"/>
              <a:t> </a:t>
            </a:r>
            <a:endParaRPr/>
          </a:p>
        </p:txBody>
      </p:sp>
      <p:pic>
        <p:nvPicPr>
          <p:cNvPr id="317" name="Google Shape;317;g3d08807a7f1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1550" y="5568688"/>
            <a:ext cx="166687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08807a7f1_0_6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 example</a:t>
            </a:r>
            <a:endParaRPr/>
          </a:p>
        </p:txBody>
      </p:sp>
      <p:grpSp>
        <p:nvGrpSpPr>
          <p:cNvPr id="323" name="Google Shape;323;g3d08807a7f1_0_61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324" name="Google Shape;324;g3d08807a7f1_0_61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25" name="Google Shape;325;g3d08807a7f1_0_6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g3d08807a7f1_0_61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https://godbolt.org/z/KE4GKsfKT</a:t>
              </a:r>
              <a:r>
                <a:rPr lang="en-US" sz="2400"/>
                <a:t> </a:t>
              </a:r>
              <a:endParaRPr sz="2400"/>
            </a:p>
          </p:txBody>
        </p:sp>
      </p:grpSp>
      <p:sp>
        <p:nvSpPr>
          <p:cNvPr id="327" name="Google Shape;327;g3d08807a7f1_0_61"/>
          <p:cNvSpPr txBox="1"/>
          <p:nvPr/>
        </p:nvSpPr>
        <p:spPr>
          <a:xfrm>
            <a:off x="615450" y="2921000"/>
            <a:ext cx="3624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++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+=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g3d08807a7f1_0_61"/>
          <p:cNvSpPr txBox="1"/>
          <p:nvPr/>
        </p:nvSpPr>
        <p:spPr>
          <a:xfrm>
            <a:off x="5793150" y="23700"/>
            <a:ext cx="56271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dso_local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@foo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(int*, int)(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noundef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noundef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#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%for.cond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for.cond: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icmp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slt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%1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%for.body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%for.end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for.body: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%3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%idxprom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sext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%3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i64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%arrayidx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getelementptr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inbounds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i64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%idxprom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%arrayidx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nsw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%arrayidx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%for.inc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for.inc: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%5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%inc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nsw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%5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%inc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%for.cond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for.end: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9" name="Google Shape;329;g3d08807a7f1_0_61"/>
          <p:cNvSpPr/>
          <p:nvPr/>
        </p:nvSpPr>
        <p:spPr>
          <a:xfrm>
            <a:off x="5842000" y="488450"/>
            <a:ext cx="5314500" cy="150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0" name="Google Shape;330;g3d08807a7f1_0_61"/>
          <p:cNvSpPr/>
          <p:nvPr/>
        </p:nvSpPr>
        <p:spPr>
          <a:xfrm>
            <a:off x="5842000" y="2116000"/>
            <a:ext cx="5314500" cy="95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1" name="Google Shape;331;g3d08807a7f1_0_61"/>
          <p:cNvSpPr/>
          <p:nvPr/>
        </p:nvSpPr>
        <p:spPr>
          <a:xfrm>
            <a:off x="5842000" y="3230600"/>
            <a:ext cx="5314500" cy="1693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2" name="Google Shape;332;g3d08807a7f1_0_61"/>
          <p:cNvSpPr/>
          <p:nvPr/>
        </p:nvSpPr>
        <p:spPr>
          <a:xfrm>
            <a:off x="5842000" y="5037050"/>
            <a:ext cx="5314500" cy="95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3" name="Google Shape;333;g3d08807a7f1_0_61"/>
          <p:cNvSpPr txBox="1"/>
          <p:nvPr/>
        </p:nvSpPr>
        <p:spPr>
          <a:xfrm>
            <a:off x="11156500" y="825050"/>
            <a:ext cx="103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entering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or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preheader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34" name="Google Shape;334;g3d08807a7f1_0_61"/>
          <p:cNvSpPr txBox="1"/>
          <p:nvPr/>
        </p:nvSpPr>
        <p:spPr>
          <a:xfrm>
            <a:off x="11156500" y="2237200"/>
            <a:ext cx="103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header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and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exiting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335" name="Google Shape;335;g3d08807a7f1_0_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" y="4264862"/>
            <a:ext cx="1934118" cy="196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d08807a7f1_0_61"/>
          <p:cNvSpPr txBox="1"/>
          <p:nvPr/>
        </p:nvSpPr>
        <p:spPr>
          <a:xfrm>
            <a:off x="11156500" y="3877100"/>
            <a:ext cx="1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body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37" name="Google Shape;337;g3d08807a7f1_0_61"/>
          <p:cNvSpPr txBox="1"/>
          <p:nvPr/>
        </p:nvSpPr>
        <p:spPr>
          <a:xfrm>
            <a:off x="11156500" y="5313200"/>
            <a:ext cx="1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latch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38" name="Google Shape;338;g3d08807a7f1_0_61"/>
          <p:cNvSpPr/>
          <p:nvPr/>
        </p:nvSpPr>
        <p:spPr>
          <a:xfrm>
            <a:off x="5842000" y="6102800"/>
            <a:ext cx="5314500" cy="44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9" name="Google Shape;339;g3d08807a7f1_0_61"/>
          <p:cNvSpPr txBox="1"/>
          <p:nvPr/>
        </p:nvSpPr>
        <p:spPr>
          <a:xfrm>
            <a:off x="11156500" y="6125300"/>
            <a:ext cx="1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exit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40" name="Google Shape;340;g3d08807a7f1_0_61"/>
          <p:cNvSpPr txBox="1"/>
          <p:nvPr/>
        </p:nvSpPr>
        <p:spPr>
          <a:xfrm>
            <a:off x="654550" y="1256150"/>
            <a:ext cx="562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clang++ -emit-llvm -fno-discard-value-names -g0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08807a7f1_0_4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 analysis</a:t>
            </a:r>
            <a:endParaRPr/>
          </a:p>
        </p:txBody>
      </p:sp>
      <p:sp>
        <p:nvSpPr>
          <p:cNvPr id="346" name="Google Shape;346;g3d08807a7f1_0_41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LoopInfo (LI) is the core analysis for obtaining information about loops. There are few key implications of the definitions given above which are important for working successfully with this interface.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d08807a7f1_0_41"/>
          <p:cNvSpPr txBox="1"/>
          <p:nvPr/>
        </p:nvSpPr>
        <p:spPr>
          <a:xfrm>
            <a:off x="849925" y="5099525"/>
            <a:ext cx="3643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getLoopFor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BB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 // BB is inside loop L</a:t>
            </a:r>
            <a:endParaRPr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" name="Google Shape;348;g3d08807a7f1_0_41"/>
          <p:cNvSpPr txBox="1"/>
          <p:nvPr/>
        </p:nvSpPr>
        <p:spPr>
          <a:xfrm>
            <a:off x="849925" y="3663475"/>
            <a:ext cx="374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// top-level loops only</a:t>
            </a:r>
            <a:endParaRPr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" name="Google Shape;349;g3d08807a7f1_0_41"/>
          <p:cNvSpPr txBox="1"/>
          <p:nvPr/>
        </p:nvSpPr>
        <p:spPr>
          <a:xfrm>
            <a:off x="898775" y="3204300"/>
            <a:ext cx="562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Iterate through loop forest: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350" name="Google Shape;350;g3d08807a7f1_0_41"/>
          <p:cNvSpPr txBox="1"/>
          <p:nvPr/>
        </p:nvSpPr>
        <p:spPr>
          <a:xfrm>
            <a:off x="898775" y="4597400"/>
            <a:ext cx="647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Get info which loop is the current BB in: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351" name="Google Shape;351;g3d08807a7f1_0_41"/>
          <p:cNvSpPr txBox="1"/>
          <p:nvPr/>
        </p:nvSpPr>
        <p:spPr>
          <a:xfrm>
            <a:off x="7805625" y="3297775"/>
            <a:ext cx="3000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Note: </a:t>
            </a:r>
            <a:r>
              <a:rPr lang="en-US" sz="1100">
                <a:solidFill>
                  <a:schemeClr val="dk1"/>
                </a:solidFill>
              </a:rPr>
              <a:t>LoopInfo provides an interface for enumerating all top level loops (e.g. those not contained in any other loop). From there, you may walk the tree of sub-loops rooted in that top level loop.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08807a7f1_0_4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Loop analysis example</a:t>
            </a:r>
            <a:endParaRPr/>
          </a:p>
        </p:txBody>
      </p:sp>
      <p:sp>
        <p:nvSpPr>
          <p:cNvPr id="357" name="Google Shape;357;g3d08807a7f1_0_46"/>
          <p:cNvSpPr txBox="1"/>
          <p:nvPr/>
        </p:nvSpPr>
        <p:spPr>
          <a:xfrm>
            <a:off x="5793150" y="23700"/>
            <a:ext cx="56271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dso_local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@foo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(int*, int)(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noundef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noundef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#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%for.cond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for.cond: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icmp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slt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%1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%for.body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%for.end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for.body: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%3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%idxprom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sext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%3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i64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%arrayidx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getelementptr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inbounds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i64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%idxprom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%arrayidx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nsw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%arrayidx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%for.inc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for.inc: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%5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%inc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nsw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%5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%inc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%for.cond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for.end: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8" name="Google Shape;358;g3d08807a7f1_0_46"/>
          <p:cNvSpPr txBox="1"/>
          <p:nvPr/>
        </p:nvSpPr>
        <p:spPr>
          <a:xfrm>
            <a:off x="190375" y="1582625"/>
            <a:ext cx="57006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Loop info for function 'foo':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Loop at depth 1 containing: %for.cond&lt;header&gt;&lt;exiting&gt;,%for.body,%for.inc&lt;latch&gt;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59" name="Google Shape;359;g3d08807a7f1_0_46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360" name="Google Shape;360;g3d08807a7f1_0_46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61" name="Google Shape;361;g3d08807a7f1_0_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g3d08807a7f1_0_46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https://godbolt.org/z/ofGWxx4c4</a:t>
              </a:r>
              <a:r>
                <a:rPr lang="en-US" sz="2400"/>
                <a:t> </a:t>
              </a:r>
              <a:endParaRPr sz="2400"/>
            </a:p>
          </p:txBody>
        </p:sp>
      </p:grpSp>
      <p:sp>
        <p:nvSpPr>
          <p:cNvPr id="363" name="Google Shape;363;g3d08807a7f1_0_46"/>
          <p:cNvSpPr txBox="1"/>
          <p:nvPr/>
        </p:nvSpPr>
        <p:spPr>
          <a:xfrm>
            <a:off x="234475" y="1182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-passes='print&lt;loops&gt;'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08807a7f1_0_11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Cycles are not loops</a:t>
            </a:r>
            <a:endParaRPr/>
          </a:p>
        </p:txBody>
      </p:sp>
      <p:sp>
        <p:nvSpPr>
          <p:cNvPr id="369" name="Google Shape;369;g3d08807a7f1_0_116"/>
          <p:cNvSpPr txBox="1"/>
          <p:nvPr>
            <p:ph idx="1" type="body"/>
          </p:nvPr>
        </p:nvSpPr>
        <p:spPr>
          <a:xfrm>
            <a:off x="571375" y="1673450"/>
            <a:ext cx="7273200" cy="22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In computer science literature, this is often called a natural loop. In LLVM, a more generalized definition is called a cycle.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Cycle is more generalized term:</a:t>
            </a:r>
            <a:endParaRPr/>
          </a:p>
        </p:txBody>
      </p:sp>
      <p:pic>
        <p:nvPicPr>
          <p:cNvPr id="370" name="Google Shape;370;g3d08807a7f1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6100" y="1113950"/>
            <a:ext cx="3247175" cy="330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d08807a7f1_0_116"/>
          <p:cNvSpPr txBox="1"/>
          <p:nvPr/>
        </p:nvSpPr>
        <p:spPr>
          <a:xfrm>
            <a:off x="8466086" y="4415700"/>
            <a:ext cx="32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Loop (natural loop)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372" name="Google Shape;372;g3d08807a7f1_0_116"/>
          <p:cNvSpPr txBox="1"/>
          <p:nvPr/>
        </p:nvSpPr>
        <p:spPr>
          <a:xfrm>
            <a:off x="7590700" y="6457800"/>
            <a:ext cx="363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https://llvm.org/docs/CycleTerminology.html</a:t>
            </a:r>
            <a:r>
              <a:rPr lang="en-US"/>
              <a:t> </a:t>
            </a:r>
            <a:endParaRPr/>
          </a:p>
        </p:txBody>
      </p:sp>
      <p:pic>
        <p:nvPicPr>
          <p:cNvPr id="373" name="Google Shape;373;g3d08807a7f1_0_1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060250"/>
            <a:ext cx="1730532" cy="26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g3d08807a7f1_0_1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6463" y="3552813"/>
            <a:ext cx="1704975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3d08807a7f1_0_1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55000" y="3552813"/>
            <a:ext cx="1704975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08807a7f1_0_3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Loops simplification</a:t>
            </a:r>
            <a:endParaRPr/>
          </a:p>
        </p:txBody>
      </p:sp>
      <p:sp>
        <p:nvSpPr>
          <p:cNvPr id="381" name="Google Shape;381;g3d08807a7f1_0_3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This pass performs several transformations to transform natural loops into a simpler form, which makes subsequent analyses and transformations simpler and more effective.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When it is successful, the loop has: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 preheader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 single backedge (which implies that there is a single latch)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Dedicated exits. That is, no exit block for the loop has a predecessor that is outside the loop. This implies that all exit blocks are dominated by the loop header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Detecting induction variables</a:t>
            </a:r>
            <a:endParaRPr/>
          </a:p>
        </p:txBody>
      </p:sp>
      <p:sp>
        <p:nvSpPr>
          <p:cNvPr id="387" name="Google Shape;387;p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 is a basic induction variable in a loop L if the only definitions of i within L are of the form i := i +/- c where c is loop invariant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k is a derived induction variable in loop L if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There’s only 1 definition of k within L in the form of k := j */+ c where j is an induction variable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If j is an induction variable in the family of i then</a:t>
            </a:r>
            <a:endParaRPr/>
          </a:p>
          <a:p>
            <a:pPr indent="-197644" lvl="2" marL="6865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en-US"/>
              <a:t>The only definition of j that reaches k is the one in the loop</a:t>
            </a:r>
            <a:endParaRPr/>
          </a:p>
          <a:p>
            <a:pPr indent="-197644" lvl="2" marL="6865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en-US"/>
              <a:t>There’s no definition of i on any path between the definition of j and the definition of 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>
                <a:solidFill>
                  <a:schemeClr val="lt2"/>
                </a:solidFill>
              </a:rPr>
              <a:t>Structured control flow</a:t>
            </a:r>
            <a:endParaRPr/>
          </a:p>
        </p:txBody>
      </p:sp>
      <p:sp>
        <p:nvSpPr>
          <p:cNvPr id="393" name="Google Shape;393;p8"/>
          <p:cNvSpPr txBox="1"/>
          <p:nvPr/>
        </p:nvSpPr>
        <p:spPr>
          <a:xfrm>
            <a:off x="571375" y="1327359"/>
            <a:ext cx="726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Is this program structured?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3209525" y="1894541"/>
            <a:ext cx="5734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4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4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==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4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5494b0e56_0_27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>
                <a:solidFill>
                  <a:schemeClr val="lt2"/>
                </a:solidFill>
              </a:rPr>
              <a:t>Structured control flow</a:t>
            </a:r>
            <a:endParaRPr/>
          </a:p>
        </p:txBody>
      </p:sp>
      <p:sp>
        <p:nvSpPr>
          <p:cNvPr id="400" name="Google Shape;400;g3f5494b0e56_0_27"/>
          <p:cNvSpPr txBox="1"/>
          <p:nvPr/>
        </p:nvSpPr>
        <p:spPr>
          <a:xfrm>
            <a:off x="571375" y="1327359"/>
            <a:ext cx="726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Is this program structured?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401" name="Google Shape;401;g3f5494b0e56_0_27"/>
          <p:cNvSpPr txBox="1"/>
          <p:nvPr/>
        </p:nvSpPr>
        <p:spPr>
          <a:xfrm>
            <a:off x="3209525" y="1894541"/>
            <a:ext cx="5734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4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4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==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4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" name="Google Shape;402;g3f5494b0e56_0_27"/>
          <p:cNvSpPr txBox="1"/>
          <p:nvPr/>
        </p:nvSpPr>
        <p:spPr>
          <a:xfrm>
            <a:off x="571375" y="4296850"/>
            <a:ext cx="1143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No, but it is reducible to the structured one (in fact, on AST CFG level)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403" name="Google Shape;403;g3f5494b0e56_0_27"/>
          <p:cNvSpPr txBox="1"/>
          <p:nvPr/>
        </p:nvSpPr>
        <p:spPr>
          <a:xfrm>
            <a:off x="2194950" y="4828590"/>
            <a:ext cx="7802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24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&amp;&amp;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!=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++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Loop-invariant code motion</a:t>
            </a:r>
            <a:endParaRPr/>
          </a:p>
        </p:txBody>
      </p:sp>
      <p:sp>
        <p:nvSpPr>
          <p:cNvPr id="409" name="Google Shape;409;p9"/>
          <p:cNvSpPr txBox="1"/>
          <p:nvPr/>
        </p:nvSpPr>
        <p:spPr>
          <a:xfrm>
            <a:off x="439625" y="2246900"/>
            <a:ext cx="473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9"/>
          <p:cNvSpPr txBox="1"/>
          <p:nvPr/>
        </p:nvSpPr>
        <p:spPr>
          <a:xfrm>
            <a:off x="6437925" y="2246900"/>
            <a:ext cx="4904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Conditions for safe hoisting</a:t>
            </a:r>
            <a:endParaRPr/>
          </a:p>
        </p:txBody>
      </p:sp>
      <p:sp>
        <p:nvSpPr>
          <p:cNvPr id="416" name="Google Shape;416;p10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hoisting - moving to outer scope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sinking - moving to inner scope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An invariant assignment d: x := y op z is safe to hoist if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d dominates all loop exits at which x is live and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there is only one definition of x in the loop, and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x is not live at the entry point for the loop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unroll</a:t>
            </a:r>
            <a:endParaRPr/>
          </a:p>
        </p:txBody>
      </p:sp>
      <p:sp>
        <p:nvSpPr>
          <p:cNvPr id="422" name="Google Shape;422;p11"/>
          <p:cNvSpPr txBox="1"/>
          <p:nvPr/>
        </p:nvSpPr>
        <p:spPr>
          <a:xfrm>
            <a:off x="263775" y="2707063"/>
            <a:ext cx="5050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3" name="Google Shape;423;p11"/>
          <p:cNvSpPr txBox="1"/>
          <p:nvPr/>
        </p:nvSpPr>
        <p:spPr>
          <a:xfrm>
            <a:off x="5822450" y="1736125"/>
            <a:ext cx="61449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%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When it works and when it fails?</a:t>
            </a:r>
            <a:endParaRPr/>
          </a:p>
        </p:txBody>
      </p:sp>
      <p:pic>
        <p:nvPicPr>
          <p:cNvPr id="429" name="Google Shape;429;p12"/>
          <p:cNvPicPr preferRelativeResize="0"/>
          <p:nvPr/>
        </p:nvPicPr>
        <p:blipFill rotWithShape="1">
          <a:blip r:embed="rId3">
            <a:alphaModFix/>
          </a:blip>
          <a:srcRect b="0" l="0" r="0" t="36701"/>
          <a:stretch/>
        </p:blipFill>
        <p:spPr>
          <a:xfrm>
            <a:off x="2184872" y="1887522"/>
            <a:ext cx="8082483" cy="349966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2"/>
          <p:cNvSpPr txBox="1"/>
          <p:nvPr/>
        </p:nvSpPr>
        <p:spPr>
          <a:xfrm>
            <a:off x="2870794" y="5429934"/>
            <a:ext cx="7396561" cy="28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https://www.intel.com/content/www/us/en/developer/articles/technical/intel-sdm.html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fusion</a:t>
            </a:r>
            <a:endParaRPr/>
          </a:p>
        </p:txBody>
      </p:sp>
      <p:sp>
        <p:nvSpPr>
          <p:cNvPr id="436" name="Google Shape;436;p13"/>
          <p:cNvSpPr txBox="1"/>
          <p:nvPr/>
        </p:nvSpPr>
        <p:spPr>
          <a:xfrm>
            <a:off x="293075" y="1797450"/>
            <a:ext cx="50967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--)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7" name="Google Shape;437;p13"/>
          <p:cNvSpPr txBox="1"/>
          <p:nvPr/>
        </p:nvSpPr>
        <p:spPr>
          <a:xfrm>
            <a:off x="6516100" y="2105250"/>
            <a:ext cx="5519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peeling</a:t>
            </a:r>
            <a:endParaRPr/>
          </a:p>
        </p:txBody>
      </p:sp>
      <p:sp>
        <p:nvSpPr>
          <p:cNvPr id="443" name="Google Shape;443;p14"/>
          <p:cNvSpPr txBox="1"/>
          <p:nvPr/>
        </p:nvSpPr>
        <p:spPr>
          <a:xfrm>
            <a:off x="449375" y="2105250"/>
            <a:ext cx="4767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4" name="Google Shape;444;p14"/>
          <p:cNvSpPr txBox="1"/>
          <p:nvPr/>
        </p:nvSpPr>
        <p:spPr>
          <a:xfrm>
            <a:off x="6144850" y="2413050"/>
            <a:ext cx="5529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unswitch</a:t>
            </a:r>
            <a:endParaRPr/>
          </a:p>
        </p:txBody>
      </p:sp>
      <p:sp>
        <p:nvSpPr>
          <p:cNvPr id="450" name="Google Shape;450;p15"/>
          <p:cNvSpPr txBox="1"/>
          <p:nvPr/>
        </p:nvSpPr>
        <p:spPr>
          <a:xfrm>
            <a:off x="0" y="2105250"/>
            <a:ext cx="6047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15"/>
          <p:cNvSpPr txBox="1"/>
          <p:nvPr/>
        </p:nvSpPr>
        <p:spPr>
          <a:xfrm>
            <a:off x="5920200" y="1489500"/>
            <a:ext cx="6271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Control flow sink</a:t>
            </a:r>
            <a:endParaRPr/>
          </a:p>
        </p:txBody>
      </p:sp>
      <p:sp>
        <p:nvSpPr>
          <p:cNvPr id="457" name="Google Shape;457;p16"/>
          <p:cNvSpPr txBox="1"/>
          <p:nvPr/>
        </p:nvSpPr>
        <p:spPr>
          <a:xfrm>
            <a:off x="302850" y="1489500"/>
            <a:ext cx="4982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8" name="Google Shape;458;p16"/>
          <p:cNvSpPr txBox="1"/>
          <p:nvPr/>
        </p:nvSpPr>
        <p:spPr>
          <a:xfrm>
            <a:off x="6330450" y="1489500"/>
            <a:ext cx="5431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reroll</a:t>
            </a:r>
            <a:endParaRPr/>
          </a:p>
        </p:txBody>
      </p:sp>
      <p:sp>
        <p:nvSpPr>
          <p:cNvPr id="464" name="Google Shape;464;p17"/>
          <p:cNvSpPr txBox="1"/>
          <p:nvPr/>
        </p:nvSpPr>
        <p:spPr>
          <a:xfrm>
            <a:off x="0" y="1638425"/>
            <a:ext cx="61449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%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5" name="Google Shape;465;p17"/>
          <p:cNvSpPr txBox="1"/>
          <p:nvPr/>
        </p:nvSpPr>
        <p:spPr>
          <a:xfrm>
            <a:off x="6682150" y="2561963"/>
            <a:ext cx="5050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fission</a:t>
            </a:r>
            <a:endParaRPr/>
          </a:p>
        </p:txBody>
      </p:sp>
      <p:sp>
        <p:nvSpPr>
          <p:cNvPr id="471" name="Google Shape;471;p18"/>
          <p:cNvSpPr txBox="1"/>
          <p:nvPr/>
        </p:nvSpPr>
        <p:spPr>
          <a:xfrm>
            <a:off x="6936150" y="1797450"/>
            <a:ext cx="50967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--)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2" name="Google Shape;472;p18"/>
          <p:cNvSpPr txBox="1"/>
          <p:nvPr/>
        </p:nvSpPr>
        <p:spPr>
          <a:xfrm>
            <a:off x="146550" y="2105250"/>
            <a:ext cx="5519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tiling</a:t>
            </a:r>
            <a:endParaRPr/>
          </a:p>
        </p:txBody>
      </p:sp>
      <p:sp>
        <p:nvSpPr>
          <p:cNvPr id="478" name="Google Shape;478;p19"/>
          <p:cNvSpPr txBox="1"/>
          <p:nvPr/>
        </p:nvSpPr>
        <p:spPr>
          <a:xfrm>
            <a:off x="185600" y="1689833"/>
            <a:ext cx="5109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      // ...</a:t>
            </a:r>
            <a:endParaRPr sz="20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9" name="Google Shape;479;p19"/>
          <p:cNvSpPr txBox="1"/>
          <p:nvPr/>
        </p:nvSpPr>
        <p:spPr>
          <a:xfrm>
            <a:off x="4288800" y="3214075"/>
            <a:ext cx="7903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&lt;algorithm&gt;</a:t>
            </a:r>
            <a:endParaRPr sz="2000">
              <a:solidFill>
                <a:srgbClr val="A315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          // ...</a:t>
            </a:r>
            <a:endParaRPr sz="20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c3fbe12272_1_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 rotation</a:t>
            </a:r>
            <a:endParaRPr/>
          </a:p>
        </p:txBody>
      </p:sp>
      <p:sp>
        <p:nvSpPr>
          <p:cNvPr id="485" name="Google Shape;485;g2c3fbe12272_1_3"/>
          <p:cNvSpPr txBox="1"/>
          <p:nvPr/>
        </p:nvSpPr>
        <p:spPr>
          <a:xfrm>
            <a:off x="0" y="2720988"/>
            <a:ext cx="526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6" name="Google Shape;486;g2c3fbe12272_1_3"/>
          <p:cNvSpPr txBox="1"/>
          <p:nvPr/>
        </p:nvSpPr>
        <p:spPr>
          <a:xfrm>
            <a:off x="6316675" y="1951350"/>
            <a:ext cx="5265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do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Polytope model</a:t>
            </a:r>
            <a:endParaRPr/>
          </a:p>
        </p:txBody>
      </p:sp>
      <p:pic>
        <p:nvPicPr>
          <p:cNvPr id="492" name="Google Shape;492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370" y="2164359"/>
            <a:ext cx="4141394" cy="2936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0"/>
          <p:cNvPicPr preferRelativeResize="0"/>
          <p:nvPr/>
        </p:nvPicPr>
        <p:blipFill rotWithShape="1">
          <a:blip r:embed="rId4">
            <a:alphaModFix/>
          </a:blip>
          <a:srcRect b="0" l="509" r="0" t="0"/>
          <a:stretch/>
        </p:blipFill>
        <p:spPr>
          <a:xfrm>
            <a:off x="5394122" y="2164359"/>
            <a:ext cx="6188064" cy="313505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0"/>
          <p:cNvSpPr txBox="1"/>
          <p:nvPr/>
        </p:nvSpPr>
        <p:spPr>
          <a:xfrm>
            <a:off x="3231859" y="5860421"/>
            <a:ext cx="6650372" cy="426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https://en.wikipedia.org/wiki/Polytope_model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Affine transformations</a:t>
            </a:r>
            <a:endParaRPr/>
          </a:p>
        </p:txBody>
      </p:sp>
      <p:sp>
        <p:nvSpPr>
          <p:cNvPr id="500" name="Google Shape;500;p21"/>
          <p:cNvSpPr txBox="1"/>
          <p:nvPr/>
        </p:nvSpPr>
        <p:spPr>
          <a:xfrm>
            <a:off x="0" y="1181700"/>
            <a:ext cx="59298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ERR(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)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dst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dither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unsigned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char**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unsigned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char**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dst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++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++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dst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128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?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?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?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1" name="Google Shape;501;p21"/>
          <p:cNvSpPr txBox="1"/>
          <p:nvPr/>
        </p:nvSpPr>
        <p:spPr>
          <a:xfrm>
            <a:off x="5929800" y="858450"/>
            <a:ext cx="62622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ERR(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)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dst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dither_skewed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unsigned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unsigned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dst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(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)); ++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pmin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%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(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pmax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pmin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pmax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&amp;&amp;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dst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128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?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?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?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6aa17c3ece_0_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Polyhedral transformations in LLVM</a:t>
            </a:r>
            <a:endParaRPr/>
          </a:p>
        </p:txBody>
      </p:sp>
      <p:sp>
        <p:nvSpPr>
          <p:cNvPr id="507" name="Google Shape;507;g26aa17c3ece_0_8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Polly is a high-performance loop and data-locality optimizer embedded </a:t>
            </a:r>
            <a:r>
              <a:rPr lang="en-US"/>
              <a:t>framework </a:t>
            </a:r>
            <a:r>
              <a:rPr lang="en-US"/>
              <a:t>within the LLV</a:t>
            </a:r>
            <a:r>
              <a:rPr lang="en-US"/>
              <a:t>M</a:t>
            </a:r>
            <a:r>
              <a:rPr lang="en-US"/>
              <a:t>. It utilizes mathematical models to analyze and optimize memory access patterns, significantly enhancing code efficiency, particularly in loops and matrix multiplications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Docs &amp; info: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https://polly.llvm.org/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Next time…</a:t>
            </a:r>
            <a:endParaRPr/>
          </a:p>
        </p:txBody>
      </p:sp>
      <p:sp>
        <p:nvSpPr>
          <p:cNvPr id="513" name="Google Shape;513;p22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Vectorization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6b5081e801_0_1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Lab assignment #2</a:t>
            </a:r>
            <a:endParaRPr/>
          </a:p>
        </p:txBody>
      </p:sp>
      <p:sp>
        <p:nvSpPr>
          <p:cNvPr id="519" name="Google Shape;519;g26b5081e801_0_19"/>
          <p:cNvSpPr txBox="1"/>
          <p:nvPr>
            <p:ph idx="1" type="body"/>
          </p:nvPr>
        </p:nvSpPr>
        <p:spPr>
          <a:xfrm>
            <a:off x="571375" y="1673450"/>
            <a:ext cx="11010900" cy="50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Write a plugin </a:t>
            </a:r>
            <a:r>
              <a:rPr lang="en-US"/>
              <a:t>with </a:t>
            </a:r>
            <a:r>
              <a:rPr lang="en-US"/>
              <a:t>simple LLVM pass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Task list in Google Docs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Deadline: April, 7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Where to seek help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https://www.llvm.org/docs/WritingAnLLVMNewPMPass.html</a:t>
            </a:r>
            <a:r>
              <a:rPr lang="en-US"/>
              <a:t>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https://github.com/llvm/llvm-project/tree/main/llvm/examples/IRTransforms</a:t>
            </a:r>
            <a:r>
              <a:rPr lang="en-US"/>
              <a:t>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contact teachers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6b5081e801_0_477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525" name="Google Shape;525;g26b5081e801_0_477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https://forms.gle/A3XfkLu2PnZbRodT7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sp>
        <p:nvSpPr>
          <p:cNvPr id="526" name="Google Shape;526;g26b5081e801_0_477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527" name="Google Shape;527;g26b5081e801_0_4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4025" y="1905000"/>
            <a:ext cx="29908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26b5081e801_0_4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375" y="2858920"/>
            <a:ext cx="7194750" cy="354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4113910fee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534" name="Google Shape;534;g34113910fee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https://forms.gle/ywfMNSijV2XqDiVF8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sp>
        <p:nvSpPr>
          <p:cNvPr id="535" name="Google Shape;535;g34113910fee_0_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536" name="Google Shape;536;g34113910fe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10750" y="1962150"/>
            <a:ext cx="29718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g34113910fee_0_0" title="Screenshot 2025-03-17 at 11.15.5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350" y="2771650"/>
            <a:ext cx="7587874" cy="396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3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Extra materials</a:t>
            </a:r>
            <a:endParaRPr/>
          </a:p>
        </p:txBody>
      </p:sp>
      <p:sp>
        <p:nvSpPr>
          <p:cNvPr id="543" name="Google Shape;543;p23"/>
          <p:cNvSpPr txBox="1"/>
          <p:nvPr>
            <p:ph idx="1" type="body"/>
          </p:nvPr>
        </p:nvSpPr>
        <p:spPr>
          <a:xfrm>
            <a:off x="571500" y="1673402"/>
            <a:ext cx="10837852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Loop Optimizations in LLVM: The Good, The Bad, and The Ugly - </a:t>
            </a:r>
            <a:r>
              <a:rPr lang="en-US" sz="1600" u="sng">
                <a:solidFill>
                  <a:schemeClr val="hlink"/>
                </a:solidFill>
                <a:hlinkClick r:id="rId3"/>
              </a:rPr>
              <a:t>https://llvm.org/devmtg/2018-10/slides/Kruse-LoopTransforms.pdf</a:t>
            </a:r>
            <a:r>
              <a:rPr lang="en-US" sz="1600"/>
              <a:t> </a:t>
            </a:r>
            <a:endParaRPr sz="1600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EuroLLVM Developers' Meeting: J. Doerfert &amp; T. Grosser "Analyzing and Optimizing ... Polly“ - </a:t>
            </a:r>
            <a:r>
              <a:rPr lang="en-US" sz="1600" u="sng">
                <a:solidFill>
                  <a:schemeClr val="hlink"/>
                </a:solidFill>
                <a:hlinkClick r:id="rId4"/>
              </a:rPr>
              <a:t>https://www.youtube.com/watch?v=mXve_W4XU2g</a:t>
            </a:r>
            <a:r>
              <a:rPr lang="en-US" sz="1600"/>
              <a:t>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LLVM Developers’ Meeting: T. Grosser “Polly - Polyhedral optimizations in LLVM” - </a:t>
            </a:r>
            <a:r>
              <a:rPr lang="en-US" sz="1600" u="sng">
                <a:solidFill>
                  <a:schemeClr val="hlink"/>
                </a:solidFill>
                <a:hlinkClick r:id="rId5"/>
              </a:rPr>
              <a:t>https://www.youtube.com/watch?v=WwfZkQEuwEE</a:t>
            </a:r>
            <a:r>
              <a:rPr lang="en-US" sz="1600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2022-02-11T08:56:50Z</dcterms:created>
  <dc:creator>Batashev, Alexander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0x01010079C5967B1E29274CA6A143F9D247F5D2</vt:lpwstr>
  </property>
</Properties>
</file>