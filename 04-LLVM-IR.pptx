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1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</p:sldIdLst>
  <p:sldSz cy="6858000" cx="12192000"/>
  <p:notesSz cx="6858000" cy="9144000"/>
  <p:embeddedFontLst>
    <p:embeddedFont>
      <p:font typeface="Helvetica Neue"/>
      <p:regular r:id="rId51"/>
      <p:bold r:id="rId52"/>
      <p:italic r:id="rId53"/>
      <p:boldItalic r:id="rId54"/>
    </p:embeddedFont>
    <p:embeddedFont>
      <p:font typeface="Roboto Mono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032">
          <p15:clr>
            <a:srgbClr val="A4A3A4"/>
          </p15:clr>
        </p15:guide>
        <p15:guide id="2" pos="7392">
          <p15:clr>
            <a:srgbClr val="A4A3A4"/>
          </p15:clr>
        </p15:guide>
      </p15:sldGuideLst>
    </p:ext>
    <p:ext uri="GoogleSlidesCustomDataVersion2">
      <go:slidesCustomData xmlns:go="http://customooxmlschemas.google.com/" r:id="rId59" roundtripDataSignature="AMtx7mhjh8Cmnue7RBT0hv7apr9YQgN0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D9B874-D8F9-4614-A41A-4F30205731BB}">
  <a:tblStyle styleId="{36D9B874-D8F9-4614-A41A-4F30205731B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032" orient="horz"/>
        <p:guide pos="739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HelveticaNeue-regular.fntdata"/><Relationship Id="rId50" Type="http://schemas.openxmlformats.org/officeDocument/2006/relationships/slide" Target="slides/slide44.xml"/><Relationship Id="rId53" Type="http://schemas.openxmlformats.org/officeDocument/2006/relationships/font" Target="fonts/HelveticaNeue-italic.fntdata"/><Relationship Id="rId52" Type="http://schemas.openxmlformats.org/officeDocument/2006/relationships/font" Target="fonts/HelveticaNeue-bold.fntdata"/><Relationship Id="rId11" Type="http://schemas.openxmlformats.org/officeDocument/2006/relationships/slide" Target="slides/slide5.xml"/><Relationship Id="rId55" Type="http://schemas.openxmlformats.org/officeDocument/2006/relationships/font" Target="fonts/RobotoMono-regular.fntdata"/><Relationship Id="rId10" Type="http://schemas.openxmlformats.org/officeDocument/2006/relationships/slide" Target="slides/slide4.xml"/><Relationship Id="rId54" Type="http://schemas.openxmlformats.org/officeDocument/2006/relationships/font" Target="fonts/HelveticaNeue-boldItalic.fntdata"/><Relationship Id="rId13" Type="http://schemas.openxmlformats.org/officeDocument/2006/relationships/slide" Target="slides/slide7.xml"/><Relationship Id="rId57" Type="http://schemas.openxmlformats.org/officeDocument/2006/relationships/font" Target="fonts/RobotoMono-italic.fntdata"/><Relationship Id="rId12" Type="http://schemas.openxmlformats.org/officeDocument/2006/relationships/slide" Target="slides/slide6.xml"/><Relationship Id="rId56" Type="http://schemas.openxmlformats.org/officeDocument/2006/relationships/font" Target="fonts/RobotoMono-bold.fntdata"/><Relationship Id="rId15" Type="http://schemas.openxmlformats.org/officeDocument/2006/relationships/slide" Target="slides/slide9.xml"/><Relationship Id="rId59" Type="http://customschemas.google.com/relationships/presentationmetadata" Target="metadata"/><Relationship Id="rId14" Type="http://schemas.openxmlformats.org/officeDocument/2006/relationships/slide" Target="slides/slide8.xml"/><Relationship Id="rId58" Type="http://schemas.openxmlformats.org/officeDocument/2006/relationships/font" Target="fonts/RobotoMon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85003499999999999"/>
        </c:manualLayout>
      </c:layout>
      <c:pieChart>
        <c:varyColors val="0"/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 w="12700" cap="flat">
          <a:noFill/>
          <a:miter lim="400000"/>
        </a:ln>
        <a:effectLst/>
      </c:spPr>
    </c:plotArea>
    <c:legend>
      <c:legendPos val="b"/>
      <c:layout>
        <c:manualLayout>
          <c:xMode val="edge"/>
          <c:yMode val="edge"/>
          <c:x val="4.1227E-2"/>
          <c:y val="0.95121999999999995"/>
          <c:w val="0.91754599999999997"/>
          <c:h val="4.8779599999999999E-2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1800" b="0" i="0" u="none" strike="noStrike">
              <a:solidFill>
                <a:srgbClr val="000000"/>
              </a:solidFill>
              <a:latin typeface="Intel Clear"/>
            </a:defRPr>
          </a:pPr>
          <a:endParaRPr lang="ru-RU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a999cc3595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a999cc3595_0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26a0424328b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26a0424328b_0_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6a0424328b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6a0424328b_0_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26a0424328b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26a0424328b_0_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3ce395d76b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3ce395d76b_0_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f347eb07e7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f347eb07e7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f453c19afd_0_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f453c19afd_0_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2bee99cf594_0_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2bee99cf594_0_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2bee99cf594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2bee99cf594_0_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2bee99cf594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2bee99cf594_0_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26a0424328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26a0424328b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32fbb870741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32fbb870741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3c4d2c5fc43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3c4d2c5fc43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chart" Target="../charts/chart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Blue A" showMasterSp="0">
  <p:cSld name="Title Blue A">
    <p:bg>
      <p:bgPr>
        <a:solidFill>
          <a:srgbClr val="184A8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 txBox="1"/>
          <p:nvPr>
            <p:ph type="title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Arial"/>
              <a:buNone/>
              <a:defRPr sz="75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33"/>
          <p:cNvSpPr txBox="1"/>
          <p:nvPr>
            <p:ph idx="1" type="body"/>
          </p:nvPr>
        </p:nvSpPr>
        <p:spPr>
          <a:xfrm>
            <a:off x="1895475" y="3182315"/>
            <a:ext cx="1029652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C7FD"/>
              </a:buClr>
              <a:buSzPts val="1600"/>
              <a:buNone/>
              <a:defRPr b="1" i="0" sz="1600">
                <a:solidFill>
                  <a:srgbClr val="00C7F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2" name="Google Shape;12;p33"/>
          <p:cNvSpPr txBox="1"/>
          <p:nvPr>
            <p:ph idx="2" type="body"/>
          </p:nvPr>
        </p:nvSpPr>
        <p:spPr>
          <a:xfrm>
            <a:off x="1908348" y="4778609"/>
            <a:ext cx="10283651" cy="32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Content">
  <p:cSld name="Title &amp; Conten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4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34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2 Content Columns">
  <p:cSld name="Title &amp; 2 Content Column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5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8" name="Google Shape;18;p35"/>
          <p:cNvSpPr txBox="1"/>
          <p:nvPr>
            <p:ph idx="1" type="body"/>
          </p:nvPr>
        </p:nvSpPr>
        <p:spPr>
          <a:xfrm>
            <a:off x="571500" y="1673402"/>
            <a:ext cx="5288525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35"/>
          <p:cNvSpPr txBox="1"/>
          <p:nvPr>
            <p:ph idx="2" type="body"/>
          </p:nvPr>
        </p:nvSpPr>
        <p:spPr>
          <a:xfrm>
            <a:off x="6289113" y="1673402"/>
            <a:ext cx="5288525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Blue B" showMasterSp="0">
  <p:cSld name="1_Title Blue B">
    <p:bg>
      <p:bgPr>
        <a:solidFill>
          <a:srgbClr val="184A86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6"/>
          <p:cNvSpPr/>
          <p:nvPr/>
        </p:nvSpPr>
        <p:spPr>
          <a:xfrm>
            <a:off x="1469360" y="0"/>
            <a:ext cx="3430768" cy="539316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6"/>
          <p:cNvSpPr txBox="1"/>
          <p:nvPr>
            <p:ph idx="1" type="body"/>
          </p:nvPr>
        </p:nvSpPr>
        <p:spPr>
          <a:xfrm>
            <a:off x="1895475" y="3182315"/>
            <a:ext cx="1029652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C7FD"/>
              </a:buClr>
              <a:buSzPts val="1600"/>
              <a:buNone/>
              <a:defRPr b="1" i="0" sz="1600">
                <a:solidFill>
                  <a:srgbClr val="00C7F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3" name="Google Shape;23;p36"/>
          <p:cNvSpPr txBox="1"/>
          <p:nvPr>
            <p:ph type="title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Arial"/>
              <a:buNone/>
              <a:defRPr sz="75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24" name="Google Shape;24;p36"/>
          <p:cNvSpPr txBox="1"/>
          <p:nvPr>
            <p:ph idx="2" type="body"/>
          </p:nvPr>
        </p:nvSpPr>
        <p:spPr>
          <a:xfrm>
            <a:off x="1908348" y="4778609"/>
            <a:ext cx="10283651" cy="32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i="0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25" name="Google Shape;25;p36"/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36"/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36"/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8" name="Google Shape;28;p36"/>
          <p:cNvGrpSpPr/>
          <p:nvPr/>
        </p:nvGrpSpPr>
        <p:grpSpPr>
          <a:xfrm>
            <a:off x="1468406" y="5995719"/>
            <a:ext cx="1059754" cy="396801"/>
            <a:chOff x="1314450" y="6391094"/>
            <a:chExt cx="1123377" cy="420623"/>
          </a:xfrm>
        </p:grpSpPr>
        <p:sp>
          <p:nvSpPr>
            <p:cNvPr id="29" name="Google Shape;29;p36"/>
            <p:cNvSpPr/>
            <p:nvPr/>
          </p:nvSpPr>
          <p:spPr>
            <a:xfrm>
              <a:off x="1314450" y="6396809"/>
              <a:ext cx="78581" cy="78581"/>
            </a:xfrm>
            <a:custGeom>
              <a:rect b="b" l="l" r="r" t="t"/>
              <a:pathLst>
                <a:path extrusionOk="0" h="78581" w="78581">
                  <a:moveTo>
                    <a:pt x="0" y="0"/>
                  </a:moveTo>
                  <a:lnTo>
                    <a:pt x="78581" y="0"/>
                  </a:lnTo>
                  <a:lnTo>
                    <a:pt x="78581" y="78581"/>
                  </a:lnTo>
                  <a:lnTo>
                    <a:pt x="0" y="78581"/>
                  </a:lnTo>
                  <a:close/>
                </a:path>
              </a:pathLst>
            </a:custGeom>
            <a:solidFill>
              <a:srgbClr val="00B2E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36"/>
            <p:cNvSpPr/>
            <p:nvPr/>
          </p:nvSpPr>
          <p:spPr>
            <a:xfrm>
              <a:off x="1316545" y="6391094"/>
              <a:ext cx="995171" cy="420623"/>
            </a:xfrm>
            <a:custGeom>
              <a:rect b="b" l="l" r="r" t="t"/>
              <a:pathLst>
                <a:path extrusionOk="0" h="420623" w="995171">
                  <a:moveTo>
                    <a:pt x="74486" y="131921"/>
                  </a:moveTo>
                  <a:lnTo>
                    <a:pt x="0" y="131921"/>
                  </a:lnTo>
                  <a:lnTo>
                    <a:pt x="0" y="414719"/>
                  </a:lnTo>
                  <a:lnTo>
                    <a:pt x="74486" y="414719"/>
                  </a:lnTo>
                  <a:lnTo>
                    <a:pt x="74486" y="131921"/>
                  </a:lnTo>
                  <a:close/>
                  <a:moveTo>
                    <a:pt x="568262" y="417576"/>
                  </a:moveTo>
                  <a:lnTo>
                    <a:pt x="568262" y="348234"/>
                  </a:lnTo>
                  <a:cubicBezTo>
                    <a:pt x="557308" y="348139"/>
                    <a:pt x="548259" y="347567"/>
                    <a:pt x="541306" y="346520"/>
                  </a:cubicBezTo>
                  <a:cubicBezTo>
                    <a:pt x="533591" y="345281"/>
                    <a:pt x="527685" y="342710"/>
                    <a:pt x="523780" y="338804"/>
                  </a:cubicBezTo>
                  <a:cubicBezTo>
                    <a:pt x="519875" y="334899"/>
                    <a:pt x="517303" y="329184"/>
                    <a:pt x="516065" y="321945"/>
                  </a:cubicBezTo>
                  <a:cubicBezTo>
                    <a:pt x="514922" y="314992"/>
                    <a:pt x="514350" y="305753"/>
                    <a:pt x="514350" y="294608"/>
                  </a:cubicBezTo>
                  <a:lnTo>
                    <a:pt x="514350" y="195644"/>
                  </a:lnTo>
                  <a:lnTo>
                    <a:pt x="568262" y="195644"/>
                  </a:lnTo>
                  <a:lnTo>
                    <a:pt x="568262" y="131921"/>
                  </a:lnTo>
                  <a:lnTo>
                    <a:pt x="514350" y="131921"/>
                  </a:lnTo>
                  <a:lnTo>
                    <a:pt x="514350" y="21812"/>
                  </a:lnTo>
                  <a:lnTo>
                    <a:pt x="439865" y="21812"/>
                  </a:lnTo>
                  <a:lnTo>
                    <a:pt x="439865" y="295180"/>
                  </a:lnTo>
                  <a:cubicBezTo>
                    <a:pt x="439865" y="318230"/>
                    <a:pt x="441865" y="337852"/>
                    <a:pt x="445865" y="353473"/>
                  </a:cubicBezTo>
                  <a:cubicBezTo>
                    <a:pt x="449771" y="368903"/>
                    <a:pt x="456438" y="381572"/>
                    <a:pt x="465677" y="391001"/>
                  </a:cubicBezTo>
                  <a:cubicBezTo>
                    <a:pt x="474917" y="400431"/>
                    <a:pt x="487204" y="407289"/>
                    <a:pt x="502063" y="411385"/>
                  </a:cubicBezTo>
                  <a:cubicBezTo>
                    <a:pt x="517112" y="415481"/>
                    <a:pt x="536258" y="417671"/>
                    <a:pt x="558927" y="417671"/>
                  </a:cubicBezTo>
                  <a:lnTo>
                    <a:pt x="568262" y="417671"/>
                  </a:lnTo>
                  <a:close/>
                  <a:moveTo>
                    <a:pt x="995172" y="0"/>
                  </a:moveTo>
                  <a:lnTo>
                    <a:pt x="920687" y="0"/>
                  </a:lnTo>
                  <a:lnTo>
                    <a:pt x="920687" y="414719"/>
                  </a:lnTo>
                  <a:lnTo>
                    <a:pt x="995172" y="414719"/>
                  </a:lnTo>
                  <a:lnTo>
                    <a:pt x="995172" y="0"/>
                  </a:lnTo>
                  <a:close/>
                  <a:moveTo>
                    <a:pt x="367951" y="159830"/>
                  </a:moveTo>
                  <a:cubicBezTo>
                    <a:pt x="347282" y="137541"/>
                    <a:pt x="318135" y="126206"/>
                    <a:pt x="281273" y="126206"/>
                  </a:cubicBezTo>
                  <a:cubicBezTo>
                    <a:pt x="263462" y="126206"/>
                    <a:pt x="247079" y="129921"/>
                    <a:pt x="232410" y="137065"/>
                  </a:cubicBezTo>
                  <a:cubicBezTo>
                    <a:pt x="217742" y="144304"/>
                    <a:pt x="205264" y="154496"/>
                    <a:pt x="195358" y="167259"/>
                  </a:cubicBezTo>
                  <a:lnTo>
                    <a:pt x="191262" y="172498"/>
                  </a:lnTo>
                  <a:lnTo>
                    <a:pt x="191262" y="167831"/>
                  </a:lnTo>
                  <a:lnTo>
                    <a:pt x="191262" y="132017"/>
                  </a:lnTo>
                  <a:lnTo>
                    <a:pt x="117920" y="132017"/>
                  </a:lnTo>
                  <a:lnTo>
                    <a:pt x="117920" y="414814"/>
                  </a:lnTo>
                  <a:lnTo>
                    <a:pt x="191929" y="414814"/>
                  </a:lnTo>
                  <a:lnTo>
                    <a:pt x="191929" y="264128"/>
                  </a:lnTo>
                  <a:lnTo>
                    <a:pt x="192024" y="274606"/>
                  </a:lnTo>
                  <a:cubicBezTo>
                    <a:pt x="192024" y="272891"/>
                    <a:pt x="192024" y="271177"/>
                    <a:pt x="192119" y="269558"/>
                  </a:cubicBezTo>
                  <a:cubicBezTo>
                    <a:pt x="192881" y="243173"/>
                    <a:pt x="199454" y="223456"/>
                    <a:pt x="211741" y="210884"/>
                  </a:cubicBezTo>
                  <a:cubicBezTo>
                    <a:pt x="224790" y="197549"/>
                    <a:pt x="240697" y="190786"/>
                    <a:pt x="258985" y="190786"/>
                  </a:cubicBezTo>
                  <a:cubicBezTo>
                    <a:pt x="280511" y="190786"/>
                    <a:pt x="296894" y="197358"/>
                    <a:pt x="307753" y="210407"/>
                  </a:cubicBezTo>
                  <a:cubicBezTo>
                    <a:pt x="318421" y="223171"/>
                    <a:pt x="323850" y="241364"/>
                    <a:pt x="323945" y="264605"/>
                  </a:cubicBezTo>
                  <a:lnTo>
                    <a:pt x="323945" y="264605"/>
                  </a:lnTo>
                  <a:lnTo>
                    <a:pt x="323945" y="265176"/>
                  </a:lnTo>
                  <a:lnTo>
                    <a:pt x="323945" y="265271"/>
                  </a:lnTo>
                  <a:lnTo>
                    <a:pt x="323945" y="414814"/>
                  </a:lnTo>
                  <a:lnTo>
                    <a:pt x="399098" y="414814"/>
                  </a:lnTo>
                  <a:lnTo>
                    <a:pt x="399098" y="254222"/>
                  </a:lnTo>
                  <a:cubicBezTo>
                    <a:pt x="399193" y="213931"/>
                    <a:pt x="388620" y="182118"/>
                    <a:pt x="367951" y="159830"/>
                  </a:cubicBezTo>
                  <a:moveTo>
                    <a:pt x="881825" y="272796"/>
                  </a:moveTo>
                  <a:cubicBezTo>
                    <a:pt x="881825" y="252508"/>
                    <a:pt x="878205" y="233267"/>
                    <a:pt x="871061" y="215646"/>
                  </a:cubicBezTo>
                  <a:cubicBezTo>
                    <a:pt x="863918" y="198025"/>
                    <a:pt x="853821" y="182309"/>
                    <a:pt x="841057" y="168974"/>
                  </a:cubicBezTo>
                  <a:cubicBezTo>
                    <a:pt x="828294" y="155639"/>
                    <a:pt x="812768" y="145066"/>
                    <a:pt x="794957" y="137636"/>
                  </a:cubicBezTo>
                  <a:cubicBezTo>
                    <a:pt x="777145" y="130112"/>
                    <a:pt x="757238" y="126302"/>
                    <a:pt x="735806" y="126302"/>
                  </a:cubicBezTo>
                  <a:cubicBezTo>
                    <a:pt x="715518" y="126302"/>
                    <a:pt x="696182" y="130207"/>
                    <a:pt x="678371" y="137922"/>
                  </a:cubicBezTo>
                  <a:cubicBezTo>
                    <a:pt x="660559" y="145637"/>
                    <a:pt x="644843" y="156210"/>
                    <a:pt x="631698" y="169355"/>
                  </a:cubicBezTo>
                  <a:cubicBezTo>
                    <a:pt x="618554" y="182499"/>
                    <a:pt x="607981" y="198215"/>
                    <a:pt x="600266" y="216027"/>
                  </a:cubicBezTo>
                  <a:cubicBezTo>
                    <a:pt x="592550" y="233839"/>
                    <a:pt x="588645" y="253175"/>
                    <a:pt x="588645" y="273463"/>
                  </a:cubicBezTo>
                  <a:cubicBezTo>
                    <a:pt x="588645" y="293751"/>
                    <a:pt x="592360" y="313087"/>
                    <a:pt x="599694" y="330899"/>
                  </a:cubicBezTo>
                  <a:cubicBezTo>
                    <a:pt x="607028" y="348710"/>
                    <a:pt x="617315" y="364426"/>
                    <a:pt x="630269" y="377571"/>
                  </a:cubicBezTo>
                  <a:cubicBezTo>
                    <a:pt x="643223" y="390716"/>
                    <a:pt x="659130" y="401288"/>
                    <a:pt x="677513" y="409004"/>
                  </a:cubicBezTo>
                  <a:cubicBezTo>
                    <a:pt x="695897" y="416719"/>
                    <a:pt x="716280" y="420624"/>
                    <a:pt x="738092" y="420624"/>
                  </a:cubicBezTo>
                  <a:cubicBezTo>
                    <a:pt x="801148" y="420624"/>
                    <a:pt x="840391" y="391954"/>
                    <a:pt x="863918" y="365093"/>
                  </a:cubicBezTo>
                  <a:lnTo>
                    <a:pt x="810292" y="324231"/>
                  </a:lnTo>
                  <a:cubicBezTo>
                    <a:pt x="798957" y="337661"/>
                    <a:pt x="772192" y="355854"/>
                    <a:pt x="738664" y="355854"/>
                  </a:cubicBezTo>
                  <a:cubicBezTo>
                    <a:pt x="717614" y="355854"/>
                    <a:pt x="700373" y="350996"/>
                    <a:pt x="687229" y="341376"/>
                  </a:cubicBezTo>
                  <a:cubicBezTo>
                    <a:pt x="674084" y="331756"/>
                    <a:pt x="665036" y="318611"/>
                    <a:pt x="660368" y="302133"/>
                  </a:cubicBezTo>
                  <a:lnTo>
                    <a:pt x="659606" y="299466"/>
                  </a:lnTo>
                  <a:lnTo>
                    <a:pt x="881825" y="299466"/>
                  </a:lnTo>
                  <a:lnTo>
                    <a:pt x="881825" y="272796"/>
                  </a:lnTo>
                  <a:close/>
                  <a:moveTo>
                    <a:pt x="660368" y="246793"/>
                  </a:moveTo>
                  <a:cubicBezTo>
                    <a:pt x="660368" y="226124"/>
                    <a:pt x="684086" y="189929"/>
                    <a:pt x="735330" y="189929"/>
                  </a:cubicBezTo>
                  <a:cubicBezTo>
                    <a:pt x="786575" y="189929"/>
                    <a:pt x="810387" y="226028"/>
                    <a:pt x="810387" y="246698"/>
                  </a:cubicBezTo>
                  <a:lnTo>
                    <a:pt x="660368" y="24679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36"/>
            <p:cNvSpPr/>
            <p:nvPr/>
          </p:nvSpPr>
          <p:spPr>
            <a:xfrm>
              <a:off x="2358770" y="6728469"/>
              <a:ext cx="79057" cy="79057"/>
            </a:xfrm>
            <a:custGeom>
              <a:rect b="b" l="l" r="r" t="t"/>
              <a:pathLst>
                <a:path extrusionOk="0" h="79057" w="79057">
                  <a:moveTo>
                    <a:pt x="39529" y="5620"/>
                  </a:moveTo>
                  <a:cubicBezTo>
                    <a:pt x="58198" y="5620"/>
                    <a:pt x="73438" y="20860"/>
                    <a:pt x="73438" y="39529"/>
                  </a:cubicBezTo>
                  <a:cubicBezTo>
                    <a:pt x="73438" y="58198"/>
                    <a:pt x="58198" y="73438"/>
                    <a:pt x="39529" y="73438"/>
                  </a:cubicBezTo>
                  <a:cubicBezTo>
                    <a:pt x="20860" y="73438"/>
                    <a:pt x="5620" y="58198"/>
                    <a:pt x="5620" y="39529"/>
                  </a:cubicBezTo>
                  <a:cubicBezTo>
                    <a:pt x="5620" y="20860"/>
                    <a:pt x="20860" y="5620"/>
                    <a:pt x="39529" y="5620"/>
                  </a:cubicBezTo>
                  <a:moveTo>
                    <a:pt x="39529" y="0"/>
                  </a:moveTo>
                  <a:cubicBezTo>
                    <a:pt x="17717" y="0"/>
                    <a:pt x="0" y="17717"/>
                    <a:pt x="0" y="39529"/>
                  </a:cubicBezTo>
                  <a:cubicBezTo>
                    <a:pt x="0" y="61341"/>
                    <a:pt x="17717" y="79058"/>
                    <a:pt x="39529" y="79058"/>
                  </a:cubicBezTo>
                  <a:cubicBezTo>
                    <a:pt x="61341" y="79058"/>
                    <a:pt x="79058" y="61341"/>
                    <a:pt x="79058" y="39529"/>
                  </a:cubicBezTo>
                  <a:cubicBezTo>
                    <a:pt x="79058" y="17717"/>
                    <a:pt x="61341" y="0"/>
                    <a:pt x="3952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36"/>
            <p:cNvSpPr/>
            <p:nvPr/>
          </p:nvSpPr>
          <p:spPr>
            <a:xfrm>
              <a:off x="2384869" y="6748090"/>
              <a:ext cx="30765" cy="39528"/>
            </a:xfrm>
            <a:custGeom>
              <a:rect b="b" l="l" r="r" t="t"/>
              <a:pathLst>
                <a:path extrusionOk="0" h="39528" w="30765">
                  <a:moveTo>
                    <a:pt x="16383" y="95"/>
                  </a:moveTo>
                  <a:cubicBezTo>
                    <a:pt x="18860" y="95"/>
                    <a:pt x="21050" y="667"/>
                    <a:pt x="23051" y="1715"/>
                  </a:cubicBezTo>
                  <a:cubicBezTo>
                    <a:pt x="25051" y="2762"/>
                    <a:pt x="26575" y="4286"/>
                    <a:pt x="27718" y="6191"/>
                  </a:cubicBezTo>
                  <a:cubicBezTo>
                    <a:pt x="28861" y="8096"/>
                    <a:pt x="29337" y="10192"/>
                    <a:pt x="29337" y="12478"/>
                  </a:cubicBezTo>
                  <a:cubicBezTo>
                    <a:pt x="29337" y="15335"/>
                    <a:pt x="28575" y="17717"/>
                    <a:pt x="27146" y="19622"/>
                  </a:cubicBezTo>
                  <a:cubicBezTo>
                    <a:pt x="25718" y="21527"/>
                    <a:pt x="23908" y="22860"/>
                    <a:pt x="21812" y="23717"/>
                  </a:cubicBezTo>
                  <a:lnTo>
                    <a:pt x="30766" y="39529"/>
                  </a:lnTo>
                  <a:lnTo>
                    <a:pt x="23717" y="39529"/>
                  </a:lnTo>
                  <a:lnTo>
                    <a:pt x="15526" y="24860"/>
                  </a:lnTo>
                  <a:lnTo>
                    <a:pt x="6191" y="24860"/>
                  </a:lnTo>
                  <a:lnTo>
                    <a:pt x="6191" y="39529"/>
                  </a:lnTo>
                  <a:lnTo>
                    <a:pt x="0" y="39529"/>
                  </a:lnTo>
                  <a:lnTo>
                    <a:pt x="0" y="0"/>
                  </a:lnTo>
                  <a:lnTo>
                    <a:pt x="16383" y="0"/>
                  </a:lnTo>
                  <a:close/>
                  <a:moveTo>
                    <a:pt x="16383" y="19336"/>
                  </a:moveTo>
                  <a:cubicBezTo>
                    <a:pt x="17717" y="19336"/>
                    <a:pt x="18860" y="19050"/>
                    <a:pt x="19907" y="18478"/>
                  </a:cubicBezTo>
                  <a:cubicBezTo>
                    <a:pt x="20955" y="17907"/>
                    <a:pt x="21717" y="17050"/>
                    <a:pt x="22289" y="16097"/>
                  </a:cubicBezTo>
                  <a:cubicBezTo>
                    <a:pt x="22860" y="15050"/>
                    <a:pt x="23146" y="13906"/>
                    <a:pt x="23146" y="12573"/>
                  </a:cubicBezTo>
                  <a:cubicBezTo>
                    <a:pt x="23146" y="11240"/>
                    <a:pt x="22860" y="10097"/>
                    <a:pt x="22289" y="9049"/>
                  </a:cubicBezTo>
                  <a:cubicBezTo>
                    <a:pt x="21717" y="8001"/>
                    <a:pt x="20860" y="7239"/>
                    <a:pt x="19907" y="6668"/>
                  </a:cubicBezTo>
                  <a:cubicBezTo>
                    <a:pt x="18860" y="6096"/>
                    <a:pt x="17717" y="5810"/>
                    <a:pt x="16383" y="5810"/>
                  </a:cubicBezTo>
                  <a:lnTo>
                    <a:pt x="6191" y="5810"/>
                  </a:lnTo>
                  <a:lnTo>
                    <a:pt x="6191" y="19336"/>
                  </a:lnTo>
                  <a:lnTo>
                    <a:pt x="16383" y="193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White" showMasterSp="0">
  <p:cSld name="Title White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7"/>
          <p:cNvSpPr/>
          <p:nvPr/>
        </p:nvSpPr>
        <p:spPr>
          <a:xfrm>
            <a:off x="1466513" y="-28456"/>
            <a:ext cx="3430768" cy="5421617"/>
          </a:xfrm>
          <a:prstGeom prst="rect">
            <a:avLst/>
          </a:prstGeom>
          <a:solidFill>
            <a:srgbClr val="E7E7E7">
              <a:alpha val="38823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37"/>
          <p:cNvSpPr txBox="1"/>
          <p:nvPr>
            <p:ph type="title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7500"/>
              <a:buFont typeface="Arial"/>
              <a:buNone/>
              <a:defRPr sz="75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36" name="Google Shape;36;p37"/>
          <p:cNvSpPr txBox="1"/>
          <p:nvPr>
            <p:ph idx="1" type="body"/>
          </p:nvPr>
        </p:nvSpPr>
        <p:spPr>
          <a:xfrm>
            <a:off x="1895475" y="3182315"/>
            <a:ext cx="1029652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600"/>
              <a:buNone/>
              <a:defRPr b="1" i="0" sz="16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37"/>
          <p:cNvSpPr txBox="1"/>
          <p:nvPr>
            <p:ph idx="2" type="body"/>
          </p:nvPr>
        </p:nvSpPr>
        <p:spPr>
          <a:xfrm>
            <a:off x="1908348" y="4778609"/>
            <a:ext cx="10283651" cy="32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b="0" i="0" sz="18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38" name="Google Shape;38;p37"/>
          <p:cNvSpPr/>
          <p:nvPr/>
        </p:nvSpPr>
        <p:spPr>
          <a:xfrm>
            <a:off x="861107" y="5390896"/>
            <a:ext cx="607299" cy="607299"/>
          </a:xfrm>
          <a:prstGeom prst="rect">
            <a:avLst/>
          </a:prstGeom>
          <a:solidFill>
            <a:srgbClr val="2872C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37"/>
          <p:cNvSpPr/>
          <p:nvPr/>
        </p:nvSpPr>
        <p:spPr>
          <a:xfrm>
            <a:off x="576067" y="5108797"/>
            <a:ext cx="286654" cy="282073"/>
          </a:xfrm>
          <a:prstGeom prst="rect">
            <a:avLst/>
          </a:prstGeom>
          <a:solidFill>
            <a:srgbClr val="00C7F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37"/>
          <p:cNvSpPr/>
          <p:nvPr/>
        </p:nvSpPr>
        <p:spPr>
          <a:xfrm>
            <a:off x="861107" y="4952474"/>
            <a:ext cx="157461" cy="157461"/>
          </a:xfrm>
          <a:prstGeom prst="rect">
            <a:avLst/>
          </a:prstGeom>
          <a:solidFill>
            <a:srgbClr val="2872C5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" name="Google Shape;41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66513" y="5992753"/>
            <a:ext cx="1031758" cy="3847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8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">
  <p:cSld name="Title, Sub &amp; Conte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9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46" name="Google Shape;46;p39"/>
          <p:cNvSpPr txBox="1"/>
          <p:nvPr>
            <p:ph idx="1" type="body"/>
          </p:nvPr>
        </p:nvSpPr>
        <p:spPr>
          <a:xfrm>
            <a:off x="571370" y="2139953"/>
            <a:ext cx="11010900" cy="4108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47" name="Google Shape;47;p39"/>
          <p:cNvSpPr txBox="1"/>
          <p:nvPr>
            <p:ph idx="2" type="body"/>
          </p:nvPr>
        </p:nvSpPr>
        <p:spPr>
          <a:xfrm>
            <a:off x="571370" y="1612901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2 Content Columns">
  <p:cSld name="Title, Sub &amp; 2 Content 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0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50" name="Google Shape;50;p40"/>
          <p:cNvSpPr txBox="1"/>
          <p:nvPr>
            <p:ph idx="1" type="body"/>
          </p:nvPr>
        </p:nvSpPr>
        <p:spPr>
          <a:xfrm>
            <a:off x="571500" y="2139951"/>
            <a:ext cx="5288525" cy="4118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51" name="Google Shape;51;p40"/>
          <p:cNvSpPr txBox="1"/>
          <p:nvPr>
            <p:ph idx="2" type="body"/>
          </p:nvPr>
        </p:nvSpPr>
        <p:spPr>
          <a:xfrm>
            <a:off x="6289113" y="2139951"/>
            <a:ext cx="5288525" cy="4118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52" name="Google Shape;52;p40"/>
          <p:cNvSpPr txBox="1"/>
          <p:nvPr>
            <p:ph idx="3" type="body"/>
          </p:nvPr>
        </p:nvSpPr>
        <p:spPr>
          <a:xfrm>
            <a:off x="571500" y="1612901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, Content &amp; 2 Pictures">
  <p:cSld name="Title, Sub, Content &amp; 2 Pictures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1"/>
          <p:cNvSpPr txBox="1"/>
          <p:nvPr>
            <p:ph type="title"/>
          </p:nvPr>
        </p:nvSpPr>
        <p:spPr>
          <a:xfrm>
            <a:off x="571500" y="567227"/>
            <a:ext cx="5755707" cy="945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55" name="Google Shape;55;p41"/>
          <p:cNvSpPr txBox="1"/>
          <p:nvPr>
            <p:ph idx="1" type="body"/>
          </p:nvPr>
        </p:nvSpPr>
        <p:spPr>
          <a:xfrm>
            <a:off x="6609331" y="2978828"/>
            <a:ext cx="4668837" cy="345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56" name="Google Shape;56;p41"/>
          <p:cNvSpPr txBox="1"/>
          <p:nvPr>
            <p:ph idx="2" type="body"/>
          </p:nvPr>
        </p:nvSpPr>
        <p:spPr>
          <a:xfrm>
            <a:off x="6609331" y="5929172"/>
            <a:ext cx="4668837" cy="3453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algn="l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>
                <a:solidFill>
                  <a:schemeClr val="dk2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57" name="Google Shape;57;p41"/>
          <p:cNvSpPr/>
          <p:nvPr>
            <p:ph idx="3" type="pic"/>
          </p:nvPr>
        </p:nvSpPr>
        <p:spPr>
          <a:xfrm>
            <a:off x="6609331" y="571500"/>
            <a:ext cx="4668837" cy="2381250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41"/>
          <p:cNvSpPr/>
          <p:nvPr>
            <p:ph idx="4" type="pic"/>
          </p:nvPr>
        </p:nvSpPr>
        <p:spPr>
          <a:xfrm>
            <a:off x="6609331" y="3537061"/>
            <a:ext cx="4668837" cy="2381250"/>
          </a:xfrm>
          <a:prstGeom prst="rect">
            <a:avLst/>
          </a:prstGeom>
          <a:noFill/>
          <a:ln>
            <a:noFill/>
          </a:ln>
        </p:spPr>
      </p:sp>
      <p:sp>
        <p:nvSpPr>
          <p:cNvPr id="59" name="Google Shape;59;p41"/>
          <p:cNvSpPr txBox="1"/>
          <p:nvPr>
            <p:ph idx="5" type="body"/>
          </p:nvPr>
        </p:nvSpPr>
        <p:spPr>
          <a:xfrm>
            <a:off x="571500" y="2139952"/>
            <a:ext cx="5768944" cy="4118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60" name="Google Shape;60;p41"/>
          <p:cNvSpPr txBox="1"/>
          <p:nvPr>
            <p:ph idx="6" type="body"/>
          </p:nvPr>
        </p:nvSpPr>
        <p:spPr>
          <a:xfrm>
            <a:off x="571500" y="1612901"/>
            <a:ext cx="576894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, Content &amp; Picture">
  <p:cSld name="Title, Sub, Content &amp; Picture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2"/>
          <p:cNvSpPr/>
          <p:nvPr>
            <p:ph idx="2" type="pic"/>
          </p:nvPr>
        </p:nvSpPr>
        <p:spPr>
          <a:xfrm>
            <a:off x="6615046" y="0"/>
            <a:ext cx="5129422" cy="6416167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42"/>
          <p:cNvSpPr txBox="1"/>
          <p:nvPr>
            <p:ph type="title"/>
          </p:nvPr>
        </p:nvSpPr>
        <p:spPr>
          <a:xfrm>
            <a:off x="571500" y="567227"/>
            <a:ext cx="5747107" cy="9458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64" name="Google Shape;64;p42"/>
          <p:cNvSpPr txBox="1"/>
          <p:nvPr>
            <p:ph idx="1" type="body"/>
          </p:nvPr>
        </p:nvSpPr>
        <p:spPr>
          <a:xfrm>
            <a:off x="571500" y="2139952"/>
            <a:ext cx="5768944" cy="4118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65" name="Google Shape;65;p42"/>
          <p:cNvSpPr txBox="1"/>
          <p:nvPr>
            <p:ph idx="3" type="body"/>
          </p:nvPr>
        </p:nvSpPr>
        <p:spPr>
          <a:xfrm>
            <a:off x="571500" y="1612901"/>
            <a:ext cx="5768944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None/>
              <a:defRPr sz="32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Full Page Picture">
  <p:cSld name="Title &amp; Full Page Pictur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3"/>
          <p:cNvSpPr/>
          <p:nvPr>
            <p:ph idx="2" type="pic"/>
          </p:nvPr>
        </p:nvSpPr>
        <p:spPr>
          <a:xfrm>
            <a:off x="-11286" y="0"/>
            <a:ext cx="11744325" cy="6401797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3"/>
          <p:cNvSpPr txBox="1"/>
          <p:nvPr>
            <p:ph type="title"/>
          </p:nvPr>
        </p:nvSpPr>
        <p:spPr>
          <a:xfrm>
            <a:off x="571500" y="571500"/>
            <a:ext cx="11010899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Arial"/>
              <a:buNone/>
              <a:defRPr sz="4000">
                <a:solidFill>
                  <a:schemeClr val="dk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Quote">
  <p:cSld name="Title &amp; Quote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4"/>
          <p:cNvSpPr txBox="1"/>
          <p:nvPr>
            <p:ph type="title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  <a:defRPr sz="40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71" name="Google Shape;71;p44"/>
          <p:cNvSpPr txBox="1"/>
          <p:nvPr>
            <p:ph idx="1" type="body"/>
          </p:nvPr>
        </p:nvSpPr>
        <p:spPr>
          <a:xfrm>
            <a:off x="571500" y="1592529"/>
            <a:ext cx="11010900" cy="372718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72" name="Google Shape;72;p44"/>
          <p:cNvSpPr txBox="1"/>
          <p:nvPr>
            <p:ph idx="2" type="body"/>
          </p:nvPr>
        </p:nvSpPr>
        <p:spPr>
          <a:xfrm>
            <a:off x="571500" y="5461818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hart Example" showMasterSp="0">
  <p:cSld name="3_Chart Example">
    <p:bg>
      <p:bgPr>
        <a:solidFill>
          <a:schemeClr val="accen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5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" name="Google Shape;75;p45"/>
          <p:cNvSpPr/>
          <p:nvPr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49803"/>
            </a:scheme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45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45"/>
          <p:cNvSpPr txBox="1"/>
          <p:nvPr>
            <p:ph type="title"/>
          </p:nvPr>
        </p:nvSpPr>
        <p:spPr>
          <a:xfrm>
            <a:off x="571501" y="571501"/>
            <a:ext cx="11022060" cy="873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78" name="Google Shape;78;p45"/>
          <p:cNvSpPr txBox="1"/>
          <p:nvPr>
            <p:ph idx="1" type="body"/>
          </p:nvPr>
        </p:nvSpPr>
        <p:spPr>
          <a:xfrm>
            <a:off x="571500" y="1599816"/>
            <a:ext cx="11010900" cy="3719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indent="-3429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pic>
        <p:nvPicPr>
          <p:cNvPr descr="Image" id="79" name="Google Shape;79;p4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45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81" name="Google Shape;81;p45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82" name="Google Shape;82;p45"/>
          <p:cNvSpPr txBox="1"/>
          <p:nvPr>
            <p:ph idx="2" type="body"/>
          </p:nvPr>
        </p:nvSpPr>
        <p:spPr>
          <a:xfrm>
            <a:off x="571500" y="5476099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83" name="Google Shape;83;p45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White">
  <p:cSld name="Section Break Whit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6"/>
          <p:cNvSpPr txBox="1"/>
          <p:nvPr>
            <p:ph type="title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800"/>
              <a:buFont typeface="Arial"/>
              <a:buNone/>
              <a:defRPr sz="4800">
                <a:solidFill>
                  <a:srgbClr val="52525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86" name="Google Shape;86;p46"/>
          <p:cNvSpPr txBox="1"/>
          <p:nvPr>
            <p:ph idx="1" type="body"/>
          </p:nvPr>
        </p:nvSpPr>
        <p:spPr>
          <a:xfrm>
            <a:off x="571500" y="3939750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800"/>
              <a:buNone/>
              <a:defRPr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Blue" showMasterSp="0">
  <p:cSld name="Section Break Blue">
    <p:bg>
      <p:bgPr>
        <a:solidFill>
          <a:schemeClr val="accen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7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Image" id="89" name="Google Shape;89;p4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47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7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92" name="Google Shape;92;p47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93" name="Google Shape;93;p47"/>
          <p:cNvSpPr txBox="1"/>
          <p:nvPr>
            <p:ph type="title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94" name="Google Shape;94;p47"/>
          <p:cNvSpPr txBox="1"/>
          <p:nvPr>
            <p:ph idx="1" type="body"/>
          </p:nvPr>
        </p:nvSpPr>
        <p:spPr>
          <a:xfrm>
            <a:off x="571500" y="3948942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95" name="Google Shape;95;p47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Break Light Blue" showMasterSp="0">
  <p:cSld name="Section Break Light Blue">
    <p:bg>
      <p:bgPr>
        <a:solidFill>
          <a:srgbClr val="0095BD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8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p48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Image" id="99" name="Google Shape;99;p4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48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8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48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03" name="Google Shape;103;p48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04" name="Google Shape;104;p48"/>
          <p:cNvSpPr txBox="1"/>
          <p:nvPr>
            <p:ph type="title"/>
          </p:nvPr>
        </p:nvSpPr>
        <p:spPr>
          <a:xfrm>
            <a:off x="571370" y="2140785"/>
            <a:ext cx="11010816" cy="165168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05" name="Google Shape;105;p48"/>
          <p:cNvSpPr txBox="1"/>
          <p:nvPr>
            <p:ph idx="1" type="body"/>
          </p:nvPr>
        </p:nvSpPr>
        <p:spPr>
          <a:xfrm>
            <a:off x="571500" y="3964420"/>
            <a:ext cx="11022013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Blue" showMasterSp="0">
  <p:cSld name="Title, Sub &amp; Content Blue">
    <p:bg>
      <p:bgPr>
        <a:solidFill>
          <a:schemeClr val="dk2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9"/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49"/>
          <p:cNvSpPr/>
          <p:nvPr/>
        </p:nvSpPr>
        <p:spPr>
          <a:xfrm>
            <a:off x="709974" y="2295859"/>
            <a:ext cx="318638" cy="318638"/>
          </a:xfrm>
          <a:prstGeom prst="rect">
            <a:avLst/>
          </a:prstGeom>
          <a:solidFill>
            <a:srgbClr val="00C7FD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8B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49"/>
          <p:cNvSpPr/>
          <p:nvPr/>
        </p:nvSpPr>
        <p:spPr>
          <a:xfrm>
            <a:off x="536812" y="2122317"/>
            <a:ext cx="174318" cy="174318"/>
          </a:xfrm>
          <a:prstGeom prst="rect">
            <a:avLst/>
          </a:prstGeom>
          <a:solidFill>
            <a:srgbClr val="7BDE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49"/>
          <p:cNvSpPr/>
          <p:nvPr/>
        </p:nvSpPr>
        <p:spPr>
          <a:xfrm>
            <a:off x="709974" y="2023075"/>
            <a:ext cx="98724" cy="98723"/>
          </a:xfrm>
          <a:prstGeom prst="rect">
            <a:avLst/>
          </a:prstGeom>
          <a:solidFill>
            <a:srgbClr val="B4F0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9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12" name="Google Shape;112;p4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9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49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15" name="Google Shape;115;p49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16" name="Google Shape;116;p49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17" name="Google Shape;117;p49"/>
          <p:cNvSpPr txBox="1"/>
          <p:nvPr>
            <p:ph type="title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18" name="Google Shape;118;p49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Blue 2" showMasterSp="0">
  <p:cSld name="Title, Sub &amp; Content Blue 2">
    <p:bg>
      <p:bgPr>
        <a:solidFill>
          <a:schemeClr val="dk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50"/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50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0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D9692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8B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50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F6CB4B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50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D9692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25" name="Google Shape;125;p5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50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50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28" name="Google Shape;128;p50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29" name="Google Shape;129;p50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30" name="Google Shape;130;p50"/>
          <p:cNvSpPr txBox="1"/>
          <p:nvPr>
            <p:ph type="title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31" name="Google Shape;131;p50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Light Blue" showMasterSp="0">
  <p:cSld name="Title, Sub &amp; Content Light Blue">
    <p:bg>
      <p:bgPr>
        <a:solidFill>
          <a:schemeClr val="accent2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1"/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rgbClr val="0095B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1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rgbClr val="0095B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35" name="Google Shape;135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51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1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51"/>
          <p:cNvSpPr/>
          <p:nvPr/>
        </p:nvSpPr>
        <p:spPr>
          <a:xfrm>
            <a:off x="707513" y="2295859"/>
            <a:ext cx="318638" cy="318638"/>
          </a:xfrm>
          <a:prstGeom prst="rect">
            <a:avLst/>
          </a:prstGeom>
          <a:solidFill>
            <a:srgbClr val="004A86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8B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1"/>
          <p:cNvSpPr/>
          <p:nvPr/>
        </p:nvSpPr>
        <p:spPr>
          <a:xfrm>
            <a:off x="533946" y="2122317"/>
            <a:ext cx="174318" cy="174318"/>
          </a:xfrm>
          <a:prstGeom prst="rect">
            <a:avLst/>
          </a:prstGeom>
          <a:solidFill>
            <a:srgbClr val="7BDE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51"/>
          <p:cNvSpPr/>
          <p:nvPr/>
        </p:nvSpPr>
        <p:spPr>
          <a:xfrm>
            <a:off x="707513" y="2023075"/>
            <a:ext cx="98724" cy="98723"/>
          </a:xfrm>
          <a:prstGeom prst="rect">
            <a:avLst/>
          </a:prstGeom>
          <a:solidFill>
            <a:srgbClr val="B4F0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51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42" name="Google Shape;142;p51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43" name="Google Shape;143;p51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44" name="Google Shape;144;p51"/>
          <p:cNvSpPr txBox="1"/>
          <p:nvPr>
            <p:ph type="title"/>
          </p:nvPr>
        </p:nvSpPr>
        <p:spPr>
          <a:xfrm>
            <a:off x="1014757" y="2545222"/>
            <a:ext cx="4785571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45" name="Google Shape;145;p51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, Content Gray">
  <p:cSld name="Title, Sub, Content Gray">
    <p:bg>
      <p:bgPr>
        <a:solidFill>
          <a:srgbClr val="F2F2F2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2"/>
          <p:cNvSpPr/>
          <p:nvPr/>
        </p:nvSpPr>
        <p:spPr>
          <a:xfrm>
            <a:off x="11741697" y="6405280"/>
            <a:ext cx="450068" cy="45006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52"/>
          <p:cNvSpPr/>
          <p:nvPr/>
        </p:nvSpPr>
        <p:spPr>
          <a:xfrm>
            <a:off x="5814183" y="402558"/>
            <a:ext cx="5927511" cy="600347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52"/>
          <p:cNvSpPr/>
          <p:nvPr/>
        </p:nvSpPr>
        <p:spPr>
          <a:xfrm>
            <a:off x="5815052" y="401865"/>
            <a:ext cx="5927511" cy="600347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52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  <a:defRPr>
                <a:solidFill>
                  <a:schemeClr val="lt2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  <a:defRPr>
                <a:solidFill>
                  <a:schemeClr val="lt2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•"/>
              <a:defRPr>
                <a:solidFill>
                  <a:schemeClr val="lt2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51" name="Google Shape;151;p52"/>
          <p:cNvSpPr txBox="1"/>
          <p:nvPr>
            <p:ph type="title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  <a:defRPr sz="4000">
                <a:solidFill>
                  <a:schemeClr val="lt2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52" name="Google Shape;152;p52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3200"/>
              <a:buNone/>
              <a:defRPr sz="320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53" name="Google Shape;153;p52"/>
          <p:cNvSpPr txBox="1"/>
          <p:nvPr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Blue 3" showMasterSp="0">
  <p:cSld name="Title, Sub &amp; Content Blue 3">
    <p:bg>
      <p:bgPr>
        <a:solidFill>
          <a:schemeClr val="accen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3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56" name="Google Shape;156;p53"/>
          <p:cNvSpPr txBox="1"/>
          <p:nvPr>
            <p:ph type="title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57" name="Google Shape;157;p53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58" name="Google Shape;158;p53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9" name="Google Shape;159;p53"/>
          <p:cNvSpPr/>
          <p:nvPr/>
        </p:nvSpPr>
        <p:spPr>
          <a:xfrm>
            <a:off x="11741697" y="6407185"/>
            <a:ext cx="450068" cy="450068"/>
          </a:xfrm>
          <a:prstGeom prst="rect">
            <a:avLst/>
          </a:prstGeom>
          <a:solidFill>
            <a:schemeClr val="accent1">
              <a:alpha val="49803"/>
            </a:scheme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53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61" name="Google Shape;161;p5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53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63" name="Google Shape;163;p53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64" name="Google Shape;164;p53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 &amp; Content Light Blue 2" showMasterSp="0">
  <p:cSld name="Title, Sub &amp; Content Light Blue 2">
    <p:bg>
      <p:bgPr>
        <a:solidFill>
          <a:srgbClr val="0095BD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4"/>
          <p:cNvSpPr txBox="1"/>
          <p:nvPr>
            <p:ph idx="1" type="body"/>
          </p:nvPr>
        </p:nvSpPr>
        <p:spPr>
          <a:xfrm>
            <a:off x="6394450" y="1974850"/>
            <a:ext cx="4852988" cy="37036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00"/>
              <a:buChar char="▪"/>
              <a:defRPr>
                <a:solidFill>
                  <a:schemeClr val="lt1"/>
                </a:solidFill>
              </a:defRPr>
            </a:lvl1pPr>
            <a:lvl2pPr indent="-3810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>
                <a:solidFill>
                  <a:schemeClr val="lt1"/>
                </a:solidFill>
              </a:defRPr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indent="-3302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•"/>
              <a:defRPr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67" name="Google Shape;167;p54"/>
          <p:cNvSpPr txBox="1"/>
          <p:nvPr>
            <p:ph type="title"/>
          </p:nvPr>
        </p:nvSpPr>
        <p:spPr>
          <a:xfrm>
            <a:off x="554183" y="2545222"/>
            <a:ext cx="4765744" cy="2497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68" name="Google Shape;168;p54"/>
          <p:cNvSpPr txBox="1"/>
          <p:nvPr>
            <p:ph idx="2" type="body"/>
          </p:nvPr>
        </p:nvSpPr>
        <p:spPr>
          <a:xfrm>
            <a:off x="6394450" y="740229"/>
            <a:ext cx="4865211" cy="107814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/>
            </a:lvl5pPr>
            <a:lvl6pPr indent="-228600" lvl="5" marL="2743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6pPr>
            <a:lvl7pPr indent="-228600" lvl="6" marL="3200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7pPr>
            <a:lvl8pPr indent="-228600" lvl="7" marL="3657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8pPr>
            <a:lvl9pPr indent="-228600" lvl="8" marL="41148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None/>
              <a:defRPr/>
            </a:lvl9pPr>
          </a:lstStyle>
          <a:p/>
        </p:txBody>
      </p:sp>
      <p:sp>
        <p:nvSpPr>
          <p:cNvPr id="169" name="Google Shape;169;p54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0" name="Google Shape;170;p54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chemeClr val="lt1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71" name="Google Shape;171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54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73" name="Google Shape;173;p54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74" name="Google Shape;174;p54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 White">
  <p:cSld name="Title &amp; Sub White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6" name="Google Shape;176;p55"/>
          <p:cNvGraphicFramePr/>
          <p:nvPr/>
        </p:nvGraphicFramePr>
        <p:xfrm>
          <a:off x="7201593" y="1799047"/>
          <a:ext cx="3472287" cy="4025676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id="177" name="Google Shape;177;p55"/>
          <p:cNvSpPr txBox="1"/>
          <p:nvPr>
            <p:ph type="title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Font typeface="Arial"/>
              <a:buNone/>
              <a:defRPr sz="4800">
                <a:solidFill>
                  <a:schemeClr val="accen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  <p:sp>
        <p:nvSpPr>
          <p:cNvPr id="178" name="Google Shape;178;p55"/>
          <p:cNvSpPr/>
          <p:nvPr/>
        </p:nvSpPr>
        <p:spPr>
          <a:xfrm>
            <a:off x="0" y="0"/>
            <a:ext cx="11736987" cy="45054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9" name="Google Shape;179;p55"/>
          <p:cNvSpPr/>
          <p:nvPr/>
        </p:nvSpPr>
        <p:spPr>
          <a:xfrm rot="5400000">
            <a:off x="-2978450" y="2978453"/>
            <a:ext cx="6407450" cy="45054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 Blue" showMasterSp="0">
  <p:cSld name="Title &amp; Sub Blue">
    <p:bg>
      <p:bgPr>
        <a:solidFill>
          <a:schemeClr val="dk2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6"/>
          <p:cNvSpPr/>
          <p:nvPr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56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83" name="Google Shape;183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56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56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56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87" name="Google Shape;187;p56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88" name="Google Shape;188;p56"/>
          <p:cNvSpPr txBox="1"/>
          <p:nvPr>
            <p:ph type="title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 Light Blue" showMasterSp="0">
  <p:cSld name="Title &amp; Sub Light Blue">
    <p:bg>
      <p:bgPr>
        <a:solidFill>
          <a:srgbClr val="00C7FD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7"/>
          <p:cNvSpPr/>
          <p:nvPr/>
        </p:nvSpPr>
        <p:spPr>
          <a:xfrm>
            <a:off x="471054" y="464127"/>
            <a:ext cx="11272494" cy="5944838"/>
          </a:xfrm>
          <a:prstGeom prst="rect">
            <a:avLst/>
          </a:prstGeom>
          <a:solidFill>
            <a:srgbClr val="0095BD"/>
          </a:solidFill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57"/>
          <p:cNvSpPr/>
          <p:nvPr/>
        </p:nvSpPr>
        <p:spPr>
          <a:xfrm>
            <a:off x="11743603" y="6405281"/>
            <a:ext cx="448398" cy="452720"/>
          </a:xfrm>
          <a:prstGeom prst="rect">
            <a:avLst/>
          </a:prstGeom>
          <a:solidFill>
            <a:srgbClr val="0095BD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6FC5"/>
              </a:buClr>
              <a:buSzPts val="1600"/>
              <a:buFont typeface="Helvetica Neue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" id="192" name="Google Shape;192;p5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1151433" y="6543018"/>
            <a:ext cx="491250" cy="190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57"/>
          <p:cNvSpPr txBox="1"/>
          <p:nvPr/>
        </p:nvSpPr>
        <p:spPr>
          <a:xfrm>
            <a:off x="11942955" y="6538004"/>
            <a:ext cx="51361" cy="189796"/>
          </a:xfrm>
          <a:prstGeom prst="rect">
            <a:avLst/>
          </a:prstGeom>
          <a:noFill/>
          <a:ln>
            <a:noFill/>
          </a:ln>
        </p:spPr>
        <p:txBody>
          <a:bodyPr anchorCtr="0" anchor="b" bIns="25400" lIns="25400" spcFirstLastPara="1" rIns="25400" wrap="square" tIns="254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57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57"/>
          <p:cNvSpPr/>
          <p:nvPr/>
        </p:nvSpPr>
        <p:spPr>
          <a:xfrm>
            <a:off x="5503530" y="6562504"/>
            <a:ext cx="118494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Intel Confidential</a:t>
            </a:r>
            <a:endParaRPr/>
          </a:p>
        </p:txBody>
      </p:sp>
      <p:sp>
        <p:nvSpPr>
          <p:cNvPr id="196" name="Google Shape;196;p57"/>
          <p:cNvSpPr/>
          <p:nvPr/>
        </p:nvSpPr>
        <p:spPr>
          <a:xfrm>
            <a:off x="483010" y="6562504"/>
            <a:ext cx="1766830" cy="2314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or Event Name</a:t>
            </a:r>
            <a:endParaRPr/>
          </a:p>
        </p:txBody>
      </p:sp>
      <p:sp>
        <p:nvSpPr>
          <p:cNvPr id="197" name="Google Shape;197;p57"/>
          <p:cNvSpPr txBox="1"/>
          <p:nvPr>
            <p:ph type="title"/>
          </p:nvPr>
        </p:nvSpPr>
        <p:spPr>
          <a:xfrm>
            <a:off x="1444480" y="1917036"/>
            <a:ext cx="9303040" cy="3023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 showMasterSp="0">
  <p:cSld name="End Slide">
    <p:bg>
      <p:bgPr>
        <a:solidFill>
          <a:schemeClr val="accen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5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99949" y="2409775"/>
            <a:ext cx="4080108" cy="152139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58"/>
          <p:cNvSpPr txBox="1"/>
          <p:nvPr/>
        </p:nvSpPr>
        <p:spPr>
          <a:xfrm>
            <a:off x="11881866" y="6268286"/>
            <a:ext cx="207818" cy="46397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Arial"/>
              <a:buNone/>
            </a:pPr>
            <a:fld id="{00000000-1234-1234-1234-123412341234}" type="slidenum">
              <a:rPr b="0" i="0" lang="en-US" sz="8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5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8"/>
          <p:cNvSpPr/>
          <p:nvPr/>
        </p:nvSpPr>
        <p:spPr>
          <a:xfrm>
            <a:off x="0" y="6407451"/>
            <a:ext cx="11736987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2" name="Google Shape;202;p58"/>
          <p:cNvSpPr/>
          <p:nvPr/>
        </p:nvSpPr>
        <p:spPr>
          <a:xfrm rot="5400000">
            <a:off x="8758537" y="2978453"/>
            <a:ext cx="6407450" cy="450549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50800" lIns="50800" spcFirstLastPara="1" rIns="50800" wrap="square" tIns="508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2"/>
          <p:cNvSpPr txBox="1"/>
          <p:nvPr>
            <p:ph idx="1" type="body"/>
          </p:nvPr>
        </p:nvSpPr>
        <p:spPr>
          <a:xfrm>
            <a:off x="592915" y="1524000"/>
            <a:ext cx="10972801" cy="47244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300"/>
              <a:buFont typeface="Helvetica Neue"/>
              <a:buNone/>
              <a:defRPr b="0" i="0" sz="1300" u="none" cap="none" strike="noStrike">
                <a:solidFill>
                  <a:srgbClr val="5E5E5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7" name="Google Shape;7;p32"/>
          <p:cNvSpPr txBox="1"/>
          <p:nvPr>
            <p:ph type="title"/>
          </p:nvPr>
        </p:nvSpPr>
        <p:spPr>
          <a:xfrm>
            <a:off x="592916" y="571500"/>
            <a:ext cx="10972801" cy="8836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  <a:defRPr b="0" i="0" sz="40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35353"/>
              </a:buClr>
              <a:buSzPts val="3300"/>
              <a:buFont typeface="Helvetica Neue"/>
              <a:buNone/>
              <a:defRPr b="1" i="0" sz="3300" u="none" cap="none" strike="noStrike">
                <a:solidFill>
                  <a:srgbClr val="53535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  <p:sp>
        <p:nvSpPr>
          <p:cNvPr id="8" name="Google Shape;8;p32"/>
          <p:cNvSpPr txBox="1"/>
          <p:nvPr/>
        </p:nvSpPr>
        <p:spPr>
          <a:xfrm>
            <a:off x="11908632" y="6579173"/>
            <a:ext cx="128240" cy="1231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Arial"/>
              <a:buNone/>
            </a:pPr>
            <a:fld id="{00000000-1234-1234-1234-123412341234}" type="slidenum">
              <a:rPr b="0" i="0" lang="en-US" sz="8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hyperlink" Target="https://www.intel.com/content/www/us/en/developer/articles/technical/intel-sdm.htm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hyperlink" Target="https://en.wikipedia.org/wiki/Three-address_code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37.png"/><Relationship Id="rId5" Type="http://schemas.openxmlformats.org/officeDocument/2006/relationships/hyperlink" Target="https://en.wikipedia.org/wiki/Static_single_assignment_form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llvm.org/docs/LangRef.html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hyperlink" Target="https://llvm.org/devmtg/2019-04/slides/Tutorial-Bridgers-LLVM_IR_tutorial.pdf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0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hyperlink" Target="https://godbolt.org/z/sqo4aG7Gd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Relationship Id="rId6" Type="http://schemas.openxmlformats.org/officeDocument/2006/relationships/hyperlink" Target="https://godbolt.org/z/4hebzfe6s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hyperlink" Target="https://godbolt.org/z/898E47xGf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Relationship Id="rId5" Type="http://schemas.openxmlformats.org/officeDocument/2006/relationships/image" Target="../media/image13.png"/><Relationship Id="rId6" Type="http://schemas.openxmlformats.org/officeDocument/2006/relationships/hyperlink" Target="https://godbolt.org/z/jxcvxM57f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Relationship Id="rId5" Type="http://schemas.openxmlformats.org/officeDocument/2006/relationships/image" Target="../media/image13.png"/><Relationship Id="rId6" Type="http://schemas.openxmlformats.org/officeDocument/2006/relationships/hyperlink" Target="https://godbolt.org/z/jxcvxM57f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Relationship Id="rId5" Type="http://schemas.openxmlformats.org/officeDocument/2006/relationships/image" Target="../media/image13.png"/><Relationship Id="rId6" Type="http://schemas.openxmlformats.org/officeDocument/2006/relationships/hyperlink" Target="https://godbolt.org/z/GbqhabvM8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Relationship Id="rId4" Type="http://schemas.openxmlformats.org/officeDocument/2006/relationships/image" Target="../media/image3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8.png"/><Relationship Id="rId4" Type="http://schemas.openxmlformats.org/officeDocument/2006/relationships/image" Target="../media/image33.png"/><Relationship Id="rId5" Type="http://schemas.openxmlformats.org/officeDocument/2006/relationships/image" Target="../media/image27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png"/><Relationship Id="rId4" Type="http://schemas.openxmlformats.org/officeDocument/2006/relationships/image" Target="../media/image13.png"/><Relationship Id="rId5" Type="http://schemas.openxmlformats.org/officeDocument/2006/relationships/hyperlink" Target="https://godbolt.org/z/x6bf1fxxv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Relationship Id="rId5" Type="http://schemas.openxmlformats.org/officeDocument/2006/relationships/image" Target="../media/image13.png"/><Relationship Id="rId6" Type="http://schemas.openxmlformats.org/officeDocument/2006/relationships/hyperlink" Target="https://godbolt.org/z/x6bf1fxxv" TargetMode="Externa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2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www.llvm.org/docs/CommandGuide/bugpoint.html" TargetMode="External"/><Relationship Id="rId4" Type="http://schemas.openxmlformats.org/officeDocument/2006/relationships/hyperlink" Target="https://llvm.org/docs/CommandGuide/llvm-reduce.html" TargetMode="External"/><Relationship Id="rId5" Type="http://schemas.openxmlformats.org/officeDocument/2006/relationships/hyperlink" Target="https://www.youtube.com/watch?v=n1jDj7J9N8c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hyperlink" Target="https://forms.gle/JbjBRMFNXym6tBQG6" TargetMode="External"/><Relationship Id="rId4" Type="http://schemas.openxmlformats.org/officeDocument/2006/relationships/image" Target="../media/image28.png"/><Relationship Id="rId5" Type="http://schemas.openxmlformats.org/officeDocument/2006/relationships/image" Target="../media/image34.png"/><Relationship Id="rId6" Type="http://schemas.openxmlformats.org/officeDocument/2006/relationships/hyperlink" Target="mailto:me@gooddoog.ru" TargetMode="Externa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forms.gle/KNKvREkPhq3QNHj18" TargetMode="External"/><Relationship Id="rId4" Type="http://schemas.openxmlformats.org/officeDocument/2006/relationships/hyperlink" Target="mailto:me@gooddoog.ru" TargetMode="External"/><Relationship Id="rId5" Type="http://schemas.openxmlformats.org/officeDocument/2006/relationships/image" Target="../media/image31.png"/><Relationship Id="rId6" Type="http://schemas.openxmlformats.org/officeDocument/2006/relationships/image" Target="../media/image35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forms.gle/6621mVXjavHiQxWB6" TargetMode="External"/><Relationship Id="rId4" Type="http://schemas.openxmlformats.org/officeDocument/2006/relationships/hyperlink" Target="mailto:me@gooddoog.ru" TargetMode="External"/><Relationship Id="rId5" Type="http://schemas.openxmlformats.org/officeDocument/2006/relationships/image" Target="../media/image29.png"/><Relationship Id="rId6" Type="http://schemas.openxmlformats.org/officeDocument/2006/relationships/image" Target="../media/image36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hyperlink" Target="https://github.com/f0rki/mapping-high-level-constructs-to-llvm-ir" TargetMode="External"/><Relationship Id="rId4" Type="http://schemas.openxmlformats.org/officeDocument/2006/relationships/hyperlink" Target="https://www.llvm.org/docs/GetElementPtr.html" TargetMode="External"/><Relationship Id="rId5" Type="http://schemas.openxmlformats.org/officeDocument/2006/relationships/hyperlink" Target="https://www.youtube.com/watch?v=m8G_S5LwlTo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"/>
          <p:cNvSpPr txBox="1"/>
          <p:nvPr>
            <p:ph type="title"/>
          </p:nvPr>
        </p:nvSpPr>
        <p:spPr>
          <a:xfrm>
            <a:off x="1895475" y="3585279"/>
            <a:ext cx="10972801" cy="10918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Font typeface="Arial"/>
              <a:buNone/>
            </a:pPr>
            <a:r>
              <a:rPr lang="en-US"/>
              <a:t>Compilers 101</a:t>
            </a:r>
            <a:endParaRPr/>
          </a:p>
        </p:txBody>
      </p:sp>
      <p:sp>
        <p:nvSpPr>
          <p:cNvPr id="208" name="Google Shape;208;p1"/>
          <p:cNvSpPr txBox="1"/>
          <p:nvPr>
            <p:ph idx="2" type="body"/>
          </p:nvPr>
        </p:nvSpPr>
        <p:spPr>
          <a:xfrm>
            <a:off x="1908348" y="4778609"/>
            <a:ext cx="10283651" cy="326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LLVM IR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Previously…</a:t>
            </a:r>
            <a:endParaRPr/>
          </a:p>
        </p:txBody>
      </p:sp>
      <p:sp>
        <p:nvSpPr>
          <p:cNvPr id="214" name="Google Shape;214;p2"/>
          <p:cNvSpPr/>
          <p:nvPr/>
        </p:nvSpPr>
        <p:spPr>
          <a:xfrm>
            <a:off x="855405" y="1544658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Preprocessing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5" name="Google Shape;215;p2"/>
          <p:cNvSpPr/>
          <p:nvPr/>
        </p:nvSpPr>
        <p:spPr>
          <a:xfrm>
            <a:off x="855404" y="2098214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Lexical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6" name="Google Shape;216;p2"/>
          <p:cNvSpPr/>
          <p:nvPr/>
        </p:nvSpPr>
        <p:spPr>
          <a:xfrm>
            <a:off x="855403" y="2651770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Syntax analysis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7" name="Google Shape;217;p2"/>
          <p:cNvSpPr/>
          <p:nvPr/>
        </p:nvSpPr>
        <p:spPr>
          <a:xfrm>
            <a:off x="855405" y="3213202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Semantic analysis</a:t>
            </a:r>
            <a:endParaRPr sz="18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8" name="Google Shape;218;p2"/>
          <p:cNvSpPr/>
          <p:nvPr/>
        </p:nvSpPr>
        <p:spPr>
          <a:xfrm>
            <a:off x="855401" y="4382232"/>
            <a:ext cx="2861100" cy="379500"/>
          </a:xfrm>
          <a:prstGeom prst="rect">
            <a:avLst/>
          </a:prstGeom>
          <a:solidFill>
            <a:srgbClr val="7030A0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 Optimization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9" name="Google Shape;219;p2"/>
          <p:cNvSpPr/>
          <p:nvPr/>
        </p:nvSpPr>
        <p:spPr>
          <a:xfrm>
            <a:off x="855400" y="5505072"/>
            <a:ext cx="2861100" cy="471900"/>
          </a:xfrm>
          <a:prstGeom prst="rect">
            <a:avLst/>
          </a:prstGeom>
          <a:solidFill>
            <a:srgbClr val="70AD47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Code generation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0" name="Google Shape;220;p2"/>
          <p:cNvSpPr/>
          <p:nvPr/>
        </p:nvSpPr>
        <p:spPr>
          <a:xfrm>
            <a:off x="855411" y="4897503"/>
            <a:ext cx="2861100" cy="471900"/>
          </a:xfrm>
          <a:prstGeom prst="rect">
            <a:avLst/>
          </a:prstGeom>
          <a:solidFill>
            <a:srgbClr val="70AD47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Helvetica Neue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Optimization</a:t>
            </a:r>
            <a:endParaRPr b="0" i="0" sz="3200" u="none" cap="none" strike="noStrike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1" name="Google Shape;221;p2"/>
          <p:cNvSpPr/>
          <p:nvPr/>
        </p:nvSpPr>
        <p:spPr>
          <a:xfrm>
            <a:off x="855405" y="3797715"/>
            <a:ext cx="2861100" cy="471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IR Generation</a:t>
            </a:r>
            <a:endParaRPr sz="1800">
              <a:solidFill>
                <a:srgbClr val="FFFFF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2" name="Google Shape;222;p2"/>
          <p:cNvSpPr/>
          <p:nvPr/>
        </p:nvSpPr>
        <p:spPr>
          <a:xfrm>
            <a:off x="6707568" y="2474368"/>
            <a:ext cx="1828800" cy="594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Frontend</a:t>
            </a:r>
            <a:endParaRPr/>
          </a:p>
        </p:txBody>
      </p:sp>
      <p:sp>
        <p:nvSpPr>
          <p:cNvPr id="223" name="Google Shape;223;p2"/>
          <p:cNvSpPr/>
          <p:nvPr/>
        </p:nvSpPr>
        <p:spPr>
          <a:xfrm>
            <a:off x="6478475" y="4241871"/>
            <a:ext cx="2286900" cy="594900"/>
          </a:xfrm>
          <a:prstGeom prst="rect">
            <a:avLst/>
          </a:prstGeom>
          <a:solidFill>
            <a:srgbClr val="7030A0"/>
          </a:solidFill>
          <a:ln cap="flat" cmpd="sng" w="12700">
            <a:solidFill>
              <a:srgbClr val="78787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Middle-end</a:t>
            </a:r>
            <a:endParaRPr/>
          </a:p>
        </p:txBody>
      </p:sp>
      <p:sp>
        <p:nvSpPr>
          <p:cNvPr id="224" name="Google Shape;224;p2"/>
          <p:cNvSpPr/>
          <p:nvPr/>
        </p:nvSpPr>
        <p:spPr>
          <a:xfrm>
            <a:off x="6478476" y="5064028"/>
            <a:ext cx="2286900" cy="594900"/>
          </a:xfrm>
          <a:prstGeom prst="rect">
            <a:avLst/>
          </a:prstGeom>
          <a:solidFill>
            <a:srgbClr val="70AD47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Helvetica Neue"/>
              <a:buNone/>
            </a:pPr>
            <a:r>
              <a:rPr b="0" i="0" lang="en-US" sz="32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Backend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Today</a:t>
            </a:r>
            <a:endParaRPr/>
          </a:p>
        </p:txBody>
      </p:sp>
      <p:sp>
        <p:nvSpPr>
          <p:cNvPr id="230" name="Google Shape;230;p3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Three address code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Intermediate representations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LLVM IR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How to represent computation?</a:t>
            </a:r>
            <a:endParaRPr/>
          </a:p>
        </p:txBody>
      </p:sp>
      <p:pic>
        <p:nvPicPr>
          <p:cNvPr id="236" name="Google Shape;236;p4"/>
          <p:cNvPicPr preferRelativeResize="0"/>
          <p:nvPr/>
        </p:nvPicPr>
        <p:blipFill rotWithShape="1">
          <a:blip r:embed="rId3">
            <a:alphaModFix/>
          </a:blip>
          <a:srcRect b="0" l="2155" r="2059" t="36701"/>
          <a:stretch/>
        </p:blipFill>
        <p:spPr>
          <a:xfrm>
            <a:off x="868050" y="1524000"/>
            <a:ext cx="10465775" cy="4730874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4"/>
          <p:cNvSpPr txBox="1"/>
          <p:nvPr/>
        </p:nvSpPr>
        <p:spPr>
          <a:xfrm>
            <a:off x="2679425" y="6400800"/>
            <a:ext cx="67947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https://www.intel.com/content/www/us/en/developer/articles/technical/intel-sdm.html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999cc3595_0_6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Two-address code (2AC)</a:t>
            </a:r>
            <a:endParaRPr/>
          </a:p>
        </p:txBody>
      </p:sp>
      <p:sp>
        <p:nvSpPr>
          <p:cNvPr id="243" name="Google Shape;243;g3a999cc3595_0_6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Two</a:t>
            </a:r>
            <a:r>
              <a:rPr lang="en-US"/>
              <a:t>-address code is a representation of the computation in the form of a sequence of expressions A := A op B</a:t>
            </a:r>
            <a:endParaRPr/>
          </a:p>
          <a:p>
            <a:pPr indent="-292100" lvl="0" marL="228600" rtl="0" algn="l">
              <a:spcBef>
                <a:spcPts val="12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Example: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A := B + C + 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A := 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A += C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A += D</a:t>
            </a:r>
            <a:endParaRPr/>
          </a:p>
        </p:txBody>
      </p:sp>
      <p:cxnSp>
        <p:nvCxnSpPr>
          <p:cNvPr id="244" name="Google Shape;244;g3a999cc3595_0_6"/>
          <p:cNvCxnSpPr/>
          <p:nvPr/>
        </p:nvCxnSpPr>
        <p:spPr>
          <a:xfrm>
            <a:off x="571370" y="3749879"/>
            <a:ext cx="26667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Three-address code (TAC, 3AC)</a:t>
            </a:r>
            <a:endParaRPr/>
          </a:p>
        </p:txBody>
      </p:sp>
      <p:sp>
        <p:nvSpPr>
          <p:cNvPr id="250" name="Google Shape;250;p5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Three-address code is a representation of the computation in the form of a sequence of expressions A := B op C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Example: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A := B + C + 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t1 := B + C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t2 := t1 + D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A := t2</a:t>
            </a:r>
            <a:endParaRPr/>
          </a:p>
        </p:txBody>
      </p:sp>
      <p:cxnSp>
        <p:nvCxnSpPr>
          <p:cNvPr id="251" name="Google Shape;251;p5"/>
          <p:cNvCxnSpPr/>
          <p:nvPr/>
        </p:nvCxnSpPr>
        <p:spPr>
          <a:xfrm>
            <a:off x="571370" y="3749879"/>
            <a:ext cx="266678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</p:cxnSp>
      <p:sp>
        <p:nvSpPr>
          <p:cNvPr id="252" name="Google Shape;252;p5"/>
          <p:cNvSpPr txBox="1"/>
          <p:nvPr/>
        </p:nvSpPr>
        <p:spPr>
          <a:xfrm>
            <a:off x="846300" y="5758775"/>
            <a:ext cx="110799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2"/>
                </a:solidFill>
              </a:rPr>
              <a:t>Key point here: we have a separate return value, not a single operand is being modified</a:t>
            </a:r>
            <a:endParaRPr sz="2800">
              <a:solidFill>
                <a:schemeClr val="lt2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>
                <a:solidFill>
                  <a:schemeClr val="lt2"/>
                </a:solidFill>
              </a:rPr>
              <a:t>Three-address code (TAC)</a:t>
            </a:r>
            <a:r>
              <a:rPr lang="en-US"/>
              <a:t> instructions</a:t>
            </a:r>
            <a:endParaRPr/>
          </a:p>
        </p:txBody>
      </p:sp>
      <p:sp>
        <p:nvSpPr>
          <p:cNvPr id="258" name="Google Shape;258;p6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The following forms are allowed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A := constant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A := B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A := B op C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A := constant op B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A := B op constant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Char char="•"/>
            </a:pPr>
            <a:r>
              <a:rPr lang="en-US"/>
              <a:t>A := constant op constant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7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TAC control flow</a:t>
            </a:r>
            <a:endParaRPr/>
          </a:p>
        </p:txBody>
      </p:sp>
      <p:sp>
        <p:nvSpPr>
          <p:cNvPr id="264" name="Google Shape;264;p7"/>
          <p:cNvSpPr txBox="1"/>
          <p:nvPr>
            <p:ph idx="1" type="body"/>
          </p:nvPr>
        </p:nvSpPr>
        <p:spPr>
          <a:xfrm>
            <a:off x="571500" y="1673402"/>
            <a:ext cx="5288525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int x, y;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while (x &lt; y)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	x = x * 2;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y = x;</a:t>
            </a:r>
            <a:endParaRPr/>
          </a:p>
        </p:txBody>
      </p:sp>
      <p:sp>
        <p:nvSpPr>
          <p:cNvPr id="265" name="Google Shape;265;p7"/>
          <p:cNvSpPr txBox="1"/>
          <p:nvPr>
            <p:ph idx="2" type="body"/>
          </p:nvPr>
        </p:nvSpPr>
        <p:spPr>
          <a:xfrm>
            <a:off x="6289113" y="1673402"/>
            <a:ext cx="5288525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L0: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	t0 := x &gt;= y;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	if t0 goto L1;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	x := x * 2;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	goto L0;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L1: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	y := x;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8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Three-address code example</a:t>
            </a:r>
            <a:endParaRPr/>
          </a:p>
        </p:txBody>
      </p:sp>
      <p:pic>
        <p:nvPicPr>
          <p:cNvPr id="271" name="Google Shape;271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499880"/>
            <a:ext cx="11010900" cy="2921865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8"/>
          <p:cNvSpPr txBox="1"/>
          <p:nvPr/>
        </p:nvSpPr>
        <p:spPr>
          <a:xfrm>
            <a:off x="2369892" y="5618890"/>
            <a:ext cx="7413771" cy="4260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https://en.wikipedia.org/wiki/Three-address_code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Function calls</a:t>
            </a:r>
            <a:endParaRPr/>
          </a:p>
        </p:txBody>
      </p:sp>
      <p:sp>
        <p:nvSpPr>
          <p:cNvPr id="278" name="Google Shape;278;p9"/>
          <p:cNvSpPr txBox="1"/>
          <p:nvPr>
            <p:ph idx="1" type="body"/>
          </p:nvPr>
        </p:nvSpPr>
        <p:spPr>
          <a:xfrm>
            <a:off x="571500" y="1673402"/>
            <a:ext cx="5524500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void bar(int A, int B)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  …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void foo() {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bar(10, 42);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}</a:t>
            </a:r>
            <a:endParaRPr/>
          </a:p>
        </p:txBody>
      </p:sp>
      <p:sp>
        <p:nvSpPr>
          <p:cNvPr id="279" name="Google Shape;279;p9"/>
          <p:cNvSpPr txBox="1"/>
          <p:nvPr>
            <p:ph idx="2" type="body"/>
          </p:nvPr>
        </p:nvSpPr>
        <p:spPr>
          <a:xfrm>
            <a:off x="6493425" y="963023"/>
            <a:ext cx="5288400" cy="55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bar: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	B = pop;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	A = pop;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  …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foo: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	push 10;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	push 42;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	goto bar;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	…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Single static assignment</a:t>
            </a:r>
            <a:endParaRPr/>
          </a:p>
        </p:txBody>
      </p:sp>
      <p:sp>
        <p:nvSpPr>
          <p:cNvPr id="285" name="Google Shape;285;p10"/>
          <p:cNvSpPr txBox="1"/>
          <p:nvPr>
            <p:ph idx="1" type="body"/>
          </p:nvPr>
        </p:nvSpPr>
        <p:spPr>
          <a:xfrm>
            <a:off x="571370" y="1673455"/>
            <a:ext cx="11010900" cy="15982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SSA is a property of intermediate representation, which requires that each variable to be assigned exactly once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Benefits</a:t>
            </a:r>
            <a:endParaRPr/>
          </a:p>
        </p:txBody>
      </p:sp>
      <p:pic>
        <p:nvPicPr>
          <p:cNvPr id="286" name="Google Shape;28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9471" y="3572005"/>
            <a:ext cx="1228896" cy="1228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6115" y="3586294"/>
            <a:ext cx="1371791" cy="1200318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0"/>
          <p:cNvSpPr txBox="1"/>
          <p:nvPr/>
        </p:nvSpPr>
        <p:spPr>
          <a:xfrm>
            <a:off x="1878010" y="5266552"/>
            <a:ext cx="85734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https://en.wikipedia.org/wiki/Static_single_assignment_form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1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Converting to SSA</a:t>
            </a:r>
            <a:endParaRPr/>
          </a:p>
        </p:txBody>
      </p:sp>
      <p:sp>
        <p:nvSpPr>
          <p:cNvPr id="294" name="Google Shape;294;p11"/>
          <p:cNvSpPr txBox="1"/>
          <p:nvPr>
            <p:ph idx="1" type="body"/>
          </p:nvPr>
        </p:nvSpPr>
        <p:spPr>
          <a:xfrm>
            <a:off x="571500" y="1673402"/>
            <a:ext cx="5288400" cy="45849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3810" r="0" t="-239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 </a:t>
            </a:r>
            <a:endParaRPr/>
          </a:p>
        </p:txBody>
      </p:sp>
      <p:pic>
        <p:nvPicPr>
          <p:cNvPr id="295" name="Google Shape;295;p11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04976" y="1673225"/>
            <a:ext cx="3257361" cy="458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2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Computing minimal SSA</a:t>
            </a:r>
            <a:endParaRPr/>
          </a:p>
        </p:txBody>
      </p:sp>
      <p:sp>
        <p:nvSpPr>
          <p:cNvPr id="301" name="Google Shape;301;p12"/>
          <p:cNvSpPr txBox="1"/>
          <p:nvPr>
            <p:ph idx="1" type="body"/>
          </p:nvPr>
        </p:nvSpPr>
        <p:spPr>
          <a:xfrm>
            <a:off x="571370" y="1673454"/>
            <a:ext cx="11010900" cy="3930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Dominance frontier: a node B is in the dominance frontier of a node A if A does not strictly dominate B, but does dominate some immediate predecessor of B, or if node A is an immediate predecessor of B.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If the node A defines a certain variable, then that definition will reach every node A dominates. When we leave those nodes and enter a dominance frontier, we must account for other flows.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26a0424328b_0_19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Def-use analysis</a:t>
            </a:r>
            <a:endParaRPr/>
          </a:p>
        </p:txBody>
      </p:sp>
      <p:sp>
        <p:nvSpPr>
          <p:cNvPr id="307" name="Google Shape;307;g26a0424328b_0_19"/>
          <p:cNvSpPr txBox="1"/>
          <p:nvPr>
            <p:ph idx="1" type="body"/>
          </p:nvPr>
        </p:nvSpPr>
        <p:spPr>
          <a:xfrm>
            <a:off x="571375" y="1673449"/>
            <a:ext cx="11010900" cy="51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Def-use analysis is a technique used in compilers to determine the points in the program where variables are defined (def) and used (use)</a:t>
            </a:r>
            <a:r>
              <a:rPr lang="en-US"/>
              <a:t>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Definition (Def): A point in the program where a variable is assigned a value</a:t>
            </a:r>
            <a:r>
              <a:rPr lang="en-US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Use (Use): A point in the program where the value of a variable is read</a:t>
            </a:r>
            <a:r>
              <a:rPr lang="en-US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This analysis helps in: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Identifying dead code (code that is defined but never used).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Optimizing away redundant computations</a:t>
            </a:r>
            <a:r>
              <a:rPr lang="en-US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Facilitating more complex analyses like reaching definitions, live variable analysis, and more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26a0424328b_0_5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Intermediate representations (IRs)</a:t>
            </a:r>
            <a:endParaRPr/>
          </a:p>
        </p:txBody>
      </p:sp>
      <p:sp>
        <p:nvSpPr>
          <p:cNvPr id="313" name="Google Shape;313;g26a0424328b_0_5"/>
          <p:cNvSpPr txBox="1"/>
          <p:nvPr>
            <p:ph idx="1" type="body"/>
          </p:nvPr>
        </p:nvSpPr>
        <p:spPr>
          <a:xfrm>
            <a:off x="571375" y="1673449"/>
            <a:ext cx="11010900" cy="51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LLVM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MLIR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LLVM IR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(g)MIR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GCC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GENERIC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GIMPLE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RTL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6a0424328b_0_1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Intermediate representations of LLVM infrastructure</a:t>
            </a:r>
            <a:endParaRPr/>
          </a:p>
        </p:txBody>
      </p:sp>
      <p:sp>
        <p:nvSpPr>
          <p:cNvPr id="319" name="Google Shape;319;g26a0424328b_0_10"/>
          <p:cNvSpPr txBox="1"/>
          <p:nvPr>
            <p:ph idx="1" type="body"/>
          </p:nvPr>
        </p:nvSpPr>
        <p:spPr>
          <a:xfrm>
            <a:off x="571375" y="1673449"/>
            <a:ext cx="11010900" cy="51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MLIR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b="1" lang="en-US"/>
              <a:t>LLVM IR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(g)MIR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Other IRs will be covered later as a part of this course as well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3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LLVM IR</a:t>
            </a:r>
            <a:endParaRPr/>
          </a:p>
        </p:txBody>
      </p:sp>
      <p:sp>
        <p:nvSpPr>
          <p:cNvPr id="325" name="Google Shape;325;p13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SSA, infinite registers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Functions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Metadata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Textual and binary representation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Full reference: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https://llvm.org/docs/LangRef.html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4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331" name="Google Shape;331;p14"/>
          <p:cNvPicPr preferRelativeResize="0"/>
          <p:nvPr/>
        </p:nvPicPr>
        <p:blipFill rotWithShape="1">
          <a:blip r:embed="rId3">
            <a:alphaModFix/>
          </a:blip>
          <a:srcRect b="13763" l="1221" r="1075" t="4067"/>
          <a:stretch/>
        </p:blipFill>
        <p:spPr>
          <a:xfrm>
            <a:off x="0" y="286050"/>
            <a:ext cx="12192000" cy="5783751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4"/>
          <p:cNvSpPr txBox="1"/>
          <p:nvPr/>
        </p:nvSpPr>
        <p:spPr>
          <a:xfrm>
            <a:off x="483275" y="6188400"/>
            <a:ext cx="11187000" cy="4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https://llvm.org/devmtg/2019-04/slides/Tutorial-Bridgers-LLVM_IR_tutorial.pdf</a:t>
            </a: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5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LLVM IR Example</a:t>
            </a:r>
            <a:endParaRPr/>
          </a:p>
        </p:txBody>
      </p:sp>
      <p:pic>
        <p:nvPicPr>
          <p:cNvPr id="338" name="Google Shape;3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944" y="1540127"/>
            <a:ext cx="3658111" cy="17052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3490" y="1"/>
            <a:ext cx="6989566" cy="64500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0" name="Google Shape;340;p15"/>
          <p:cNvGrpSpPr/>
          <p:nvPr/>
        </p:nvGrpSpPr>
        <p:grpSpPr>
          <a:xfrm>
            <a:off x="67275" y="6313238"/>
            <a:ext cx="5188500" cy="445275"/>
            <a:chOff x="289925" y="5611838"/>
            <a:chExt cx="5188500" cy="445275"/>
          </a:xfrm>
        </p:grpSpPr>
        <p:sp>
          <p:nvSpPr>
            <p:cNvPr id="341" name="Google Shape;341;p15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342" name="Google Shape;342;p1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3" name="Google Shape;343;p15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accent1"/>
                  </a:solidFill>
                  <a:hlinkClick r:id="rId6">
                    <a:extLst>
                      <a:ext uri="{A12FA001-AC4F-418D-AE19-62706E023703}">
                        <ahyp:hlinkClr val="tx"/>
                      </a:ext>
                    </a:extLst>
                  </a:hlinkClick>
                </a:rPr>
                <a:t>https://godbolt.org/z/sqo4aG7Gd</a:t>
              </a:r>
              <a:r>
                <a:rPr lang="en-US" sz="2400">
                  <a:solidFill>
                    <a:schemeClr val="dk1"/>
                  </a:solidFill>
                </a:rPr>
                <a:t> </a:t>
              </a:r>
              <a:endParaRPr sz="2400"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6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Global variables</a:t>
            </a:r>
            <a:endParaRPr/>
          </a:p>
        </p:txBody>
      </p:sp>
      <p:pic>
        <p:nvPicPr>
          <p:cNvPr id="349" name="Google Shape;3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6176" y="495362"/>
            <a:ext cx="2355158" cy="546734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4464" y="1047749"/>
            <a:ext cx="9850555" cy="53599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51" name="Google Shape;351;p16"/>
          <p:cNvGrpSpPr/>
          <p:nvPr/>
        </p:nvGrpSpPr>
        <p:grpSpPr>
          <a:xfrm>
            <a:off x="0" y="6407713"/>
            <a:ext cx="5188500" cy="445275"/>
            <a:chOff x="289925" y="5611838"/>
            <a:chExt cx="5188500" cy="445275"/>
          </a:xfrm>
        </p:grpSpPr>
        <p:sp>
          <p:nvSpPr>
            <p:cNvPr id="352" name="Google Shape;352;p16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353" name="Google Shape;353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4" name="Google Shape;354;p16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6"/>
                </a:rPr>
                <a:t>https://godbolt.org/z/4hebzfe6s</a:t>
              </a:r>
              <a:r>
                <a:rPr lang="en-US" sz="2400"/>
                <a:t> </a:t>
              </a:r>
              <a:endParaRPr sz="2400"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7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Structures</a:t>
            </a:r>
            <a:endParaRPr/>
          </a:p>
        </p:txBody>
      </p:sp>
      <p:pic>
        <p:nvPicPr>
          <p:cNvPr id="360" name="Google Shape;3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55126" y="3495141"/>
            <a:ext cx="9136874" cy="2437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88" y="1217867"/>
            <a:ext cx="2437636" cy="2437636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17"/>
          <p:cNvSpPr/>
          <p:nvPr/>
        </p:nvSpPr>
        <p:spPr>
          <a:xfrm>
            <a:off x="1551963" y="1635853"/>
            <a:ext cx="3959604" cy="1963024"/>
          </a:xfrm>
          <a:custGeom>
            <a:rect b="b" l="l" r="r" t="t"/>
            <a:pathLst>
              <a:path extrusionOk="0" h="1963024" w="3959604">
                <a:moveTo>
                  <a:pt x="0" y="0"/>
                </a:moveTo>
                <a:cubicBezTo>
                  <a:pt x="932576" y="0"/>
                  <a:pt x="1865153" y="0"/>
                  <a:pt x="2525087" y="327171"/>
                </a:cubicBezTo>
                <a:cubicBezTo>
                  <a:pt x="3185021" y="654342"/>
                  <a:pt x="3959604" y="1963024"/>
                  <a:pt x="3959604" y="1963024"/>
                </a:cubicBezTo>
                <a:lnTo>
                  <a:pt x="3959604" y="1963024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7"/>
          <p:cNvSpPr/>
          <p:nvPr/>
        </p:nvSpPr>
        <p:spPr>
          <a:xfrm>
            <a:off x="1795244" y="1832193"/>
            <a:ext cx="4412609" cy="1733128"/>
          </a:xfrm>
          <a:custGeom>
            <a:rect b="b" l="l" r="r" t="t"/>
            <a:pathLst>
              <a:path extrusionOk="0" h="1733128" w="4412609">
                <a:moveTo>
                  <a:pt x="0" y="21774"/>
                </a:moveTo>
                <a:cubicBezTo>
                  <a:pt x="1259746" y="-11782"/>
                  <a:pt x="2519493" y="-45338"/>
                  <a:pt x="3254928" y="239888"/>
                </a:cubicBezTo>
                <a:cubicBezTo>
                  <a:pt x="3990363" y="525114"/>
                  <a:pt x="4412609" y="1733128"/>
                  <a:pt x="4412609" y="1733128"/>
                </a:cubicBezTo>
                <a:lnTo>
                  <a:pt x="4412609" y="1733128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7"/>
          <p:cNvSpPr/>
          <p:nvPr/>
        </p:nvSpPr>
        <p:spPr>
          <a:xfrm>
            <a:off x="1879134" y="2122415"/>
            <a:ext cx="5100506" cy="1468073"/>
          </a:xfrm>
          <a:custGeom>
            <a:rect b="b" l="l" r="r" t="t"/>
            <a:pathLst>
              <a:path extrusionOk="0" h="1468073" w="5100506">
                <a:moveTo>
                  <a:pt x="0" y="0"/>
                </a:moveTo>
                <a:cubicBezTo>
                  <a:pt x="1290506" y="78996"/>
                  <a:pt x="2581013" y="157992"/>
                  <a:pt x="3431097" y="402671"/>
                </a:cubicBezTo>
                <a:cubicBezTo>
                  <a:pt x="4281181" y="647350"/>
                  <a:pt x="5100506" y="1468073"/>
                  <a:pt x="5100506" y="1468073"/>
                </a:cubicBezTo>
                <a:lnTo>
                  <a:pt x="5100506" y="1468073"/>
                </a:lnTo>
              </a:path>
            </a:pathLst>
          </a:custGeom>
          <a:noFill/>
          <a:ln cap="flat" cmpd="sng" w="38100">
            <a:solidFill>
              <a:srgbClr val="FF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5" name="Google Shape;365;p17"/>
          <p:cNvCxnSpPr/>
          <p:nvPr/>
        </p:nvCxnSpPr>
        <p:spPr>
          <a:xfrm>
            <a:off x="1551963" y="3229761"/>
            <a:ext cx="1744910" cy="1853967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grpSp>
        <p:nvGrpSpPr>
          <p:cNvPr id="366" name="Google Shape;366;p17"/>
          <p:cNvGrpSpPr/>
          <p:nvPr/>
        </p:nvGrpSpPr>
        <p:grpSpPr>
          <a:xfrm>
            <a:off x="67275" y="6313238"/>
            <a:ext cx="5188500" cy="445275"/>
            <a:chOff x="289925" y="5611838"/>
            <a:chExt cx="5188500" cy="445275"/>
          </a:xfrm>
        </p:grpSpPr>
        <p:sp>
          <p:nvSpPr>
            <p:cNvPr id="367" name="Google Shape;367;p17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368" name="Google Shape;368;p1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17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6"/>
                </a:rPr>
                <a:t>https://godbolt.org/z/898E47xGf</a:t>
              </a:r>
              <a:r>
                <a:rPr lang="en-US" sz="2400"/>
                <a:t> </a:t>
              </a:r>
              <a:endParaRPr sz="2400"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8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Nested structures</a:t>
            </a:r>
            <a:endParaRPr/>
          </a:p>
        </p:txBody>
      </p:sp>
      <p:pic>
        <p:nvPicPr>
          <p:cNvPr id="375" name="Google Shape;375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370" y="2198441"/>
            <a:ext cx="2781688" cy="352474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17419" y="3313021"/>
            <a:ext cx="7779777" cy="73886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7" name="Google Shape;377;p18"/>
          <p:cNvCxnSpPr/>
          <p:nvPr/>
        </p:nvCxnSpPr>
        <p:spPr>
          <a:xfrm flipH="1" rot="10800000">
            <a:off x="2969703" y="3800213"/>
            <a:ext cx="7373923" cy="1409350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grpSp>
        <p:nvGrpSpPr>
          <p:cNvPr id="378" name="Google Shape;378;p18"/>
          <p:cNvGrpSpPr/>
          <p:nvPr/>
        </p:nvGrpSpPr>
        <p:grpSpPr>
          <a:xfrm>
            <a:off x="67275" y="6313238"/>
            <a:ext cx="5188500" cy="445275"/>
            <a:chOff x="289925" y="5611838"/>
            <a:chExt cx="5188500" cy="445275"/>
          </a:xfrm>
        </p:grpSpPr>
        <p:sp>
          <p:nvSpPr>
            <p:cNvPr id="379" name="Google Shape;379;p18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380" name="Google Shape;380;p1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1" name="Google Shape;381;p18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6"/>
                </a:rPr>
                <a:t>https://godbolt.org/z/jxcvxM57f</a:t>
              </a:r>
              <a:r>
                <a:rPr lang="en-US" sz="2400"/>
                <a:t> </a:t>
              </a:r>
              <a:endParaRPr sz="2400"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9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Functions</a:t>
            </a:r>
            <a:endParaRPr/>
          </a:p>
        </p:txBody>
      </p:sp>
      <p:pic>
        <p:nvPicPr>
          <p:cNvPr id="387" name="Google Shape;387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48761" y="2143626"/>
            <a:ext cx="7249537" cy="3248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3702" y="2886679"/>
            <a:ext cx="3572374" cy="17623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89" name="Google Shape;389;p19"/>
          <p:cNvGrpSpPr/>
          <p:nvPr/>
        </p:nvGrpSpPr>
        <p:grpSpPr>
          <a:xfrm>
            <a:off x="67275" y="6313238"/>
            <a:ext cx="5188500" cy="445275"/>
            <a:chOff x="289925" y="5611838"/>
            <a:chExt cx="5188500" cy="445275"/>
          </a:xfrm>
        </p:grpSpPr>
        <p:sp>
          <p:nvSpPr>
            <p:cNvPr id="390" name="Google Shape;390;p19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391" name="Google Shape;391;p1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19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6"/>
                </a:rPr>
                <a:t>https://godbolt.org/z/jxcvxM57f</a:t>
              </a:r>
              <a:r>
                <a:rPr lang="en-US" sz="2400"/>
                <a:t> </a:t>
              </a:r>
              <a:endParaRPr sz="2400"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0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Branches</a:t>
            </a:r>
            <a:endParaRPr/>
          </a:p>
        </p:txBody>
      </p:sp>
      <p:pic>
        <p:nvPicPr>
          <p:cNvPr id="398" name="Google Shape;398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4450" y="0"/>
            <a:ext cx="5380296" cy="68639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814" y="1523999"/>
            <a:ext cx="4182059" cy="23815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0" name="Google Shape;400;p20"/>
          <p:cNvCxnSpPr/>
          <p:nvPr/>
        </p:nvCxnSpPr>
        <p:spPr>
          <a:xfrm>
            <a:off x="3229761" y="2164360"/>
            <a:ext cx="3078760" cy="805343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grpSp>
        <p:nvGrpSpPr>
          <p:cNvPr id="401" name="Google Shape;401;p20"/>
          <p:cNvGrpSpPr/>
          <p:nvPr/>
        </p:nvGrpSpPr>
        <p:grpSpPr>
          <a:xfrm>
            <a:off x="67275" y="6313238"/>
            <a:ext cx="5188500" cy="445275"/>
            <a:chOff x="289925" y="5611838"/>
            <a:chExt cx="5188500" cy="445275"/>
          </a:xfrm>
        </p:grpSpPr>
        <p:sp>
          <p:nvSpPr>
            <p:cNvPr id="402" name="Google Shape;402;p20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403" name="Google Shape;403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20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6"/>
                </a:rPr>
                <a:t>https://godbolt.org/z/GbqhabvM8</a:t>
              </a:r>
              <a:r>
                <a:rPr lang="en-US" sz="2400"/>
                <a:t> </a:t>
              </a:r>
              <a:endParaRPr sz="2400"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3ce395d76b_0_19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Basic blocks</a:t>
            </a:r>
            <a:endParaRPr/>
          </a:p>
        </p:txBody>
      </p:sp>
      <p:sp>
        <p:nvSpPr>
          <p:cNvPr id="410" name="Google Shape;410;g33ce395d76b_0_19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A basic block is a sequence of consecutive statements in a program.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Execution in a basic block flows linearly (no jumps, branches, or labels except at the start and the end).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B</a:t>
            </a:r>
            <a:r>
              <a:rPr lang="en-US"/>
              <a:t>asic block h</a:t>
            </a:r>
            <a:r>
              <a:rPr lang="en-US"/>
              <a:t>as a single entry and a single exit.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1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Basic blocks</a:t>
            </a:r>
            <a:endParaRPr/>
          </a:p>
        </p:txBody>
      </p:sp>
      <p:pic>
        <p:nvPicPr>
          <p:cNvPr id="416" name="Google Shape;416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34450" y="0"/>
            <a:ext cx="5380296" cy="68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21"/>
          <p:cNvSpPr/>
          <p:nvPr/>
        </p:nvSpPr>
        <p:spPr>
          <a:xfrm>
            <a:off x="5083728" y="486561"/>
            <a:ext cx="629175" cy="2575421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1"/>
          <p:cNvSpPr/>
          <p:nvPr/>
        </p:nvSpPr>
        <p:spPr>
          <a:xfrm>
            <a:off x="5120701" y="3365734"/>
            <a:ext cx="629175" cy="1130766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21"/>
          <p:cNvSpPr/>
          <p:nvPr/>
        </p:nvSpPr>
        <p:spPr>
          <a:xfrm>
            <a:off x="5120701" y="4648900"/>
            <a:ext cx="629175" cy="871056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21"/>
          <p:cNvSpPr/>
          <p:nvPr/>
        </p:nvSpPr>
        <p:spPr>
          <a:xfrm>
            <a:off x="5085203" y="5756414"/>
            <a:ext cx="629175" cy="719887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571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1"/>
          <p:cNvSpPr txBox="1"/>
          <p:nvPr/>
        </p:nvSpPr>
        <p:spPr>
          <a:xfrm>
            <a:off x="1392572" y="2600804"/>
            <a:ext cx="19378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Basic blocks</a:t>
            </a:r>
            <a:endParaRPr/>
          </a:p>
        </p:txBody>
      </p:sp>
      <p:sp>
        <p:nvSpPr>
          <p:cNvPr id="422" name="Google Shape;422;p21"/>
          <p:cNvSpPr txBox="1"/>
          <p:nvPr/>
        </p:nvSpPr>
        <p:spPr>
          <a:xfrm>
            <a:off x="1177254" y="3830812"/>
            <a:ext cx="193785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Terminators</a:t>
            </a:r>
            <a:endParaRPr/>
          </a:p>
        </p:txBody>
      </p:sp>
      <p:cxnSp>
        <p:nvCxnSpPr>
          <p:cNvPr id="423" name="Google Shape;423;p21"/>
          <p:cNvCxnSpPr>
            <a:stCxn id="421" idx="3"/>
            <a:endCxn id="417" idx="1"/>
          </p:cNvCxnSpPr>
          <p:nvPr/>
        </p:nvCxnSpPr>
        <p:spPr>
          <a:xfrm flipH="1" rot="10800000">
            <a:off x="3330429" y="1774170"/>
            <a:ext cx="1753200" cy="10113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424" name="Google Shape;424;p21"/>
          <p:cNvCxnSpPr>
            <a:stCxn id="421" idx="3"/>
            <a:endCxn id="418" idx="1"/>
          </p:cNvCxnSpPr>
          <p:nvPr/>
        </p:nvCxnSpPr>
        <p:spPr>
          <a:xfrm>
            <a:off x="3330429" y="2785470"/>
            <a:ext cx="1790400" cy="11457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425" name="Google Shape;425;p21"/>
          <p:cNvCxnSpPr>
            <a:stCxn id="421" idx="3"/>
            <a:endCxn id="419" idx="1"/>
          </p:cNvCxnSpPr>
          <p:nvPr/>
        </p:nvCxnSpPr>
        <p:spPr>
          <a:xfrm>
            <a:off x="3330429" y="2785470"/>
            <a:ext cx="1790400" cy="22989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426" name="Google Shape;426;p21"/>
          <p:cNvCxnSpPr>
            <a:stCxn id="421" idx="3"/>
            <a:endCxn id="420" idx="1"/>
          </p:cNvCxnSpPr>
          <p:nvPr/>
        </p:nvCxnSpPr>
        <p:spPr>
          <a:xfrm>
            <a:off x="3330429" y="2785470"/>
            <a:ext cx="1754700" cy="33309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427" name="Google Shape;427;p21"/>
          <p:cNvCxnSpPr>
            <a:stCxn id="422" idx="3"/>
          </p:cNvCxnSpPr>
          <p:nvPr/>
        </p:nvCxnSpPr>
        <p:spPr>
          <a:xfrm flipH="1" rot="10800000">
            <a:off x="3115111" y="3028478"/>
            <a:ext cx="3218700" cy="987000"/>
          </a:xfrm>
          <a:prstGeom prst="straightConnector1">
            <a:avLst/>
          </a:prstGeom>
          <a:noFill/>
          <a:ln cap="flat" cmpd="sng" w="38100">
            <a:solidFill>
              <a:srgbClr val="00C5F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8" name="Google Shape;428;p21"/>
          <p:cNvCxnSpPr>
            <a:stCxn id="422" idx="3"/>
          </p:cNvCxnSpPr>
          <p:nvPr/>
        </p:nvCxnSpPr>
        <p:spPr>
          <a:xfrm>
            <a:off x="3115111" y="4015478"/>
            <a:ext cx="3218700" cy="184800"/>
          </a:xfrm>
          <a:prstGeom prst="straightConnector1">
            <a:avLst/>
          </a:prstGeom>
          <a:noFill/>
          <a:ln cap="flat" cmpd="sng" w="38100">
            <a:solidFill>
              <a:srgbClr val="00C5F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29" name="Google Shape;429;p21"/>
          <p:cNvCxnSpPr>
            <a:stCxn id="422" idx="3"/>
          </p:cNvCxnSpPr>
          <p:nvPr/>
        </p:nvCxnSpPr>
        <p:spPr>
          <a:xfrm>
            <a:off x="3115111" y="4015478"/>
            <a:ext cx="3151500" cy="1372800"/>
          </a:xfrm>
          <a:prstGeom prst="straightConnector1">
            <a:avLst/>
          </a:prstGeom>
          <a:noFill/>
          <a:ln cap="flat" cmpd="sng" w="38100">
            <a:solidFill>
              <a:srgbClr val="00C5FD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30" name="Google Shape;430;p21"/>
          <p:cNvCxnSpPr>
            <a:stCxn id="422" idx="3"/>
          </p:cNvCxnSpPr>
          <p:nvPr/>
        </p:nvCxnSpPr>
        <p:spPr>
          <a:xfrm>
            <a:off x="3115111" y="4015478"/>
            <a:ext cx="3151500" cy="2404500"/>
          </a:xfrm>
          <a:prstGeom prst="straightConnector1">
            <a:avLst/>
          </a:prstGeom>
          <a:noFill/>
          <a:ln cap="flat" cmpd="sng" w="38100">
            <a:solidFill>
              <a:srgbClr val="00C5FD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22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Loops</a:t>
            </a:r>
            <a:endParaRPr/>
          </a:p>
        </p:txBody>
      </p:sp>
      <p:pic>
        <p:nvPicPr>
          <p:cNvPr id="436" name="Google Shape;436;p2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0634" y="6641"/>
            <a:ext cx="3838042" cy="684471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1119" y="2420118"/>
            <a:ext cx="4535647" cy="1658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23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Loops. Control flow graph (CFG)</a:t>
            </a:r>
            <a:endParaRPr/>
          </a:p>
        </p:txBody>
      </p:sp>
      <p:pic>
        <p:nvPicPr>
          <p:cNvPr id="443" name="Google Shape;443;p2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81738" y="1181150"/>
            <a:ext cx="4254900" cy="5665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5569" y="2599743"/>
            <a:ext cx="4535647" cy="1658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23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327177" y="917698"/>
            <a:ext cx="2816100" cy="5022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46" name="Google Shape;446;p23"/>
          <p:cNvCxnSpPr/>
          <p:nvPr/>
        </p:nvCxnSpPr>
        <p:spPr>
          <a:xfrm>
            <a:off x="9182900" y="1099225"/>
            <a:ext cx="1947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7" name="Google Shape;447;p23"/>
          <p:cNvCxnSpPr/>
          <p:nvPr/>
        </p:nvCxnSpPr>
        <p:spPr>
          <a:xfrm>
            <a:off x="9182900" y="2545400"/>
            <a:ext cx="1947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8" name="Google Shape;448;p23"/>
          <p:cNvCxnSpPr/>
          <p:nvPr/>
        </p:nvCxnSpPr>
        <p:spPr>
          <a:xfrm>
            <a:off x="9182900" y="3339825"/>
            <a:ext cx="1947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49" name="Google Shape;449;p23"/>
          <p:cNvCxnSpPr/>
          <p:nvPr/>
        </p:nvCxnSpPr>
        <p:spPr>
          <a:xfrm>
            <a:off x="9182900" y="4786000"/>
            <a:ext cx="1947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50" name="Google Shape;450;p23"/>
          <p:cNvCxnSpPr/>
          <p:nvPr/>
        </p:nvCxnSpPr>
        <p:spPr>
          <a:xfrm>
            <a:off x="9182900" y="5580425"/>
            <a:ext cx="194700" cy="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4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Single assignment</a:t>
            </a:r>
            <a:endParaRPr/>
          </a:p>
        </p:txBody>
      </p:sp>
      <p:pic>
        <p:nvPicPr>
          <p:cNvPr id="456" name="Google Shape;456;p2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43129" y="1566602"/>
            <a:ext cx="3705742" cy="372479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7" name="Google Shape;457;p24"/>
          <p:cNvGrpSpPr/>
          <p:nvPr/>
        </p:nvGrpSpPr>
        <p:grpSpPr>
          <a:xfrm>
            <a:off x="67275" y="6313238"/>
            <a:ext cx="5188500" cy="445275"/>
            <a:chOff x="289925" y="5611838"/>
            <a:chExt cx="5188500" cy="445275"/>
          </a:xfrm>
        </p:grpSpPr>
        <p:sp>
          <p:nvSpPr>
            <p:cNvPr id="458" name="Google Shape;458;p24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459" name="Google Shape;459;p2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0" name="Google Shape;460;p24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5"/>
                </a:rPr>
                <a:t>https://godbolt.org/z/x6bf1fxxv</a:t>
              </a:r>
              <a:r>
                <a:rPr lang="en-US" sz="2400"/>
                <a:t> </a:t>
              </a:r>
              <a:endParaRPr sz="2400"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25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Memory SSA</a:t>
            </a:r>
            <a:endParaRPr/>
          </a:p>
        </p:txBody>
      </p:sp>
      <p:pic>
        <p:nvPicPr>
          <p:cNvPr id="466" name="Google Shape;466;p2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4650" y="1566602"/>
            <a:ext cx="3705742" cy="3724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63671" y="18175"/>
            <a:ext cx="5744377" cy="62683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68" name="Google Shape;468;p25"/>
          <p:cNvCxnSpPr/>
          <p:nvPr/>
        </p:nvCxnSpPr>
        <p:spPr>
          <a:xfrm flipH="1" rot="10800000">
            <a:off x="3674378" y="461394"/>
            <a:ext cx="1946246" cy="2189527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469" name="Google Shape;469;p25"/>
          <p:cNvCxnSpPr/>
          <p:nvPr/>
        </p:nvCxnSpPr>
        <p:spPr>
          <a:xfrm flipH="1" rot="10800000">
            <a:off x="4490548" y="2876395"/>
            <a:ext cx="1130076" cy="497553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470" name="Google Shape;470;p25"/>
          <p:cNvCxnSpPr/>
          <p:nvPr/>
        </p:nvCxnSpPr>
        <p:spPr>
          <a:xfrm>
            <a:off x="4870392" y="4041604"/>
            <a:ext cx="825733" cy="454693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471" name="Google Shape;471;p25"/>
          <p:cNvCxnSpPr/>
          <p:nvPr/>
        </p:nvCxnSpPr>
        <p:spPr>
          <a:xfrm>
            <a:off x="3818862" y="4734892"/>
            <a:ext cx="1801762" cy="890333"/>
          </a:xfrm>
          <a:prstGeom prst="straightConnector1">
            <a:avLst/>
          </a:prstGeom>
          <a:noFill/>
          <a:ln cap="flat" cmpd="sng" w="57150">
            <a:solidFill>
              <a:srgbClr val="FF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grpSp>
        <p:nvGrpSpPr>
          <p:cNvPr id="472" name="Google Shape;472;p25"/>
          <p:cNvGrpSpPr/>
          <p:nvPr/>
        </p:nvGrpSpPr>
        <p:grpSpPr>
          <a:xfrm>
            <a:off x="67275" y="6313238"/>
            <a:ext cx="5188500" cy="445275"/>
            <a:chOff x="289925" y="5611838"/>
            <a:chExt cx="5188500" cy="445275"/>
          </a:xfrm>
        </p:grpSpPr>
        <p:sp>
          <p:nvSpPr>
            <p:cNvPr id="473" name="Google Shape;473;p25"/>
            <p:cNvSpPr/>
            <p:nvPr/>
          </p:nvSpPr>
          <p:spPr>
            <a:xfrm>
              <a:off x="289925" y="5611850"/>
              <a:ext cx="51885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</a:endParaRPr>
            </a:p>
          </p:txBody>
        </p:sp>
        <p:pic>
          <p:nvPicPr>
            <p:cNvPr id="474" name="Google Shape;474;p2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89925" y="5611838"/>
              <a:ext cx="445275" cy="4452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25"/>
            <p:cNvSpPr/>
            <p:nvPr/>
          </p:nvSpPr>
          <p:spPr>
            <a:xfrm>
              <a:off x="777375" y="5611850"/>
              <a:ext cx="4701000" cy="445200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/>
                <a:buNone/>
              </a:pPr>
              <a:r>
                <a:rPr lang="en-US" sz="2400" u="sng">
                  <a:solidFill>
                    <a:schemeClr val="hlink"/>
                  </a:solidFill>
                  <a:hlinkClick r:id="rId6"/>
                </a:rPr>
                <a:t>https://godbolt.org/z/x6bf1fxxv</a:t>
              </a:r>
              <a:r>
                <a:rPr lang="en-US" sz="2400"/>
                <a:t> </a:t>
              </a:r>
              <a:endParaRPr sz="2400"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26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81" name="Google Shape;481;p26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508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482" name="Google Shape;48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677"/>
            <a:ext cx="12192000" cy="6852646"/>
          </a:xfrm>
          <a:prstGeom prst="rect">
            <a:avLst/>
          </a:prstGeom>
          <a:noFill/>
          <a:ln>
            <a:noFill/>
          </a:ln>
        </p:spPr>
      </p:pic>
      <p:sp>
        <p:nvSpPr>
          <p:cNvPr id="483" name="Google Shape;483;p26"/>
          <p:cNvSpPr/>
          <p:nvPr/>
        </p:nvSpPr>
        <p:spPr>
          <a:xfrm>
            <a:off x="5058375" y="5009750"/>
            <a:ext cx="1566300" cy="428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aka GEP</a:t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484" name="Google Shape;484;p26"/>
          <p:cNvCxnSpPr>
            <a:stCxn id="483" idx="0"/>
          </p:cNvCxnSpPr>
          <p:nvPr/>
        </p:nvCxnSpPr>
        <p:spPr>
          <a:xfrm flipH="1" rot="10800000">
            <a:off x="5841525" y="3258650"/>
            <a:ext cx="685800" cy="175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f347eb07e7_0_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LLVM IR Target Information: triple</a:t>
            </a:r>
            <a:endParaRPr/>
          </a:p>
        </p:txBody>
      </p:sp>
      <p:sp>
        <p:nvSpPr>
          <p:cNvPr id="490" name="Google Shape;490;g3f347eb07e7_0_0"/>
          <p:cNvSpPr txBox="1"/>
          <p:nvPr>
            <p:ph idx="1" type="body"/>
          </p:nvPr>
        </p:nvSpPr>
        <p:spPr>
          <a:xfrm>
            <a:off x="482595" y="127890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Target triple: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Describes the target:</a:t>
            </a:r>
            <a:endParaRPr/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architecture-vendor-operating_system-environment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Example: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x86_64-unknown-linux-gnu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aarch64-apple-darwin</a:t>
            </a:r>
            <a:endParaRPr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riscv64-unknown-linux-gnu</a:t>
            </a:r>
            <a:endParaRPr/>
          </a:p>
        </p:txBody>
      </p:sp>
      <p:pic>
        <p:nvPicPr>
          <p:cNvPr id="491" name="Google Shape;491;g3f347eb07e7_0_0"/>
          <p:cNvPicPr preferRelativeResize="0"/>
          <p:nvPr/>
        </p:nvPicPr>
        <p:blipFill rotWithShape="1">
          <a:blip r:embed="rId3">
            <a:alphaModFix/>
          </a:blip>
          <a:srcRect b="11949" l="1816" r="0" t="0"/>
          <a:stretch/>
        </p:blipFill>
        <p:spPr>
          <a:xfrm>
            <a:off x="8169875" y="128250"/>
            <a:ext cx="4022125" cy="20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g3f347eb07e7_0_0"/>
          <p:cNvSpPr txBox="1"/>
          <p:nvPr/>
        </p:nvSpPr>
        <p:spPr>
          <a:xfrm>
            <a:off x="689725" y="4776225"/>
            <a:ext cx="9363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source_filename = </a:t>
            </a:r>
            <a:r>
              <a:rPr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"example.c"</a:t>
            </a:r>
            <a:endParaRPr>
              <a:solidFill>
                <a:srgbClr val="A315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target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triple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"x86_64-pc-linux-gnu"</a:t>
            </a:r>
            <a:endParaRPr>
              <a:solidFill>
                <a:srgbClr val="A315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target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datalayout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"e-m:e-p270:32:32-p271:32:32-p272:64:64-i64:64-f80:128-n8:16:32:64-S128"</a:t>
            </a:r>
            <a:endParaRPr>
              <a:solidFill>
                <a:srgbClr val="A315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define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@add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%b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entry: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%sum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%b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%sum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493" name="Google Shape;493;g3f347eb07e7_0_0"/>
          <p:cNvGraphicFramePr/>
          <p:nvPr/>
        </p:nvGraphicFramePr>
        <p:xfrm>
          <a:off x="7255600" y="278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{36D9B874-D8F9-4614-A41A-4F30205731BB}</a:tableStyleId>
              </a:tblPr>
              <a:tblGrid>
                <a:gridCol w="1794675"/>
                <a:gridCol w="17946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>
                          <a:solidFill>
                            <a:srgbClr val="188038"/>
                          </a:solidFill>
                        </a:rPr>
                        <a:t>x86_64</a:t>
                      </a:r>
                      <a:endParaRPr>
                        <a:solidFill>
                          <a:srgbClr val="188038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/>
                        <a:t>CPU architecture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>
                          <a:solidFill>
                            <a:srgbClr val="188038"/>
                          </a:solidFill>
                        </a:rPr>
                        <a:t>unknown</a:t>
                      </a:r>
                      <a:endParaRPr>
                        <a:solidFill>
                          <a:srgbClr val="188038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/>
                        <a:t>Hardware vendor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>
                          <a:solidFill>
                            <a:srgbClr val="188038"/>
                          </a:solidFill>
                        </a:rPr>
                        <a:t>linux</a:t>
                      </a:r>
                      <a:endParaRPr>
                        <a:solidFill>
                          <a:srgbClr val="188038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/>
                        <a:t>Operating system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>
                          <a:solidFill>
                            <a:srgbClr val="188038"/>
                          </a:solidFill>
                        </a:rPr>
                        <a:t>gnu</a:t>
                      </a:r>
                      <a:endParaRPr>
                        <a:solidFill>
                          <a:srgbClr val="188038"/>
                        </a:solidFill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/>
                        <a:t>ABI/runtime environment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f453c19afd_0_3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2"/>
                </a:solidFill>
              </a:rPr>
              <a:t>LLVM IR Target Information: datalayout</a:t>
            </a:r>
            <a:endParaRPr/>
          </a:p>
        </p:txBody>
      </p:sp>
      <p:sp>
        <p:nvSpPr>
          <p:cNvPr id="499" name="Google Shape;499;g3f453c19afd_0_3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/>
              <a:t>The target data layout describes how data is represented in memory for the target platform. It specifies properties such as:</a:t>
            </a:r>
            <a:endParaRPr sz="2400"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Char char="▪"/>
            </a:pPr>
            <a:r>
              <a:rPr lang="en-US" sz="2400"/>
              <a:t>Endianness (big or little endian)</a:t>
            </a:r>
            <a:endParaRPr sz="2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-US" sz="2400"/>
              <a:t>Pointer sizes and alignments</a:t>
            </a:r>
            <a:endParaRPr sz="2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-US" sz="2400"/>
              <a:t>Integer, floating-point, and vector alignments</a:t>
            </a:r>
            <a:endParaRPr sz="2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-US" sz="2400"/>
              <a:t>Native integer widths</a:t>
            </a:r>
            <a:endParaRPr sz="2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-US" sz="2400"/>
              <a:t>Stack alignment</a:t>
            </a:r>
            <a:endParaRPr sz="2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▪"/>
            </a:pPr>
            <a:r>
              <a:rPr lang="en-US" sz="2400"/>
              <a:t>Object-file mangling convention</a:t>
            </a:r>
            <a:endParaRPr sz="2400"/>
          </a:p>
        </p:txBody>
      </p:sp>
      <p:sp>
        <p:nvSpPr>
          <p:cNvPr id="500" name="Google Shape;500;g3f453c19afd_0_3"/>
          <p:cNvSpPr txBox="1"/>
          <p:nvPr/>
        </p:nvSpPr>
        <p:spPr>
          <a:xfrm>
            <a:off x="8108275" y="22489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/>
              <a:t>e-m:e-i64:64-n8:16:32:64-S128</a:t>
            </a:r>
            <a:endParaRPr/>
          </a:p>
        </p:txBody>
      </p:sp>
      <p:graphicFrame>
        <p:nvGraphicFramePr>
          <p:cNvPr id="501" name="Google Shape;501;g3f453c19afd_0_3"/>
          <p:cNvGraphicFramePr/>
          <p:nvPr/>
        </p:nvGraphicFramePr>
        <p:xfrm>
          <a:off x="7147100" y="27070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{36D9B874-D8F9-4614-A41A-4F30205731BB}</a:tableStyleId>
              </a:tblPr>
              <a:tblGrid>
                <a:gridCol w="1247225"/>
                <a:gridCol w="3604675"/>
              </a:tblGrid>
              <a:tr h="1012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/>
                        <a:t>Little-endian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E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/>
                        <a:t>Big-endian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m:e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/>
                        <a:t>ELF symbol mangling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i64:64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i64</a:t>
                      </a:r>
                      <a:r>
                        <a:rPr lang="en-US" sz="1100"/>
                        <a:t> has 64-bit ABI alignment</a:t>
                      </a:r>
                      <a:endParaRPr sz="1100"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n8:16:32:64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/>
                        <a:t>Native integer widths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S128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/>
                        <a:t>Natural stack alignment is 128 bits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7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p:64:64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76200" marB="76200" marR="114300" marL="1143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US"/>
                        <a:t>64-bit pointers with 64-bit alignment</a:t>
                      </a:r>
                      <a:endParaRPr/>
                    </a:p>
                  </a:txBody>
                  <a:tcPr marT="76200" marB="76200" marR="114300" marL="1143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502" name="Google Shape;502;g3f453c19afd_0_3"/>
          <p:cNvSpPr txBox="1"/>
          <p:nvPr/>
        </p:nvSpPr>
        <p:spPr>
          <a:xfrm>
            <a:off x="689725" y="4776225"/>
            <a:ext cx="93630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source_filename = </a:t>
            </a:r>
            <a:r>
              <a:rPr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"example.c"</a:t>
            </a:r>
            <a:endParaRPr>
              <a:solidFill>
                <a:srgbClr val="A315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target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triple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"x86_64-pc-linux-gnu"</a:t>
            </a:r>
            <a:endParaRPr>
              <a:solidFill>
                <a:srgbClr val="A315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target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datalayout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A31515"/>
                </a:solidFill>
                <a:latin typeface="Consolas"/>
                <a:ea typeface="Consolas"/>
                <a:cs typeface="Consolas"/>
                <a:sym typeface="Consolas"/>
              </a:rPr>
              <a:t>"e-m:e-p270:32:32-p271:32:32-p272:64:64-i64:64-f80:128-n8:16:32:64-S128"</a:t>
            </a:r>
            <a:endParaRPr>
              <a:solidFill>
                <a:srgbClr val="A315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define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@add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%b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entry: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%sum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%a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%b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ret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i32</a:t>
            </a: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>
                <a:solidFill>
                  <a:srgbClr val="0000FF"/>
                </a:solidFill>
                <a:latin typeface="Consolas"/>
                <a:ea typeface="Consolas"/>
                <a:cs typeface="Consolas"/>
                <a:sym typeface="Consolas"/>
              </a:rPr>
              <a:t>%sum</a:t>
            </a:r>
            <a:endParaRPr>
              <a:solidFill>
                <a:srgbClr val="0000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2bee99cf594_0_1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LLVM IR bitcode</a:t>
            </a:r>
            <a:endParaRPr/>
          </a:p>
        </p:txBody>
      </p:sp>
      <p:sp>
        <p:nvSpPr>
          <p:cNvPr id="508" name="Google Shape;508;g2bee99cf594_0_1"/>
          <p:cNvSpPr txBox="1"/>
          <p:nvPr>
            <p:ph idx="1" type="body"/>
          </p:nvPr>
        </p:nvSpPr>
        <p:spPr>
          <a:xfrm>
            <a:off x="571375" y="1673450"/>
            <a:ext cx="11010900" cy="518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Binary Representation of LLVM IR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Use Cases: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distribution (for usage or inspection by other LLVM based tools).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intermediate step in a build process that involves further optimization or cross-compilation.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Just-In-Time (JIT) compilation scenarios.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bee99cf594_0_7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LLVM IR bitcode: tooling</a:t>
            </a:r>
            <a:endParaRPr/>
          </a:p>
        </p:txBody>
      </p:sp>
      <p:sp>
        <p:nvSpPr>
          <p:cNvPr id="514" name="Google Shape;514;g2bee99cf594_0_7"/>
          <p:cNvSpPr txBox="1"/>
          <p:nvPr>
            <p:ph idx="1" type="body"/>
          </p:nvPr>
        </p:nvSpPr>
        <p:spPr>
          <a:xfrm>
            <a:off x="571375" y="1203700"/>
            <a:ext cx="11010900" cy="565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Emit bitcode: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clang -emit-llvm -c source.c -o source.bc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Converting LLVM IR Bitcode to Human-Readable Format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llvm-dis source.bc -o source.ll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Converting Human-Readable LLVM IR to Bitcode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llvm-as source.ll -o source.bc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Linking Multiple LLVM Bitcode Files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llvm-link file1.bc file2.bc -o combined.bc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alibri"/>
              <a:buChar char="▪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Execute LLVM IR bitcode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lli source.bc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7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Inspecting LLVM IR</a:t>
            </a:r>
            <a:endParaRPr/>
          </a:p>
        </p:txBody>
      </p:sp>
      <p:sp>
        <p:nvSpPr>
          <p:cNvPr id="520" name="Google Shape;520;p27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Inspecting LLVM IR bitcode from clang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clang++ -emit-llvm -o file.bc file.cpp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92100" lvl="0" marL="228600" rtl="0" algn="l"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Inspecting LLVM IR from clang</a:t>
            </a:r>
            <a:endParaRPr/>
          </a:p>
          <a:p>
            <a:pPr indent="-241300" lvl="1" marL="431800" rtl="0" algn="l">
              <a:spcBef>
                <a:spcPts val="1200"/>
              </a:spcBef>
              <a:spcAft>
                <a:spcPts val="0"/>
              </a:spcAft>
              <a:buSzPts val="24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clang++ -emit-llvm -o file.ll file.cpp -S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Displaying CFG</a:t>
            </a:r>
            <a:endParaRPr/>
          </a:p>
          <a:p>
            <a:pPr indent="-2032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opt -analyze -dot-cfg-only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g2bee99cf594_0_14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Processing LLVM IR</a:t>
            </a:r>
            <a:endParaRPr/>
          </a:p>
        </p:txBody>
      </p:sp>
      <p:sp>
        <p:nvSpPr>
          <p:cNvPr id="526" name="Google Shape;526;g2bee99cf594_0_14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Run optimizations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opt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-O2 source.bc -o optimized.bc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opt -passes=’&lt;pass-pipeline&gt;’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source.bc -o optimized.bc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Compile down to assembler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llc -filetype=obj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source.bc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 -o source.s -S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▪"/>
            </a:pPr>
            <a:r>
              <a:rPr lang="en-US"/>
              <a:t>Compile down to binary (object file)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•"/>
            </a:pPr>
            <a:r>
              <a:rPr lang="en-US">
                <a:latin typeface="Consolas"/>
                <a:ea typeface="Consolas"/>
                <a:cs typeface="Consolas"/>
                <a:sym typeface="Consolas"/>
              </a:rPr>
              <a:t>llc -filetype=obj source.bc -o source.o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Note: both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.bc</a:t>
            </a:r>
            <a:r>
              <a:rPr lang="en-US"/>
              <a:t> (binary) and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.ll</a:t>
            </a:r>
            <a:r>
              <a:rPr lang="en-US"/>
              <a:t> (text) are accepted here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28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Comparing LLVM modules</a:t>
            </a:r>
            <a:endParaRPr/>
          </a:p>
        </p:txBody>
      </p:sp>
      <p:pic>
        <p:nvPicPr>
          <p:cNvPr id="532" name="Google Shape;532;p2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4388" y="1897380"/>
            <a:ext cx="11010900" cy="3506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9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Debugging LLVM IR</a:t>
            </a:r>
            <a:endParaRPr/>
          </a:p>
        </p:txBody>
      </p:sp>
      <p:sp>
        <p:nvSpPr>
          <p:cNvPr id="538" name="Google Shape;538;p29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bugpoint</a:t>
            </a:r>
            <a:endParaRPr/>
          </a:p>
          <a:p>
            <a:pPr indent="-266700" lvl="1" marL="431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https://www.llvm.org/docs/CommandGuide/bugpoint.html</a:t>
            </a:r>
            <a:r>
              <a:rPr lang="en-US"/>
              <a:t>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llvm-reduce</a:t>
            </a:r>
            <a:endParaRPr/>
          </a:p>
          <a:p>
            <a:pPr indent="-2667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hlinkClick r:id="rId4"/>
              </a:rPr>
              <a:t>https://llvm.org/docs/CommandGuide/llvm-reduce.html</a:t>
            </a:r>
            <a:endParaRPr/>
          </a:p>
          <a:p>
            <a:pPr indent="-266700" lvl="1" marL="4318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•"/>
            </a:pPr>
            <a:r>
              <a:rPr lang="en-US" u="sng">
                <a:solidFill>
                  <a:schemeClr val="hlink"/>
                </a:solidFill>
                <a:hlinkClick r:id="rId5"/>
              </a:rPr>
              <a:t>https://www.youtube.com/watch?v=n1jDj7J9N8c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0"/>
          <p:cNvSpPr txBox="1"/>
          <p:nvPr>
            <p:ph type="title"/>
          </p:nvPr>
        </p:nvSpPr>
        <p:spPr>
          <a:xfrm>
            <a:off x="571370" y="571500"/>
            <a:ext cx="11010816" cy="952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Next time…</a:t>
            </a:r>
            <a:endParaRPr/>
          </a:p>
        </p:txBody>
      </p:sp>
      <p:sp>
        <p:nvSpPr>
          <p:cNvPr id="544" name="Google Shape;544;p30"/>
          <p:cNvSpPr txBox="1"/>
          <p:nvPr>
            <p:ph idx="1" type="body"/>
          </p:nvPr>
        </p:nvSpPr>
        <p:spPr>
          <a:xfrm>
            <a:off x="571370" y="1673454"/>
            <a:ext cx="11010900" cy="45749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LLVM Passes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2800"/>
              <a:buChar char="▪"/>
            </a:pPr>
            <a:r>
              <a:rPr lang="en-US"/>
              <a:t>IR Optimizations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26a0424328b_0_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</a:t>
            </a:r>
            <a:endParaRPr/>
          </a:p>
        </p:txBody>
      </p:sp>
      <p:sp>
        <p:nvSpPr>
          <p:cNvPr id="550" name="Google Shape;550;g26a0424328b_0_0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https://forms.gle/JbjBRMFNXym6tBQG6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1" name="Google Shape;551;g26a0424328b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2175" y="2309075"/>
            <a:ext cx="2914650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2" name="Google Shape;552;g26a0424328b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8000" y="2773446"/>
            <a:ext cx="6995374" cy="317195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g26a0424328b_0_0"/>
          <p:cNvSpPr txBox="1"/>
          <p:nvPr/>
        </p:nvSpPr>
        <p:spPr>
          <a:xfrm>
            <a:off x="8510750" y="6397900"/>
            <a:ext cx="335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2"/>
                </a:solidFill>
              </a:rPr>
              <a:t>Backup: </a:t>
            </a:r>
            <a:r>
              <a:rPr lang="en-US" sz="2000" u="sng">
                <a:solidFill>
                  <a:schemeClr val="hlink"/>
                </a:solidFill>
                <a:hlinkClick r:id="rId6"/>
              </a:rPr>
              <a:t>me@gooddoog.ru</a:t>
            </a:r>
            <a:r>
              <a:rPr lang="en-US" sz="2000">
                <a:solidFill>
                  <a:schemeClr val="lt2"/>
                </a:solidFill>
              </a:rPr>
              <a:t> </a:t>
            </a:r>
            <a:endParaRPr sz="20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2fbb870741_0_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</a:t>
            </a:r>
            <a:endParaRPr/>
          </a:p>
        </p:txBody>
      </p:sp>
      <p:sp>
        <p:nvSpPr>
          <p:cNvPr id="559" name="Google Shape;559;g32fbb870741_0_0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https://forms.gle/KNKvREkPhq3QNHj18</a:t>
            </a:r>
            <a:r>
              <a:rPr lang="en-US"/>
              <a:t>  </a:t>
            </a:r>
            <a:endParaRPr/>
          </a:p>
        </p:txBody>
      </p:sp>
      <p:sp>
        <p:nvSpPr>
          <p:cNvPr id="560" name="Google Shape;560;g32fbb870741_0_0"/>
          <p:cNvSpPr txBox="1"/>
          <p:nvPr/>
        </p:nvSpPr>
        <p:spPr>
          <a:xfrm>
            <a:off x="8510750" y="6397900"/>
            <a:ext cx="335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2"/>
                </a:solidFill>
              </a:rPr>
              <a:t>Backup: </a:t>
            </a:r>
            <a:r>
              <a:rPr lang="en-US" sz="2000" u="sng">
                <a:solidFill>
                  <a:schemeClr val="hlink"/>
                </a:solidFill>
                <a:hlinkClick r:id="rId4"/>
              </a:rPr>
              <a:t>me@gooddoog.ru</a:t>
            </a:r>
            <a:r>
              <a:rPr lang="en-US" sz="2000">
                <a:solidFill>
                  <a:schemeClr val="lt2"/>
                </a:solidFill>
              </a:rPr>
              <a:t> </a:t>
            </a:r>
            <a:endParaRPr sz="2000">
              <a:solidFill>
                <a:schemeClr val="lt2"/>
              </a:solidFill>
            </a:endParaRPr>
          </a:p>
        </p:txBody>
      </p:sp>
      <p:pic>
        <p:nvPicPr>
          <p:cNvPr id="561" name="Google Shape;561;g32fbb870741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55850" y="2000250"/>
            <a:ext cx="3028950" cy="285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g32fbb870741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7500" y="2286000"/>
            <a:ext cx="7760874" cy="401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g3c4d2c5fc43_0_0"/>
          <p:cNvSpPr txBox="1"/>
          <p:nvPr>
            <p:ph type="title"/>
          </p:nvPr>
        </p:nvSpPr>
        <p:spPr>
          <a:xfrm>
            <a:off x="571370" y="571500"/>
            <a:ext cx="11010900" cy="95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</a:t>
            </a:r>
            <a:endParaRPr/>
          </a:p>
        </p:txBody>
      </p:sp>
      <p:sp>
        <p:nvSpPr>
          <p:cNvPr id="568" name="Google Shape;568;g3c4d2c5fc43_0_0"/>
          <p:cNvSpPr txBox="1"/>
          <p:nvPr>
            <p:ph idx="1" type="body"/>
          </p:nvPr>
        </p:nvSpPr>
        <p:spPr>
          <a:xfrm>
            <a:off x="571370" y="1673454"/>
            <a:ext cx="11010900" cy="45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https://forms.gle/6621mVXjavHiQxWB6</a:t>
            </a:r>
            <a:r>
              <a:rPr lang="en-US"/>
              <a:t> </a:t>
            </a:r>
            <a:endParaRPr/>
          </a:p>
        </p:txBody>
      </p:sp>
      <p:sp>
        <p:nvSpPr>
          <p:cNvPr id="569" name="Google Shape;569;g3c4d2c5fc43_0_0"/>
          <p:cNvSpPr txBox="1"/>
          <p:nvPr/>
        </p:nvSpPr>
        <p:spPr>
          <a:xfrm>
            <a:off x="8510750" y="6397900"/>
            <a:ext cx="3356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2"/>
                </a:solidFill>
              </a:rPr>
              <a:t>Backup: </a:t>
            </a:r>
            <a:r>
              <a:rPr lang="en-US" sz="2000" u="sng">
                <a:solidFill>
                  <a:schemeClr val="hlink"/>
                </a:solidFill>
                <a:hlinkClick r:id="rId4"/>
              </a:rPr>
              <a:t>me@gooddoog.ru</a:t>
            </a:r>
            <a:r>
              <a:rPr lang="en-US" sz="2000">
                <a:solidFill>
                  <a:schemeClr val="lt2"/>
                </a:solidFill>
              </a:rPr>
              <a:t> </a:t>
            </a:r>
            <a:endParaRPr sz="2000">
              <a:solidFill>
                <a:schemeClr val="lt2"/>
              </a:solidFill>
            </a:endParaRPr>
          </a:p>
        </p:txBody>
      </p:sp>
      <p:pic>
        <p:nvPicPr>
          <p:cNvPr id="570" name="Google Shape;570;g3c4d2c5fc43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702900" y="1893750"/>
            <a:ext cx="2971800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g3c4d2c5fc43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2400" y="2285015"/>
            <a:ext cx="8550501" cy="41758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1"/>
          <p:cNvSpPr txBox="1"/>
          <p:nvPr>
            <p:ph type="title"/>
          </p:nvPr>
        </p:nvSpPr>
        <p:spPr>
          <a:xfrm>
            <a:off x="571500" y="571501"/>
            <a:ext cx="11010901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25252"/>
              </a:buClr>
              <a:buSzPts val="4000"/>
              <a:buFont typeface="Arial"/>
              <a:buNone/>
            </a:pPr>
            <a:r>
              <a:rPr lang="en-US"/>
              <a:t>Extra materials</a:t>
            </a:r>
            <a:endParaRPr/>
          </a:p>
        </p:txBody>
      </p:sp>
      <p:sp>
        <p:nvSpPr>
          <p:cNvPr id="577" name="Google Shape;577;p31"/>
          <p:cNvSpPr txBox="1"/>
          <p:nvPr>
            <p:ph idx="1" type="body"/>
          </p:nvPr>
        </p:nvSpPr>
        <p:spPr>
          <a:xfrm>
            <a:off x="571500" y="1673402"/>
            <a:ext cx="10837852" cy="4584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Char char="▪"/>
            </a:pPr>
            <a:r>
              <a:rPr lang="en-US" sz="1600"/>
              <a:t>Mapping high-level constructs to LLVM IR - </a:t>
            </a:r>
            <a:r>
              <a:rPr lang="en-US" sz="1600" u="sng">
                <a:solidFill>
                  <a:schemeClr val="hlink"/>
                </a:solidFill>
                <a:hlinkClick r:id="rId3"/>
              </a:rPr>
              <a:t>https://github.com/f0rki/mapping-high-level-constructs-to-llvm-ir</a:t>
            </a:r>
            <a:r>
              <a:rPr lang="en-US" sz="1600"/>
              <a:t>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▪"/>
            </a:pPr>
            <a:r>
              <a:rPr lang="en-US" sz="1600"/>
              <a:t>The often misunderstood GEP (GetElementPtr) instruction - </a:t>
            </a:r>
            <a:r>
              <a:rPr lang="en-US" sz="1600" u="sng">
                <a:solidFill>
                  <a:schemeClr val="hlink"/>
                </a:solidFill>
                <a:hlinkClick r:id="rId4"/>
              </a:rPr>
              <a:t>https://www.llvm.org/docs/GetElementPtr.html</a:t>
            </a:r>
            <a:r>
              <a:rPr lang="en-US" sz="1600"/>
              <a:t> 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600"/>
              <a:buChar char="▪"/>
            </a:pPr>
            <a:r>
              <a:rPr lang="en-US" sz="1600"/>
              <a:t>LLVM IR Tutorial - Phis, GEPs and other things, oh my! - Vince Bridgers (Intel Corporation), Felipe de Azevedo Piovezan (Intel Corporation) - </a:t>
            </a:r>
            <a:r>
              <a:rPr lang="en-US" sz="1600" u="sng">
                <a:solidFill>
                  <a:schemeClr val="hlink"/>
                </a:solidFill>
                <a:hlinkClick r:id="rId5"/>
              </a:rPr>
              <a:t>https://www.youtube.com/watch?v=m8G_S5LwlTo</a:t>
            </a:r>
            <a:r>
              <a:rPr lang="en-US" sz="1600"/>
              <a:t> 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Intel2020">
      <a:dk1>
        <a:srgbClr val="000000"/>
      </a:dk1>
      <a:lt1>
        <a:srgbClr val="FFFFFF"/>
      </a:lt1>
      <a:dk2>
        <a:srgbClr val="004A86"/>
      </a:dk2>
      <a:lt2>
        <a:srgbClr val="525252"/>
      </a:lt2>
      <a:accent1>
        <a:srgbClr val="0068B5"/>
      </a:accent1>
      <a:accent2>
        <a:srgbClr val="00C7FD"/>
      </a:accent2>
      <a:accent3>
        <a:srgbClr val="F6CB4B"/>
      </a:accent3>
      <a:accent4>
        <a:srgbClr val="D96930"/>
      </a:accent4>
      <a:accent5>
        <a:srgbClr val="8F5DA2"/>
      </a:accent5>
      <a:accent6>
        <a:srgbClr val="8BAE46"/>
      </a:accent6>
      <a:hlink>
        <a:srgbClr val="0068B5"/>
      </a:hlink>
      <a:folHlink>
        <a:srgbClr val="0068B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2022-02-11T08:56:50Z</dcterms:created>
  <dc:creator>Batashev, Alexander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77294acb-f791-4422-865e-0b7527e37b89</vt:lpwstr>
  </property>
  <property fmtid="{D5CDD505-2E9C-101B-9397-08002B2CF9AE}" pid="3" name="CTP_TimeStamp">
    <vt:lpwstr>2020-08-21 21:49:33Z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  <property fmtid="{D5CDD505-2E9C-101B-9397-08002B2CF9AE}" pid="8" name="ContentTypeId">
    <vt:lpwstr>0x01010079C5967B1E29274CA6A143F9D247F5D2</vt:lpwstr>
  </property>
</Properties>
</file>